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187f9534554316" /><Relationship Type="http://schemas.openxmlformats.org/officeDocument/2006/relationships/extended-properties" Target="/docProps/app.xml" Id="R6c97d2b3262f4a4b" /><Relationship Type="http://schemas.openxmlformats.org/officeDocument/2006/relationships/officeDocument" Target="/ppt/presentation.xml" Id="R350c0433357542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39a06e3709408e"/>
  </p:sldMasterIdLst>
  <p:notesMasterIdLst>
    <p:notesMasterId xmlns:r="http://schemas.openxmlformats.org/officeDocument/2006/relationships" r:id="Re02df8a64d49461e"/>
  </p:notesMasterIdLst>
  <p:sldIdLst>
    <p:sldId xmlns:r="http://schemas.openxmlformats.org/officeDocument/2006/relationships" id="256" r:id="R83a2f07c9beb4803"/>
    <p:sldId xmlns:r="http://schemas.openxmlformats.org/officeDocument/2006/relationships" id="257" r:id="Rbf79d21946c24351"/>
    <p:sldId xmlns:r="http://schemas.openxmlformats.org/officeDocument/2006/relationships" id="258" r:id="R1eb42af8a1fc4fe2"/>
    <p:sldId xmlns:r="http://schemas.openxmlformats.org/officeDocument/2006/relationships" id="259" r:id="R0fe02becb5e34e61"/>
    <p:sldId xmlns:r="http://schemas.openxmlformats.org/officeDocument/2006/relationships" id="260" r:id="R8384fdf56f1a4302"/>
    <p:sldId xmlns:r="http://schemas.openxmlformats.org/officeDocument/2006/relationships" id="261" r:id="R80772a6ee2c644eb"/>
    <p:sldId xmlns:r="http://schemas.openxmlformats.org/officeDocument/2006/relationships" id="262" r:id="Rbb3abeec4e0e4efe"/>
    <p:sldId xmlns:r="http://schemas.openxmlformats.org/officeDocument/2006/relationships" id="263" r:id="Rd75cd7d74372433d"/>
    <p:sldId xmlns:r="http://schemas.openxmlformats.org/officeDocument/2006/relationships" id="264" r:id="Rc4ee86d6d3424a40"/>
    <p:sldId xmlns:r="http://schemas.openxmlformats.org/officeDocument/2006/relationships" id="265" r:id="Rf002b7e4399d4c0d"/>
    <p:sldId xmlns:r="http://schemas.openxmlformats.org/officeDocument/2006/relationships" id="266" r:id="R32cee1a526fe43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936c6229cd4a55" /><Relationship Type="http://schemas.openxmlformats.org/officeDocument/2006/relationships/slideMaster" Target="/ppt/slideMasters/slideMaster1.xml" Id="R7239a06e3709408e" /><Relationship Type="http://schemas.openxmlformats.org/officeDocument/2006/relationships/notesMaster" Target="/ppt/notesMasters/notesMaster1.xml" Id="Re02df8a64d49461e" /><Relationship Type="http://schemas.openxmlformats.org/officeDocument/2006/relationships/presProps" Target="/ppt/presProps.xml" Id="R3d787fd35e964823" /><Relationship Type="http://schemas.openxmlformats.org/officeDocument/2006/relationships/tableStyles" Target="/ppt/tableStyles.xml" Id="R01c708ec99914ef6" /><Relationship Type="http://schemas.openxmlformats.org/officeDocument/2006/relationships/slide" Target="/ppt/slides/slide1.xml" Id="R83a2f07c9beb4803" /><Relationship Type="http://schemas.openxmlformats.org/officeDocument/2006/relationships/slide" Target="/ppt/slides/slide2.xml" Id="Rbf79d21946c24351" /><Relationship Type="http://schemas.openxmlformats.org/officeDocument/2006/relationships/slide" Target="/ppt/slides/slide3.xml" Id="R1eb42af8a1fc4fe2" /><Relationship Type="http://schemas.openxmlformats.org/officeDocument/2006/relationships/slide" Target="/ppt/slides/slide4.xml" Id="R0fe02becb5e34e61" /><Relationship Type="http://schemas.openxmlformats.org/officeDocument/2006/relationships/slide" Target="/ppt/slides/slide5.xml" Id="R8384fdf56f1a4302" /><Relationship Type="http://schemas.openxmlformats.org/officeDocument/2006/relationships/slide" Target="/ppt/slides/slide6.xml" Id="R80772a6ee2c644eb" /><Relationship Type="http://schemas.openxmlformats.org/officeDocument/2006/relationships/slide" Target="/ppt/slides/slide7.xml" Id="Rbb3abeec4e0e4efe" /><Relationship Type="http://schemas.openxmlformats.org/officeDocument/2006/relationships/slide" Target="/ppt/slides/slide8.xml" Id="Rd75cd7d74372433d" /><Relationship Type="http://schemas.openxmlformats.org/officeDocument/2006/relationships/slide" Target="/ppt/slides/slide9.xml" Id="Rc4ee86d6d3424a40" /><Relationship Type="http://schemas.openxmlformats.org/officeDocument/2006/relationships/slide" Target="/ppt/slides/slide10.xml" Id="Rf002b7e4399d4c0d" /><Relationship Type="http://schemas.openxmlformats.org/officeDocument/2006/relationships/slide" Target="/ppt/slides/slide11.xml" Id="R32cee1a526fe43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0c19087ec543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f46d48e0c949f3" /><Relationship Type="http://schemas.openxmlformats.org/officeDocument/2006/relationships/notesMaster" Target="/ppt/notesMasters/notesMaster1.xml" Id="Re6d4039bb5f246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0f533744d64f55" /><Relationship Type="http://schemas.openxmlformats.org/officeDocument/2006/relationships/notesMaster" Target="/ppt/notesMasters/notesMaster1.xml" Id="Rf1bc8ed0e3d547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a9e8e700e942e1" /><Relationship Type="http://schemas.openxmlformats.org/officeDocument/2006/relationships/notesMaster" Target="/ppt/notesMasters/notesMaster1.xml" Id="R06610e19767643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708ee67a814d17" /><Relationship Type="http://schemas.openxmlformats.org/officeDocument/2006/relationships/notesMaster" Target="/ppt/notesMasters/notesMaster1.xml" Id="Rac12c730febd49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2e1a939f734720" /><Relationship Type="http://schemas.openxmlformats.org/officeDocument/2006/relationships/notesMaster" Target="/ppt/notesMasters/notesMaster1.xml" Id="R1f80d7a4832446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7e4665da714551" /><Relationship Type="http://schemas.openxmlformats.org/officeDocument/2006/relationships/notesMaster" Target="/ppt/notesMasters/notesMaster1.xml" Id="R7e0e65c71ab248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a2f8f9b8d94612" /><Relationship Type="http://schemas.openxmlformats.org/officeDocument/2006/relationships/notesMaster" Target="/ppt/notesMasters/notesMaster1.xml" Id="R8506da9da90b4a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1f44bb3fb14a05" /><Relationship Type="http://schemas.openxmlformats.org/officeDocument/2006/relationships/notesMaster" Target="/ppt/notesMasters/notesMaster1.xml" Id="R6ded3f7bb20c42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d33ba940a347d9" /><Relationship Type="http://schemas.openxmlformats.org/officeDocument/2006/relationships/notesMaster" Target="/ppt/notesMasters/notesMaster1.xml" Id="R4625f2bcccf041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e2287b87fd4823" /><Relationship Type="http://schemas.openxmlformats.org/officeDocument/2006/relationships/notesMaster" Target="/ppt/notesMasters/notesMaster1.xml" Id="R0c378005a8db45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347ea91d2f4f97" /><Relationship Type="http://schemas.openxmlformats.org/officeDocument/2006/relationships/notesMaster" Target="/ppt/notesMasters/notesMaster1.xml" Id="Rd45ed08b996842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connected event priorities, one cafe-to-recipient workflow. Priority descriptions from user-supplied event brief. No affiliation, certification, achieved impact or cloud deployment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Team-reported qualitative interviews with four cafes, supplied in conversation 4 October 2026. No transcripts, names, dates, weights or disposal audits supplied. Some cafes already have collection for agriculture. No direct quotations reproduced.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User-supplied event priority descriptions. Original UNFCCC URL could not be fetched in this update; global numeric targets are not independently asserted. Farm/weather/satellite advice remains a future extension. Current awareness function is preparation guidance and understandable reuse/climate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implementation: README.md, docs/build-status.md, docs/adoption-tools.md. Recipients and quotes are fictional fixtures. 30 kg proposed -&gt; 27 kg accepted -&gt; 25 kg reported used is a testable software demonstration, not achieved physical diversion. Chaff, pulp and farm/mill husks are wider catalogue pathways requiring recipient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features verified in docs/adoption-tools.md. Net benefit formula does not guarantee income, realized savings, payment processing or free collection. All sample quotes and buyer capacities are fictional. CSV planner is browser-only and does not place orders. Nile participation records are not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Reground reviewed 4 October 2026. Grounds service: https://reground.com.au/collection/ground-coffee/. Chaff: https://reground.com.au/collection/chaff/ . Consultancy: https://reground.com.au/consultancy/ . Circular Coffee: https://reground.com.au/collection/circular-coffee/. Remote partner systems: https://reground.com.au/remote/ . Reviewed service pages do not explicitly advertise a usable surplus roasted-bean marketplace; this is not proof none exists. Nile has no collection fleet, real buyer demand, agreed partner or proven cost advantage.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Assumptions: 100 cafes, 20 kg grounds + 1 kg eligible usable surplus beans/cafe/week, 52 weeks, 80% additional diversion. Grounds=83.2 t; beans=4.16 t. Grounds landfill -&gt; compost, zero gas capture. Lifetime methane=83.2*(2.1-0.021)/28=6.1776 t CH4, not annual methane savings. Source DCCEEW 2026 NGA Tables 15/44/38: https://www.dcceew.gov.au/sites/default/files/documents/national-greenhouse-accounts-factors-2026.pdf. Generic food-waste proxy; coffee-specific composition/wet mass unvalidated. No methane credit for beans. Existing diversion excluded. Transport/treatment energy/substitution excluded. See method appendix.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local implementation checked against README.md, docs/build-status.md and backend setup. SQLite with demo role switching, not cloud Auth. OpenAI adapter implemented with a nonempty local API key; live model access remains unverified in this update. Supabase migration/read policies locally tested, hosted repository/Auth/Storage unwired. Production hosting cannot use this local SQLite repository. Documented checks at commit 759f893: 48 unit/database and 13 browser/API tests. No deployment provisioned.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pilot: week 1 baseline and agreements, weeks 2–4 collections. Suggested gates: 80% pickups completed, median repeat listing &lt;=2 minutes, 60% cafes choosing another cycle, median documented net benefit &gt;=0. Not performed. Actual accepted mass is additional diversion only with verified baseline landfill. Track use and virgin-input substitution separately; use reports are self-reports. Awareness test: correct preparation and interpretation of evidence before/after. Methane remains estimated, not directly measured. No climate-resilient farming test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DCCEEW 2026 Australian National Greenhouse Accounts Factors: https://www.dcceew.gov.au/sites/default/files/documents/national-greenhouse-accounts-factors-2026.pdf, Tables 15/44/38. Lifetime food-waste methane proxy 2.1 t CO2e/t without capture; compost methane 0.021, separate N2O excluded; GWP100 CH4=28. Formula grounds_t*(2.1*(1-capture)-0.021)/28. Alternatives 0%=6.1776, 50%=3.0576, 70%=1.8096 t CH4, not confidence interval. Effective capture is illustrative. Coffee-specific composition/wet mass, transport, treatment energy and substitution unvalidated/excluded. Beans no methane credit, later grounds not double-counted. Existing reuse excluded.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OpenAI Codex assistance for planning/research/writing/code/review/docs/materials. App stack checked against package.json. Optional OpenAI adapter locally configured, no live API calls made for these materials. Supabase SQL/read policies tested with PGlite locally only. Artifact Tool editable PowerPoint; LibreOffice PDF conversion; pypdf/pypdfium2 checks. Earlier PDF ReportLab. No Figma/Canva use reported. Sources https://reground.com.au/collection/ground-coffee/, https://reground.com.au/collection/circular-coffee/, https://www.dcceew.gov.au/sites/default/files/documents/national-greenhouse-accounts-factors-2026.pdf. No certification, independently assured impact or actual adoption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f90cfcc974f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f770ba92e45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4e4db807a46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8c6146b694c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f9f03f67db4f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9284b0d8404e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D38C34-8E37-4291-9317-39DE14DC7D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C611B0-3D8B-413B-BF03-02111F4912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06BF4B-B6BA-4DC8-B6D0-43A62D2C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49D48E-738D-4040-BBC3-2A6F6CB81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11847C-60A7-49EA-BCB4-87FF117A18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B8C3F0-2EE5-4A6B-A08E-664FCA1DAA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CE33AD-875E-4B2F-8DB9-193C2D7174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82DC27-8CD3-4E88-9723-F6A67AF846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3E8989-6A82-4E2D-9E1D-1CEE7F68D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18C0AF-CAB3-4A8B-B990-5687E8B55E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04abf7b3fa4e9e" /><Relationship Type="http://schemas.openxmlformats.org/officeDocument/2006/relationships/slideLayout" Target="/ppt/slideLayouts/slideLayout1.xml" Id="R388608062e424f62" /><Relationship Type="http://schemas.openxmlformats.org/officeDocument/2006/relationships/slideLayout" Target="/ppt/slideLayouts/slideLayout2.xml" Id="R528df5e4d9d64d2c" /><Relationship Type="http://schemas.openxmlformats.org/officeDocument/2006/relationships/slideLayout" Target="/ppt/slideLayouts/slideLayout3.xml" Id="Rfbe153de4f554367" /><Relationship Type="http://schemas.openxmlformats.org/officeDocument/2006/relationships/slideLayout" Target="/ppt/slideLayouts/slideLayout4.xml" Id="Raa1f473064af4f03" /><Relationship Type="http://schemas.openxmlformats.org/officeDocument/2006/relationships/slideLayout" Target="/ppt/slideLayouts/slideLayout5.xml" Id="Ra0e6e36b395e4b53" /><Relationship Type="http://schemas.openxmlformats.org/officeDocument/2006/relationships/slideLayout" Target="/ppt/slideLayouts/slideLayout6.xml" Id="R13e7ad204b1547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8608062e424f62"/>
    <p:sldLayoutId xmlns:r="http://schemas.openxmlformats.org/officeDocument/2006/relationships" id="2147483650" r:id="R528df5e4d9d64d2c"/>
    <p:sldLayoutId xmlns:r="http://schemas.openxmlformats.org/officeDocument/2006/relationships" id="2147483651" r:id="Rfbe153de4f554367"/>
    <p:sldLayoutId xmlns:r="http://schemas.openxmlformats.org/officeDocument/2006/relationships" id="2147483652" r:id="Raa1f473064af4f03"/>
    <p:sldLayoutId xmlns:r="http://schemas.openxmlformats.org/officeDocument/2006/relationships" id="2147483653" r:id="Ra0e6e36b395e4b53"/>
    <p:sldLayoutId xmlns:r="http://schemas.openxmlformats.org/officeDocument/2006/relationships" id="2147483654" r:id="R13e7ad204b1547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95d2742aac4a94" /><Relationship Type="http://schemas.openxmlformats.org/officeDocument/2006/relationships/notesSlide" Target="/ppt/notesSlides/notesSlide1.xml" Id="Rbbfec50f4eac43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7139fa41424947" /><Relationship Type="http://schemas.openxmlformats.org/officeDocument/2006/relationships/notesSlide" Target="/ppt/notesSlides/notesSlide2.xml" Id="Rada33a28a22944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0924e87fe4c96" /><Relationship Type="http://schemas.openxmlformats.org/officeDocument/2006/relationships/notesSlide" Target="/ppt/notesSlides/notesSlide3.xml" Id="R46fa790da3f245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eb345233f4381" /><Relationship Type="http://schemas.openxmlformats.org/officeDocument/2006/relationships/notesSlide" Target="/ppt/notesSlides/notesSlide4.xml" Id="R887779f990de42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98e02bb936409b" /><Relationship Type="http://schemas.openxmlformats.org/officeDocument/2006/relationships/notesSlide" Target="/ppt/notesSlides/notesSlide5.xml" Id="R69cf22b86d894a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818b86c8a455b" /><Relationship Type="http://schemas.openxmlformats.org/officeDocument/2006/relationships/notesSlide" Target="/ppt/notesSlides/notesSlide6.xml" Id="R43a54518c02746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d911d11a9748b1" /><Relationship Type="http://schemas.openxmlformats.org/officeDocument/2006/relationships/notesSlide" Target="/ppt/notesSlides/notesSlide7.xml" Id="Rad36e73ac89144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6cd54d20045a7" /><Relationship Type="http://schemas.openxmlformats.org/officeDocument/2006/relationships/notesSlide" Target="/ppt/notesSlides/notesSlide8.xml" Id="R3033423f13ee46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3c1d54b8f84a68" /><Relationship Type="http://schemas.openxmlformats.org/officeDocument/2006/relationships/notesSlide" Target="/ppt/notesSlides/notesSlide9.xml" Id="R111e30c461e94a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cd65f4bec546e7" /><Relationship Type="http://schemas.openxmlformats.org/officeDocument/2006/relationships/notesSlide" Target="/ppt/notesSlides/notesSlide10.xml" Id="R883258f6c4924e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1b9f711f4c4739" /><Relationship Type="http://schemas.openxmlformats.org/officeDocument/2006/relationships/notesSlide" Target="/ppt/notesSlides/notesSlide11.xml" Id="Rcb339d5427004b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45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ile.">
            <a:extLst xmlns:a="http://schemas.openxmlformats.org/drawingml/2006/main">
              <a:ext uri="{FF2B5EF4-FFF2-40B4-BE49-F238E27FC236}">
                <a16:creationId xmlns:a16="http://schemas.microsoft.com/office/drawing/2014/main" id="{AA5E54AF-2321-4352-97A1-2CD600B0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0">
                <a:solidFill>
                  <a:srgbClr val="F4EFE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8400" b="0">
                <a:solidFill>
                  <a:srgbClr val="F4EFE5"/>
                </a:solidFill>
                <a:latin typeface="Georgia"/>
                <a:ea typeface="Georgia"/>
                <a:cs typeface="Georgia"/>
              </a:defRPr>
            </a:pPr>
            <a:r>
              <a:rPr sz="8400" b="0">
                <a:solidFill>
                  <a:srgbClr val="F4EFE5"/>
                </a:solidFill>
                <a:latin typeface="Georgia"/>
                <a:ea typeface="Georgia"/>
                <a:cs typeface="Georgia"/>
              </a:rPr>
              <a:t>nile.</a:t>
            </a:r>
          </a:p>
        </p:txBody>
      </p:sp>
      <p:sp>
        <p:nvSpPr>
          <p:cNvPr id="2" name="Give coffee a next life.">
            <a:extLst xmlns:a="http://schemas.openxmlformats.org/drawingml/2006/main">
              <a:ext uri="{FF2B5EF4-FFF2-40B4-BE49-F238E27FC236}">
                <a16:creationId xmlns:a16="http://schemas.microsoft.com/office/drawing/2014/main" id="{FB0AF994-D9B3-4D97-928B-B8FC4CF7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0">
                <a:solidFill>
                  <a:srgbClr val="F4EFE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650" b="0">
                <a:solidFill>
                  <a:srgbClr val="F4EFE5"/>
                </a:solidFill>
                <a:latin typeface="Georgia"/>
                <a:ea typeface="Georgia"/>
                <a:cs typeface="Georgia"/>
              </a:defRPr>
            </a:pPr>
            <a:r>
              <a:rPr sz="4650" b="0">
                <a:solidFill>
                  <a:srgbClr val="F4EFE5"/>
                </a:solidFill>
                <a:latin typeface="Georgia"/>
                <a:ea typeface="Georgia"/>
                <a:cs typeface="Georgia"/>
              </a:rPr>
              <a:t>Give coffee a next life.</a:t>
            </a:r>
          </a:p>
        </p:txBody>
      </p:sp>
      <p:sp>
        <p:nvSpPr>
          <p:cNvPr id="3" name="An easier way for cafes to match leftover coffee w">
            <a:extLst xmlns:a="http://schemas.openxmlformats.org/drawingml/2006/main">
              <a:ext uri="{FF2B5EF4-FFF2-40B4-BE49-F238E27FC236}">
                <a16:creationId xmlns:a16="http://schemas.microsoft.com/office/drawing/2014/main" id="{06D24426-9C31-47A8-AC04-5B3CE273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4EF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4EFE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4EFE5"/>
                </a:solidFill>
                <a:latin typeface="Arial"/>
                <a:ea typeface="Arial"/>
                <a:cs typeface="Arial"/>
              </a:rPr>
              <a:t>An easier way for cafes to match leftover coffee with suitable recipients, compare costs and coordinate collection.</a:t>
            </a:r>
          </a:p>
        </p:txBody>
      </p:sp>
      <p:sp>
        <p:nvSpPr>
          <p:cNvPr id="4" name="ZERO WASTE &amp; METHANE REDUCTION">
            <a:extLst xmlns:a="http://schemas.openxmlformats.org/drawingml/2006/main">
              <a:ext uri="{FF2B5EF4-FFF2-40B4-BE49-F238E27FC236}">
                <a16:creationId xmlns:a16="http://schemas.microsoft.com/office/drawing/2014/main" id="{66726834-193B-4CF3-A42A-A85117D9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E8B6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E8B6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B68B"/>
                </a:solidFill>
                <a:latin typeface="Arial"/>
                <a:ea typeface="Arial"/>
                <a:cs typeface="Arial"/>
              </a:rPr>
              <a:t>ZERO WASTE &amp; METHANE REDUCTION</a:t>
            </a:r>
          </a:p>
        </p:txBody>
      </p:sp>
      <p:sp>
        <p:nvSpPr>
          <p:cNvPr id="5" name="GREEN INDUSTRIALISATION  +  AWARENESS">
            <a:extLst xmlns:a="http://schemas.openxmlformats.org/drawingml/2006/main">
              <a:ext uri="{FF2B5EF4-FFF2-40B4-BE49-F238E27FC236}">
                <a16:creationId xmlns:a16="http://schemas.microsoft.com/office/drawing/2014/main" id="{2BEAF39E-9CD3-43B5-B93C-4878333A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4EF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4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EFE5"/>
                </a:solidFill>
                <a:latin typeface="Arial"/>
                <a:ea typeface="Arial"/>
                <a:cs typeface="Arial"/>
              </a:rPr>
              <a:t>GREEN INDUSTRIALISATION  +  AWARENESS</a:t>
            </a:r>
          </a:p>
        </p:txBody>
      </p:sp>
      <p:sp>
        <p:nvSpPr>
          <p:cNvPr id="6" name="Climate Hack-tion  •  Working local prototype  •  ">
            <a:extLst xmlns:a="http://schemas.openxmlformats.org/drawingml/2006/main">
              <a:ext uri="{FF2B5EF4-FFF2-40B4-BE49-F238E27FC236}">
                <a16:creationId xmlns:a16="http://schemas.microsoft.com/office/drawing/2014/main" id="{8320FBE2-DBE0-4194-91BE-4AAAB0BE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4EF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4EFE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EFE5"/>
                </a:solidFill>
                <a:latin typeface="Arial"/>
                <a:ea typeface="Arial"/>
                <a:cs typeface="Arial"/>
              </a:rPr>
              <a:t>Climate Hack-tion  •  Working local prototype  •  4 October 2026</a:t>
            </a:r>
          </a:p>
        </p:txBody>
      </p:sp>
    </p:spTree>
    <p:extLst>
      <p:ext uri="{BB962C8B-B14F-4D97-AF65-F5344CB8AC3E}">
        <p14:creationId xmlns:p14="http://schemas.microsoft.com/office/powerpoint/2010/main" val="3918391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NILE  /  PROBLEM &amp; EARLY EVIDENCE">
            <a:extLst xmlns:a="http://schemas.openxmlformats.org/drawingml/2006/main">
              <a:ext uri="{FF2B5EF4-FFF2-40B4-BE49-F238E27FC236}">
                <a16:creationId xmlns:a16="http://schemas.microsoft.com/office/drawing/2014/main" id="{9176D65F-50F6-40EC-B8A1-94BA529F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NILE  /  PROBLEM &amp; EARLY EVIDENCE</a:t>
            </a:r>
          </a:p>
        </p:txBody>
      </p:sp>
      <p:sp>
        <p:nvSpPr>
          <p:cNvPr id="2" name="The barrier is reliable reuse, every week.">
            <a:extLst xmlns:a="http://schemas.openxmlformats.org/drawingml/2006/main">
              <a:ext uri="{FF2B5EF4-FFF2-40B4-BE49-F238E27FC236}">
                <a16:creationId xmlns:a16="http://schemas.microsoft.com/office/drawing/2014/main" id="{F71C45BE-2B08-49B1-A417-5B2F91BF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The barrier is reliable reuse, every week.</a:t>
            </a:r>
          </a:p>
        </p:txBody>
      </p:sp>
      <p:sp>
        <p:nvSpPr>
          <p:cNvPr id="3" name="A cafe needs an accepting destination, workable co">
            <a:extLst xmlns:a="http://schemas.openxmlformats.org/drawingml/2006/main">
              <a:ext uri="{FF2B5EF4-FFF2-40B4-BE49-F238E27FC236}">
                <a16:creationId xmlns:a16="http://schemas.microsoft.com/office/drawing/2014/main" id="{CC479F24-3402-44E6-A01C-8E42B609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A cafe needs an accepting destination, workable costs and a dependable handover.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A62F5-0990-482D-BFA8-FE446940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C6"/>
          </a:solidFill>
          <a:ln xmlns:a="http://schemas.openxmlformats.org/drawingml/2006/main" w="0">
            <a:noFill/>
          </a:ln>
        </p:spPr>
      </p:sp>
      <p:sp>
        <p:nvSpPr>
          <p:cNvPr id="5" name="Nile • Climate Hack-tion • 4 October 2026">
            <a:extLst xmlns:a="http://schemas.openxmlformats.org/drawingml/2006/main">
              <a:ext uri="{FF2B5EF4-FFF2-40B4-BE49-F238E27FC236}">
                <a16:creationId xmlns:a16="http://schemas.microsoft.com/office/drawing/2014/main" id="{A52124F1-4D63-4DC7-942B-FB168646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Nile • Climate Hack-tion • 4 October 2026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68DE1804-7DAC-4CCF-89E9-97494DAD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794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4">
            <a:extLst xmlns:a="http://schemas.openxmlformats.org/drawingml/2006/main">
              <a:ext uri="{FF2B5EF4-FFF2-40B4-BE49-F238E27FC236}">
                <a16:creationId xmlns:a16="http://schemas.microsoft.com/office/drawing/2014/main" id="{54BD44FA-C6C6-4250-9461-DC4417B4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00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8100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pPr>
            <a:r>
              <a:rPr sz="8100" b="0">
                <a:solidFill>
                  <a:srgbClr val="BF7947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8" name="cafes interviewed">
            <a:extLst xmlns:a="http://schemas.openxmlformats.org/drawingml/2006/main">
              <a:ext uri="{FF2B5EF4-FFF2-40B4-BE49-F238E27FC236}">
                <a16:creationId xmlns:a16="http://schemas.microsoft.com/office/drawing/2014/main" id="{5A4D53F7-DAA5-422C-B141-BF66E9E0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cafes interviewed</a:t>
            </a:r>
          </a:p>
        </p:txBody>
      </p:sp>
      <p:sp>
        <p:nvSpPr>
          <p:cNvPr id="9" name="Team-reported&#10;qualitative feedback">
            <a:extLst xmlns:a="http://schemas.openxmlformats.org/drawingml/2006/main">
              <a:ext uri="{FF2B5EF4-FFF2-40B4-BE49-F238E27FC236}">
                <a16:creationId xmlns:a16="http://schemas.microsoft.com/office/drawing/2014/main" id="{9F2EADE5-DFEB-43E3-BD93-620B850B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252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Team-reported</a:t>
            </a:r>
          </a:p>
          <a:p xmlns:a="http://schemas.openxmlformats.org/drawingml/2006/main">
            <a: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qualitative feedback</a:t>
            </a:r>
          </a:p>
        </p:txBody>
      </p:sp>
      <p:sp>
        <p:nvSpPr>
          <p:cNvPr id="10" name="Recurring spent grounds">
            <a:extLst xmlns:a="http://schemas.openxmlformats.org/drawingml/2006/main">
              <a:ext uri="{FF2B5EF4-FFF2-40B4-BE49-F238E27FC236}">
                <a16:creationId xmlns:a16="http://schemas.microsoft.com/office/drawing/2014/main" id="{F6D4F0F3-1309-46B8-9BF4-E2833BDA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57475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Recurring spent grounds</a:t>
            </a:r>
          </a:p>
        </p:txBody>
      </p:sp>
      <p:sp>
        <p:nvSpPr>
          <p:cNvPr id="11" name="Grounds commonly go in bins; actual disposal desti">
            <a:extLst xmlns:a="http://schemas.openxmlformats.org/drawingml/2006/main">
              <a:ext uri="{FF2B5EF4-FFF2-40B4-BE49-F238E27FC236}">
                <a16:creationId xmlns:a16="http://schemas.microsoft.com/office/drawing/2014/main" id="{6484B6D4-CEDE-4D56-8314-A686347E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289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Grounds commonly go in bins; actual disposal destinations need checking.</a:t>
            </a:r>
          </a:p>
        </p:txBody>
      </p:sp>
      <p:sp>
        <p:nvSpPr>
          <p:cNvPr id="12" name="Occasional surplus beans">
            <a:extLst xmlns:a="http://schemas.openxmlformats.org/drawingml/2006/main">
              <a:ext uri="{FF2B5EF4-FFF2-40B4-BE49-F238E27FC236}">
                <a16:creationId xmlns:a16="http://schemas.microsoft.com/office/drawing/2014/main" id="{087AF143-F800-4989-B1EB-9DD2640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24275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Occasional surplus beans</a:t>
            </a:r>
          </a:p>
        </p:txBody>
      </p:sp>
      <p:sp>
        <p:nvSpPr>
          <p:cNvPr id="13" name="Usable leftovers sometimes need another buyer or c">
            <a:extLst xmlns:a="http://schemas.openxmlformats.org/drawingml/2006/main">
              <a:ext uri="{FF2B5EF4-FFF2-40B4-BE49-F238E27FC236}">
                <a16:creationId xmlns:a16="http://schemas.microsoft.com/office/drawing/2014/main" id="{964A69CC-667D-4F3B-B574-8FA2B5A1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Usable leftovers sometimes need another buyer or cafe before freshness declines.</a:t>
            </a:r>
          </a:p>
        </p:txBody>
      </p:sp>
      <p:sp>
        <p:nvSpPr>
          <p:cNvPr id="14" name="Inconsistent arrangements">
            <a:extLst xmlns:a="http://schemas.openxmlformats.org/drawingml/2006/main">
              <a:ext uri="{FF2B5EF4-FFF2-40B4-BE49-F238E27FC236}">
                <a16:creationId xmlns:a16="http://schemas.microsoft.com/office/drawing/2014/main" id="{4C8673BF-A599-4370-AB52-BFE7878A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91075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Inconsistent arrangements</a:t>
            </a:r>
          </a:p>
        </p:txBody>
      </p:sp>
      <p:sp>
        <p:nvSpPr>
          <p:cNvPr id="15" name="Some cafes already use agricultural collection; ot">
            <a:extLst xmlns:a="http://schemas.openxmlformats.org/drawingml/2006/main">
              <a:ext uri="{FF2B5EF4-FFF2-40B4-BE49-F238E27FC236}">
                <a16:creationId xmlns:a16="http://schemas.microsoft.com/office/drawing/2014/main" id="{9BAE9CF9-F97B-4B7C-BB65-E945B8B9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625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Some cafes already use agricultural collection; others lack a repeatable system.</a:t>
            </a:r>
          </a:p>
        </p:txBody>
      </p:sp>
      <p:sp>
        <p:nvSpPr>
          <p:cNvPr id="16" name="Early problem evidence only: no measured volumes, ">
            <a:extLst xmlns:a="http://schemas.openxmlformats.org/drawingml/2006/main">
              <a:ext uri="{FF2B5EF4-FFF2-40B4-BE49-F238E27FC236}">
                <a16:creationId xmlns:a16="http://schemas.microsoft.com/office/drawing/2014/main" id="{66718AD0-FD1F-4364-A46C-214231CE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Early problem evidence only: no measured volumes, verified landfill routes or commitments to pay.</a:t>
            </a:r>
          </a:p>
        </p:txBody>
      </p:sp>
    </p:spTree>
    <p:extLst>
      <p:ext uri="{BB962C8B-B14F-4D97-AF65-F5344CB8AC3E}">
        <p14:creationId xmlns:p14="http://schemas.microsoft.com/office/powerpoint/2010/main" val="18088423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NILE  /  COP31 ALIGNMENT">
            <a:extLst xmlns:a="http://schemas.openxmlformats.org/drawingml/2006/main">
              <a:ext uri="{FF2B5EF4-FFF2-40B4-BE49-F238E27FC236}">
                <a16:creationId xmlns:a16="http://schemas.microsoft.com/office/drawing/2014/main" id="{787384B0-C0F6-4832-91F0-2DB12F06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NILE  /  COP31 ALIGNMENT</a:t>
            </a:r>
          </a:p>
        </p:txBody>
      </p:sp>
      <p:sp>
        <p:nvSpPr>
          <p:cNvPr id="2" name="Three priorities. One practical workflow.">
            <a:extLst xmlns:a="http://schemas.openxmlformats.org/drawingml/2006/main">
              <a:ext uri="{FF2B5EF4-FFF2-40B4-BE49-F238E27FC236}">
                <a16:creationId xmlns:a16="http://schemas.microsoft.com/office/drawing/2014/main" id="{1C56C5F2-7923-4F65-9E32-C5D28FFA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Three priorities. One practical workflow.</a:t>
            </a:r>
          </a:p>
        </p:txBody>
      </p:sp>
      <p:sp>
        <p:nvSpPr>
          <p:cNvPr id="3" name="For Australian cafes, accepting processors and col">
            <a:extLst xmlns:a="http://schemas.openxmlformats.org/drawingml/2006/main">
              <a:ext uri="{FF2B5EF4-FFF2-40B4-BE49-F238E27FC236}">
                <a16:creationId xmlns:a16="http://schemas.microsoft.com/office/drawing/2014/main" id="{428CF5EB-7ABC-4255-824C-CB635AE1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For Australian cafes, accepting processors and collectors: make coffee circularity easier to adopt and measure.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6B462-06B4-4211-B976-A9849D1E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C6"/>
          </a:solidFill>
          <a:ln xmlns:a="http://schemas.openxmlformats.org/drawingml/2006/main" w="0">
            <a:noFill/>
          </a:ln>
        </p:spPr>
      </p:sp>
      <p:sp>
        <p:nvSpPr>
          <p:cNvPr id="5" name="Nile • Climate Hack-tion • 4 October 2026">
            <a:extLst xmlns:a="http://schemas.openxmlformats.org/drawingml/2006/main">
              <a:ext uri="{FF2B5EF4-FFF2-40B4-BE49-F238E27FC236}">
                <a16:creationId xmlns:a16="http://schemas.microsoft.com/office/drawing/2014/main" id="{5A39E522-430D-457B-A1DC-19CCA114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Nile • Climate Hack-tion • 4 October 2026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6CF1E016-7EA3-4C72-973E-5A89EC00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794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7AE3B22E-19E2-4E38-AFEE-8EADED5C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Zero Waste &amp;&#10;Methane Reduction">
            <a:extLst xmlns:a="http://schemas.openxmlformats.org/drawingml/2006/main">
              <a:ext uri="{FF2B5EF4-FFF2-40B4-BE49-F238E27FC236}">
                <a16:creationId xmlns:a16="http://schemas.microsoft.com/office/drawing/2014/main" id="{167A00AD-3F81-4400-802B-D6D60063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321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Zero Waste &amp;</a:t>
            </a:r>
          </a:p>
          <a:p xmlns:a="http://schemas.openxmlformats.org/drawingml/2006/main">
            <a:pPr algn="l">
              <a:defRPr sz="232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Methane Reduction</a:t>
            </a:r>
          </a:p>
        </p:txBody>
      </p:sp>
      <p:sp>
        <p:nvSpPr>
          <p:cNvPr id="9" name="Keep usable beans circulating; redirect eligible g">
            <a:extLst xmlns:a="http://schemas.openxmlformats.org/drawingml/2006/main">
              <a:ext uri="{FF2B5EF4-FFF2-40B4-BE49-F238E27FC236}">
                <a16:creationId xmlns:a16="http://schemas.microsoft.com/office/drawing/2014/main" id="{D835DCD5-3E92-4B10-861A-9EEB44CF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Keep usable beans circulating; redirect eligible grounds from landfill.</a:t>
            </a:r>
          </a:p>
        </p:txBody>
      </p:sp>
      <p:sp>
        <p:nvSpPr>
          <p:cNvPr id="10" name="Test: additional accepted mass and the actual disp">
            <a:extLst xmlns:a="http://schemas.openxmlformats.org/drawingml/2006/main">
              <a:ext uri="{FF2B5EF4-FFF2-40B4-BE49-F238E27FC236}">
                <a16:creationId xmlns:a16="http://schemas.microsoft.com/office/drawing/2014/main" id="{2F22B7DB-FBBE-4188-B868-139D0059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Test: additional accepted mass and the actual disposal baseline.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5A866C90-FE50-4AAA-A301-5BCCCD8D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43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Green&#10;Industrialisation">
            <a:extLst xmlns:a="http://schemas.openxmlformats.org/drawingml/2006/main">
              <a:ext uri="{FF2B5EF4-FFF2-40B4-BE49-F238E27FC236}">
                <a16:creationId xmlns:a16="http://schemas.microsoft.com/office/drawing/2014/main" id="{D0332638-DAEB-4F90-8051-17E75246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09925"/>
            <a:ext cx="321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Green</a:t>
            </a:r>
          </a:p>
          <a:p xmlns:a="http://schemas.openxmlformats.org/drawingml/2006/main">
            <a:pPr algn="l">
              <a:defRPr sz="232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Industrialisation</a:t>
            </a:r>
          </a:p>
        </p:txBody>
      </p:sp>
      <p:sp>
        <p:nvSpPr>
          <p:cNvPr id="13" name="Help suitable growers and processors use coffee by">
            <a:extLst xmlns:a="http://schemas.openxmlformats.org/drawingml/2006/main">
              <a:ext uri="{FF2B5EF4-FFF2-40B4-BE49-F238E27FC236}">
                <a16:creationId xmlns:a16="http://schemas.microsoft.com/office/drawing/2014/main" id="{3484C352-3434-4CF1-9171-313520B1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100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Help suitable growers and processors use coffee by-products as inputs.</a:t>
            </a:r>
          </a:p>
        </p:txBody>
      </p:sp>
      <p:sp>
        <p:nvSpPr>
          <p:cNvPr id="14" name="Test: processor acceptance, actual use and input s">
            <a:extLst xmlns:a="http://schemas.openxmlformats.org/drawingml/2006/main">
              <a:ext uri="{FF2B5EF4-FFF2-40B4-BE49-F238E27FC236}">
                <a16:creationId xmlns:a16="http://schemas.microsoft.com/office/drawing/2014/main" id="{C9368EFC-E3C6-4AA6-B48B-DB9A53FC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62575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Test: processor acceptance, actual use and input substitution.</a:t>
            </a:r>
          </a:p>
        </p:txBody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8F99B2B3-E1E1-4D09-A32A-5C28B151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Awareness">
            <a:extLst xmlns:a="http://schemas.openxmlformats.org/drawingml/2006/main">
              <a:ext uri="{FF2B5EF4-FFF2-40B4-BE49-F238E27FC236}">
                <a16:creationId xmlns:a16="http://schemas.microsoft.com/office/drawing/2014/main" id="{11BA4054-A052-4CF0-8695-F3B85969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9925"/>
            <a:ext cx="321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Awareness</a:t>
            </a:r>
          </a:p>
        </p:txBody>
      </p:sp>
      <p:sp>
        <p:nvSpPr>
          <p:cNvPr id="17" name="Explain reuse routes, preparation rules and climat">
            <a:extLst xmlns:a="http://schemas.openxmlformats.org/drawingml/2006/main">
              <a:ext uri="{FF2B5EF4-FFF2-40B4-BE49-F238E27FC236}">
                <a16:creationId xmlns:a16="http://schemas.microsoft.com/office/drawing/2014/main" id="{DC87B367-4A74-4432-BAB6-9FFADC10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00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Explain reuse routes, preparation rules and climate estimates in plain language.</a:t>
            </a:r>
          </a:p>
        </p:txBody>
      </p:sp>
      <p:sp>
        <p:nvSpPr>
          <p:cNvPr id="18" name="Test: understanding and correct preparation before">
            <a:extLst xmlns:a="http://schemas.openxmlformats.org/drawingml/2006/main">
              <a:ext uri="{FF2B5EF4-FFF2-40B4-BE49-F238E27FC236}">
                <a16:creationId xmlns:a16="http://schemas.microsoft.com/office/drawing/2014/main" id="{B079BCF4-08DF-41EB-9C92-86F11863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62575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Test: understanding and correct preparation before and after use.</a:t>
            </a:r>
          </a:p>
        </p:txBody>
      </p:sp>
    </p:spTree>
    <p:extLst>
      <p:ext uri="{BB962C8B-B14F-4D97-AF65-F5344CB8AC3E}">
        <p14:creationId xmlns:p14="http://schemas.microsoft.com/office/powerpoint/2010/main" val="812936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NILE  /  WORKING PROTOTYPE">
            <a:extLst xmlns:a="http://schemas.openxmlformats.org/drawingml/2006/main">
              <a:ext uri="{FF2B5EF4-FFF2-40B4-BE49-F238E27FC236}">
                <a16:creationId xmlns:a16="http://schemas.microsoft.com/office/drawing/2014/main" id="{4877796B-8BB5-4CED-AFF0-57D5A91F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NILE  /  WORKING PROTOTYPE</a:t>
            </a:r>
          </a:p>
        </p:txBody>
      </p:sp>
      <p:sp>
        <p:nvSpPr>
          <p:cNvPr id="2" name="List. Match. Collect. Confirm.">
            <a:extLst xmlns:a="http://schemas.openxmlformats.org/drawingml/2006/main">
              <a:ext uri="{FF2B5EF4-FFF2-40B4-BE49-F238E27FC236}">
                <a16:creationId xmlns:a16="http://schemas.microsoft.com/office/drawing/2014/main" id="{CF9DA68C-1F27-44C9-A5B8-D272D981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List. Match. Collect. Confirm.</a:t>
            </a:r>
          </a:p>
        </p:txBody>
      </p:sp>
      <p:sp>
        <p:nvSpPr>
          <p:cNvPr id="3" name="One engine demonstrates spent grounds and usable s">
            <a:extLst xmlns:a="http://schemas.openxmlformats.org/drawingml/2006/main">
              <a:ext uri="{FF2B5EF4-FFF2-40B4-BE49-F238E27FC236}">
                <a16:creationId xmlns:a16="http://schemas.microsoft.com/office/drawing/2014/main" id="{EDD369B7-03D8-4F7C-AA46-98EFB42E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One engine demonstrates spent grounds and usable surplus roasted beans.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ECD7D-4495-4C8A-8055-AB5C4D8C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C6"/>
          </a:solidFill>
          <a:ln xmlns:a="http://schemas.openxmlformats.org/drawingml/2006/main" w="0">
            <a:noFill/>
          </a:ln>
        </p:spPr>
      </p:sp>
      <p:sp>
        <p:nvSpPr>
          <p:cNvPr id="5" name="Nile • Climate Hack-tion • 4 October 2026">
            <a:extLst xmlns:a="http://schemas.openxmlformats.org/drawingml/2006/main">
              <a:ext uri="{FF2B5EF4-FFF2-40B4-BE49-F238E27FC236}">
                <a16:creationId xmlns:a16="http://schemas.microsoft.com/office/drawing/2014/main" id="{C7F4FFAC-624B-4D4E-A05F-AC5488F8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Nile • Climate Hack-tion • 4 October 2026</a:t>
            </a:r>
          </a:p>
        </p:txBody>
      </p:sp>
      <p:sp>
        <p:nvSpPr>
          <p:cNvPr id="6" name="04">
            <a:extLst xmlns:a="http://schemas.openxmlformats.org/drawingml/2006/main">
              <a:ext uri="{FF2B5EF4-FFF2-40B4-BE49-F238E27FC236}">
                <a16:creationId xmlns:a16="http://schemas.microsoft.com/office/drawing/2014/main" id="{2EF817CA-3EFE-4727-8A9D-D76F308F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794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01  Describe the batch">
            <a:extLst xmlns:a="http://schemas.openxmlformats.org/drawingml/2006/main">
              <a:ext uri="{FF2B5EF4-FFF2-40B4-BE49-F238E27FC236}">
                <a16:creationId xmlns:a16="http://schemas.microsoft.com/office/drawing/2014/main" id="{54A04187-EFF3-4546-91F7-FA88F094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01  Describe the batch</a:t>
            </a:r>
          </a:p>
        </p:txBody>
      </p:sp>
      <p:sp>
        <p:nvSpPr>
          <p:cNvPr id="8" name="Type, condition, quantity, packaging and availabil">
            <a:extLst xmlns:a="http://schemas.openxmlformats.org/drawingml/2006/main">
              <a:ext uri="{FF2B5EF4-FFF2-40B4-BE49-F238E27FC236}">
                <a16:creationId xmlns:a16="http://schemas.microsoft.com/office/drawing/2014/main" id="{237CAB4B-AFCC-4F4C-8F83-25DAABB4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Type, condition, quantity, packaging and availability.</a:t>
            </a:r>
          </a:p>
        </p:txBody>
      </p:sp>
      <p:sp>
        <p:nvSpPr>
          <p:cNvPr id="9" name="02  Compare eligible matches">
            <a:extLst xmlns:a="http://schemas.openxmlformats.org/drawingml/2006/main">
              <a:ext uri="{FF2B5EF4-FFF2-40B4-BE49-F238E27FC236}">
                <a16:creationId xmlns:a16="http://schemas.microsoft.com/office/drawing/2014/main" id="{6B95D548-CA82-45B1-8567-C1ABAD05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02  Compare eligible matches</a:t>
            </a:r>
          </a:p>
        </p:txBody>
      </p:sp>
      <p:sp>
        <p:nvSpPr>
          <p:cNvPr id="10" name="Check acceptance rules first; compare net value, d">
            <a:extLst xmlns:a="http://schemas.openxmlformats.org/drawingml/2006/main">
              <a:ext uri="{FF2B5EF4-FFF2-40B4-BE49-F238E27FC236}">
                <a16:creationId xmlns:a16="http://schemas.microsoft.com/office/drawing/2014/main" id="{647AD1C0-E405-489C-82AD-8072DFB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Check acceptance rules first; compare net value, distance and timing.</a:t>
            </a:r>
          </a:p>
        </p:txBody>
      </p:sp>
      <p:sp>
        <p:nvSpPr>
          <p:cNvPr id="11" name="03  Agree collection">
            <a:extLst xmlns:a="http://schemas.openxmlformats.org/drawingml/2006/main">
              <a:ext uri="{FF2B5EF4-FFF2-40B4-BE49-F238E27FC236}">
                <a16:creationId xmlns:a16="http://schemas.microsoft.com/office/drawing/2014/main" id="{76C72620-B391-4AF6-8AE9-30DA3C17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03  Agree collection</a:t>
            </a:r>
          </a:p>
        </p:txBody>
      </p:sp>
      <p:sp>
        <p:nvSpPr>
          <p:cNvPr id="12" name="Shared preparation and pickup brief; recipient acc">
            <a:extLst xmlns:a="http://schemas.openxmlformats.org/drawingml/2006/main">
              <a:ext uri="{FF2B5EF4-FFF2-40B4-BE49-F238E27FC236}">
                <a16:creationId xmlns:a16="http://schemas.microsoft.com/office/drawing/2014/main" id="{A0D8BC2A-127A-4082-814D-ED9F201D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Shared preparation and pickup brief; recipient accepts the current version.</a:t>
            </a:r>
          </a:p>
        </p:txBody>
      </p:sp>
      <p:sp>
        <p:nvSpPr>
          <p:cNvPr id="13" name="04  Record what happened">
            <a:extLst xmlns:a="http://schemas.openxmlformats.org/drawingml/2006/main">
              <a:ext uri="{FF2B5EF4-FFF2-40B4-BE49-F238E27FC236}">
                <a16:creationId xmlns:a16="http://schemas.microsoft.com/office/drawing/2014/main" id="{1D7826FB-A420-4EEE-B29F-E1E7BD6C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04  Record what happened</a:t>
            </a:r>
          </a:p>
        </p:txBody>
      </p:sp>
      <p:sp>
        <p:nvSpPr>
          <p:cNvPr id="14" name="Actual accepted weight, supplier confirmation and ">
            <a:extLst xmlns:a="http://schemas.openxmlformats.org/drawingml/2006/main">
              <a:ext uri="{FF2B5EF4-FFF2-40B4-BE49-F238E27FC236}">
                <a16:creationId xmlns:a16="http://schemas.microsoft.com/office/drawing/2014/main" id="{062DFE12-D5E8-4174-A49F-2C146C19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Actual accepted weight, supplier confirmation and separate reported use.</a:t>
            </a:r>
          </a:p>
        </p:txBody>
      </p:sp>
      <p:sp>
        <p:nvSpPr>
          <p:cNvPr id="15" name="30 kg">
            <a:extLst xmlns:a="http://schemas.openxmlformats.org/drawingml/2006/main">
              <a:ext uri="{FF2B5EF4-FFF2-40B4-BE49-F238E27FC236}">
                <a16:creationId xmlns:a16="http://schemas.microsoft.com/office/drawing/2014/main" id="{3B836BDF-06A5-4D64-8440-A0BCA7D8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432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525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BF7947"/>
                </a:solidFill>
                <a:latin typeface="Georgia"/>
                <a:ea typeface="Georgia"/>
                <a:cs typeface="Georgia"/>
              </a:rPr>
              <a:t>30 kg</a:t>
            </a:r>
          </a:p>
        </p:txBody>
      </p:sp>
      <p:sp>
        <p:nvSpPr>
          <p:cNvPr id="16" name="proposed">
            <a:extLst xmlns:a="http://schemas.openxmlformats.org/drawingml/2006/main">
              <a:ext uri="{FF2B5EF4-FFF2-40B4-BE49-F238E27FC236}">
                <a16:creationId xmlns:a16="http://schemas.microsoft.com/office/drawing/2014/main" id="{54825FCB-929C-474B-AFE4-C8CF2041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81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proposed</a:t>
            </a:r>
          </a:p>
        </p:txBody>
      </p:sp>
      <p:sp>
        <p:nvSpPr>
          <p:cNvPr id="17" name="27 kg">
            <a:extLst xmlns:a="http://schemas.openxmlformats.org/drawingml/2006/main">
              <a:ext uri="{FF2B5EF4-FFF2-40B4-BE49-F238E27FC236}">
                <a16:creationId xmlns:a16="http://schemas.microsoft.com/office/drawing/2014/main" id="{D63E43C8-AC9F-4DA8-9802-CCDBD9D0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525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BF7947"/>
                </a:solidFill>
                <a:latin typeface="Georgia"/>
                <a:ea typeface="Georgia"/>
                <a:cs typeface="Georgia"/>
              </a:rPr>
              <a:t>27 kg</a:t>
            </a:r>
          </a:p>
        </p:txBody>
      </p:sp>
      <p:sp>
        <p:nvSpPr>
          <p:cNvPr id="18" name="accepted">
            <a:extLst xmlns:a="http://schemas.openxmlformats.org/drawingml/2006/main">
              <a:ext uri="{FF2B5EF4-FFF2-40B4-BE49-F238E27FC236}">
                <a16:creationId xmlns:a16="http://schemas.microsoft.com/office/drawing/2014/main" id="{04B8D486-6D6F-4832-B001-A9602231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672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19" name="25 kg">
            <a:extLst xmlns:a="http://schemas.openxmlformats.org/drawingml/2006/main">
              <a:ext uri="{FF2B5EF4-FFF2-40B4-BE49-F238E27FC236}">
                <a16:creationId xmlns:a16="http://schemas.microsoft.com/office/drawing/2014/main" id="{A363D216-17D2-4FBE-AA32-CE93449C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149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525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BF7947"/>
                </a:solidFill>
                <a:latin typeface="Georgia"/>
                <a:ea typeface="Georgia"/>
                <a:cs typeface="Georgia"/>
              </a:rPr>
              <a:t>25 kg</a:t>
            </a:r>
          </a:p>
        </p:txBody>
      </p:sp>
      <p:sp>
        <p:nvSpPr>
          <p:cNvPr id="20" name="reported used">
            <a:extLst xmlns:a="http://schemas.openxmlformats.org/drawingml/2006/main">
              <a:ext uri="{FF2B5EF4-FFF2-40B4-BE49-F238E27FC236}">
                <a16:creationId xmlns:a16="http://schemas.microsoft.com/office/drawing/2014/main" id="{D1A0D6B5-5880-4B61-9DA9-14AD359A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530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reported used</a:t>
            </a:r>
          </a:p>
        </p:txBody>
      </p:sp>
      <p:sp>
        <p:nvSpPr>
          <p:cNvPr id="21" name="Demo example • separate evidence states">
            <a:extLst xmlns:a="http://schemas.openxmlformats.org/drawingml/2006/main">
              <a:ext uri="{FF2B5EF4-FFF2-40B4-BE49-F238E27FC236}">
                <a16:creationId xmlns:a16="http://schemas.microsoft.com/office/drawing/2014/main" id="{D7FFA5E9-7FE6-4B4E-A103-5467E654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00075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Demo example • separate evidence states</a:t>
            </a:r>
          </a:p>
        </p:txBody>
      </p:sp>
    </p:spTree>
    <p:extLst>
      <p:ext uri="{BB962C8B-B14F-4D97-AF65-F5344CB8AC3E}">
        <p14:creationId xmlns:p14="http://schemas.microsoft.com/office/powerpoint/2010/main" val="3409773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NILE  /  WHY PEOPLE WOULD USE IT">
            <a:extLst xmlns:a="http://schemas.openxmlformats.org/drawingml/2006/main">
              <a:ext uri="{FF2B5EF4-FFF2-40B4-BE49-F238E27FC236}">
                <a16:creationId xmlns:a16="http://schemas.microsoft.com/office/drawing/2014/main" id="{39F18ECC-4583-42A3-B525-FAB685EB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NILE  /  WHY PEOPLE WOULD USE IT</a:t>
            </a:r>
          </a:p>
        </p:txBody>
      </p:sp>
      <p:sp>
        <p:nvSpPr>
          <p:cNvPr id="2" name="Less uncertainty. Clearer value.">
            <a:extLst xmlns:a="http://schemas.openxmlformats.org/drawingml/2006/main">
              <a:ext uri="{FF2B5EF4-FFF2-40B4-BE49-F238E27FC236}">
                <a16:creationId xmlns:a16="http://schemas.microsoft.com/office/drawing/2014/main" id="{D6EA516F-2816-4494-813A-A5815A60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Less uncertainty. Clearer value.</a:t>
            </a:r>
          </a:p>
        </p:txBody>
      </p:sp>
      <p:sp>
        <p:nvSpPr>
          <p:cNvPr id="3" name="The adoption hypothesis: reduce coordination effor">
            <a:extLst xmlns:a="http://schemas.openxmlformats.org/drawingml/2006/main">
              <a:ext uri="{FF2B5EF4-FFF2-40B4-BE49-F238E27FC236}">
                <a16:creationId xmlns:a16="http://schemas.microsoft.com/office/drawing/2014/main" id="{B1F36CBD-CF24-439D-9DFF-713BC6EA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The adoption hypothesis: reduce coordination effort without hiding handling or collection costs.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5CF1A-FAC2-4795-88AE-ECA3CFC2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C6"/>
          </a:solidFill>
          <a:ln xmlns:a="http://schemas.openxmlformats.org/drawingml/2006/main" w="0">
            <a:noFill/>
          </a:ln>
        </p:spPr>
      </p:sp>
      <p:sp>
        <p:nvSpPr>
          <p:cNvPr id="5" name="Nile • Climate Hack-tion • 4 October 2026">
            <a:extLst xmlns:a="http://schemas.openxmlformats.org/drawingml/2006/main">
              <a:ext uri="{FF2B5EF4-FFF2-40B4-BE49-F238E27FC236}">
                <a16:creationId xmlns:a16="http://schemas.microsoft.com/office/drawing/2014/main" id="{B6AEBC14-1127-4D0B-BED2-EC1D295A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Nile • Climate Hack-tion • 4 October 2026</a:t>
            </a:r>
          </a:p>
        </p:txBody>
      </p:sp>
      <p:sp>
        <p:nvSpPr>
          <p:cNvPr id="6" name="05">
            <a:extLst xmlns:a="http://schemas.openxmlformats.org/drawingml/2006/main">
              <a:ext uri="{FF2B5EF4-FFF2-40B4-BE49-F238E27FC236}">
                <a16:creationId xmlns:a16="http://schemas.microsoft.com/office/drawing/2014/main" id="{42867F83-E8E1-4E8D-8D42-588EF8DF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794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For the cafe">
            <a:extLst xmlns:a="http://schemas.openxmlformats.org/drawingml/2006/main">
              <a:ext uri="{FF2B5EF4-FFF2-40B4-BE49-F238E27FC236}">
                <a16:creationId xmlns:a16="http://schemas.microsoft.com/office/drawing/2014/main" id="{53C23C9A-562F-48DD-BEBA-6C265C2E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For the cafe</a:t>
            </a:r>
          </a:p>
        </p:txBody>
      </p:sp>
      <p:sp>
        <p:nvSpPr>
          <p:cNvPr id="8" name="Repeat listings, understandable net value and a cl">
            <a:extLst xmlns:a="http://schemas.openxmlformats.org/drawingml/2006/main">
              <a:ext uri="{FF2B5EF4-FFF2-40B4-BE49-F238E27FC236}">
                <a16:creationId xmlns:a16="http://schemas.microsoft.com/office/drawing/2014/main" id="{A03D37C7-D0DC-4257-8F6B-49914F02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33147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Repeat listings, understandable net value and a clear preparation checklist.</a:t>
            </a:r>
          </a:p>
        </p:txBody>
      </p:sp>
      <p:sp>
        <p:nvSpPr>
          <p:cNvPr id="9" name="For recipients / collectors">
            <a:extLst xmlns:a="http://schemas.openxmlformats.org/drawingml/2006/main">
              <a:ext uri="{FF2B5EF4-FFF2-40B4-BE49-F238E27FC236}">
                <a16:creationId xmlns:a16="http://schemas.microsoft.com/office/drawing/2014/main" id="{C1289BCF-7349-4CB5-8E8C-6F2CEC03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For recipients / collectors</a:t>
            </a:r>
          </a:p>
        </p:txBody>
      </p:sp>
      <p:sp>
        <p:nvSpPr>
          <p:cNvPr id="10" name="Agree material, container, access, time and collec">
            <a:extLst xmlns:a="http://schemas.openxmlformats.org/drawingml/2006/main">
              <a:ext uri="{FF2B5EF4-FFF2-40B4-BE49-F238E27FC236}">
                <a16:creationId xmlns:a16="http://schemas.microsoft.com/office/drawing/2014/main" id="{96FC2233-9EB2-4DD9-9A0D-8E4B3703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05225"/>
            <a:ext cx="33147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Agree material, container, access, time and collection responsibility before pickup.</a:t>
            </a:r>
          </a:p>
        </p:txBody>
      </p:sp>
      <p:sp>
        <p:nvSpPr>
          <p:cNvPr id="11" name="A reason to return">
            <a:extLst xmlns:a="http://schemas.openxmlformats.org/drawingml/2006/main">
              <a:ext uri="{FF2B5EF4-FFF2-40B4-BE49-F238E27FC236}">
                <a16:creationId xmlns:a16="http://schemas.microsoft.com/office/drawing/2014/main" id="{2202170D-D656-4BC4-90D4-6FD20D25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A reason to return</a:t>
            </a:r>
          </a:p>
        </p:txBody>
      </p:sp>
      <p:sp>
        <p:nvSpPr>
          <p:cNvPr id="12" name="Usage / sales CSVs help plan bean purchases agains">
            <a:extLst xmlns:a="http://schemas.openxmlformats.org/drawingml/2006/main">
              <a:ext uri="{FF2B5EF4-FFF2-40B4-BE49-F238E27FC236}">
                <a16:creationId xmlns:a16="http://schemas.microsoft.com/office/drawing/2014/main" id="{FF2C1A23-5247-4D92-92AA-916BAE38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05225"/>
            <a:ext cx="33147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Usage / sales CSVs help plan bean purchases against stock, goals and budget.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8D72D-64E3-44C0-90DE-9C183C06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C6"/>
          </a:solidFill>
          <a:ln xmlns:a="http://schemas.openxmlformats.org/drawingml/2006/main" w="0">
            <a:noFill/>
          </a:ln>
        </p:spPr>
      </p:sp>
      <p:sp>
        <p:nvSpPr>
          <p:cNvPr id="14" name="Net benefit = sale revenue + documented avoided co">
            <a:extLst xmlns:a="http://schemas.openxmlformats.org/drawingml/2006/main">
              <a:ext uri="{FF2B5EF4-FFF2-40B4-BE49-F238E27FC236}">
                <a16:creationId xmlns:a16="http://schemas.microsoft.com/office/drawing/2014/main" id="{CE46A115-BC41-40A8-8AEA-CAD6AC4A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Net benefit = sale revenue + documented avoided costs</a:t>
            </a:r>
          </a:p>
        </p:txBody>
      </p:sp>
      <p:sp>
        <p:nvSpPr>
          <p:cNvPr id="15" name="− extra handling, collection and platform costs.">
            <a:extLst xmlns:a="http://schemas.openxmlformats.org/drawingml/2006/main">
              <a:ext uri="{FF2B5EF4-FFF2-40B4-BE49-F238E27FC236}">
                <a16:creationId xmlns:a16="http://schemas.microsoft.com/office/drawing/2014/main" id="{757D0B06-E722-40B1-99EC-E5C2DE8A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− extra handling, collection and platform costs.</a:t>
            </a:r>
          </a:p>
        </p:txBody>
      </p:sp>
    </p:spTree>
    <p:extLst>
      <p:ext uri="{BB962C8B-B14F-4D97-AF65-F5344CB8AC3E}">
        <p14:creationId xmlns:p14="http://schemas.microsoft.com/office/powerpoint/2010/main" val="2977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NILE  /  ALTERNATIVES &amp; DIFFERENTIATION">
            <a:extLst xmlns:a="http://schemas.openxmlformats.org/drawingml/2006/main">
              <a:ext uri="{FF2B5EF4-FFF2-40B4-BE49-F238E27FC236}">
                <a16:creationId xmlns:a16="http://schemas.microsoft.com/office/drawing/2014/main" id="{5E0C618E-9A91-4EAB-8F53-712D32E1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NILE  /  ALTERNATIVES &amp; DIFFERENTIATION</a:t>
            </a:r>
          </a:p>
        </p:txBody>
      </p:sp>
      <p:sp>
        <p:nvSpPr>
          <p:cNvPr id="2" name="Reground proves collection is valuable.">
            <a:extLst xmlns:a="http://schemas.openxmlformats.org/drawingml/2006/main">
              <a:ext uri="{FF2B5EF4-FFF2-40B4-BE49-F238E27FC236}">
                <a16:creationId xmlns:a16="http://schemas.microsoft.com/office/drawing/2014/main" id="{96CDBB19-2BB0-4043-9F77-98702A95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Reground proves collection is valuable.</a:t>
            </a:r>
          </a:p>
        </p:txBody>
      </p:sp>
      <p:sp>
        <p:nvSpPr>
          <p:cNvPr id="3" name="Nile proposes batch-level choice, usable-bean matc">
            <a:extLst xmlns:a="http://schemas.openxmlformats.org/drawingml/2006/main">
              <a:ext uri="{FF2B5EF4-FFF2-40B4-BE49-F238E27FC236}">
                <a16:creationId xmlns:a16="http://schemas.microsoft.com/office/drawing/2014/main" id="{1395CCFF-6F9C-4903-908C-B8452129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Nile proposes batch-level choice, usable-bean matching and coordination; the commercial advantage needs testing.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1CB7E-2563-4AA5-BCD7-70D4222C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C6"/>
          </a:solidFill>
          <a:ln xmlns:a="http://schemas.openxmlformats.org/drawingml/2006/main" w="0">
            <a:noFill/>
          </a:ln>
        </p:spPr>
      </p:sp>
      <p:sp>
        <p:nvSpPr>
          <p:cNvPr id="5" name="Nile • Climate Hack-tion • 4 October 2026">
            <a:extLst xmlns:a="http://schemas.openxmlformats.org/drawingml/2006/main">
              <a:ext uri="{FF2B5EF4-FFF2-40B4-BE49-F238E27FC236}">
                <a16:creationId xmlns:a16="http://schemas.microsoft.com/office/drawing/2014/main" id="{3A52F927-7A46-4D6E-A063-5EB6B3F1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Nile • Climate Hack-tion • 4 October 2026</a:t>
            </a:r>
          </a:p>
        </p:txBody>
      </p:sp>
      <p:sp>
        <p:nvSpPr>
          <p:cNvPr id="6" name="06">
            <a:extLst xmlns:a="http://schemas.openxmlformats.org/drawingml/2006/main">
              <a:ext uri="{FF2B5EF4-FFF2-40B4-BE49-F238E27FC236}">
                <a16:creationId xmlns:a16="http://schemas.microsoft.com/office/drawing/2014/main" id="{90A80362-F019-4DCB-92C1-2322A737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794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20AF9-9786-4AA0-94AD-E4069EB3E0F5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57400"/>
                <a:gridCol w="4267200"/>
                <a:gridCol w="4495800"/>
              </a:tblGrid>
              <a:tr h="6286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Dimension</a:t>
                      </a:r>
                    </a:p>
                  </a:txBody>
                  <a:tcPr marL="133350" marR="133350" marT="76200" marB="76200" anchor="ctr">
                    <a:solidFill>
                      <a:srgbClr val="214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Reground: documented service</a:t>
                      </a:r>
                    </a:p>
                  </a:txBody>
                  <a:tcPr marL="133350" marR="133350" marT="76200" marB="76200" anchor="ctr">
                    <a:solidFill>
                      <a:srgbClr val="214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Nile: local prototype</a:t>
                      </a:r>
                    </a:p>
                  </a:txBody>
                  <a:tcPr marL="133350" marR="133350" marT="76200" marB="76200" anchor="ctr">
                    <a:solidFill>
                      <a:srgbClr val="21453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Material routes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Grounds and chaff collection; wider circular projects.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Grounds + usable beans to sample cafes; wider catalogue unvalidated.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Collection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Bins and physical pickups.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Compatibility, cost comparison and shared collection brief; no fleet.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Pickup/destination tracking, online reporting and updates.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Accepted weights, two-party receipts and separate reported use.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Business adoption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Education, consultancy and Circular Coffee ESG/certification.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Repeat listings, batch economics and CSV purchase planning.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</a:tr>
            </a:tbl>
          </a:graphicData>
        </a:graphic>
      </p:graphicFrame>
      <p:sp>
        <p:nvSpPr>
          <p:cNvPr id="8" name="Potential collector partner only; no agreement or ">
            <a:extLst xmlns:a="http://schemas.openxmlformats.org/drawingml/2006/main">
              <a:ext uri="{FF2B5EF4-FFF2-40B4-BE49-F238E27FC236}">
                <a16:creationId xmlns:a16="http://schemas.microsoft.com/office/drawing/2014/main" id="{CFF636AE-4390-4AA6-BD05-837337F9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Potential collector partner only; no agreement or proven price/climate advantage.</a:t>
            </a:r>
          </a:p>
        </p:txBody>
      </p:sp>
      <p:sp>
        <p:nvSpPr>
          <p:cNvPr id="9" name="Sources: reground.com.au/collection/ground-coffee/">
            <a:extLst xmlns:a="http://schemas.openxmlformats.org/drawingml/2006/main">
              <a:ext uri="{FF2B5EF4-FFF2-40B4-BE49-F238E27FC236}">
                <a16:creationId xmlns:a16="http://schemas.microsoft.com/office/drawing/2014/main" id="{50891190-3DA0-49C5-9154-C2DF3321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Sources: reground.com.au/collection/ground-coffee/ • /collection/chaff/ • /collection/circular-coffee/ • /consultancy/</a:t>
            </a:r>
          </a:p>
        </p:txBody>
      </p:sp>
    </p:spTree>
    <p:extLst>
      <p:ext uri="{BB962C8B-B14F-4D97-AF65-F5344CB8AC3E}">
        <p14:creationId xmlns:p14="http://schemas.microsoft.com/office/powerpoint/2010/main" val="522066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NILE  /  ILLUSTRATIVE POTENTIAL — NOT ACHIEVED">
            <a:extLst xmlns:a="http://schemas.openxmlformats.org/drawingml/2006/main">
              <a:ext uri="{FF2B5EF4-FFF2-40B4-BE49-F238E27FC236}">
                <a16:creationId xmlns:a16="http://schemas.microsoft.com/office/drawing/2014/main" id="{78DB0B7B-8368-4AEE-B438-ADA557A2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NILE  /  ILLUSTRATIVE POTENTIAL — NOT ACHIEVED</a:t>
            </a:r>
          </a:p>
        </p:txBody>
      </p:sp>
      <p:sp>
        <p:nvSpPr>
          <p:cNvPr id="2" name="What could 100 cafes contribute?">
            <a:extLst xmlns:a="http://schemas.openxmlformats.org/drawingml/2006/main">
              <a:ext uri="{FF2B5EF4-FFF2-40B4-BE49-F238E27FC236}">
                <a16:creationId xmlns:a16="http://schemas.microsoft.com/office/drawing/2014/main" id="{029E1D41-B802-4530-AF0E-6EB6402D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What could 100 cafes contribute?</a:t>
            </a:r>
          </a:p>
        </p:txBody>
      </p:sp>
      <p:sp>
        <p:nvSpPr>
          <p:cNvPr id="3" name="Assumed one-year cohort; only materials that would">
            <a:extLst xmlns:a="http://schemas.openxmlformats.org/drawingml/2006/main">
              <a:ext uri="{FF2B5EF4-FFF2-40B4-BE49-F238E27FC236}">
                <a16:creationId xmlns:a16="http://schemas.microsoft.com/office/drawing/2014/main" id="{FC5CD99D-2B78-4455-98D9-E2F2F41B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Assumed one-year cohort; only materials that would otherwise go to landfill are eligible.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C9662-66EB-4594-A452-062326FC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C6"/>
          </a:solidFill>
          <a:ln xmlns:a="http://schemas.openxmlformats.org/drawingml/2006/main" w="0">
            <a:noFill/>
          </a:ln>
        </p:spPr>
      </p:sp>
      <p:sp>
        <p:nvSpPr>
          <p:cNvPr id="5" name="Nile • Climate Hack-tion • 4 October 2026">
            <a:extLst xmlns:a="http://schemas.openxmlformats.org/drawingml/2006/main">
              <a:ext uri="{FF2B5EF4-FFF2-40B4-BE49-F238E27FC236}">
                <a16:creationId xmlns:a16="http://schemas.microsoft.com/office/drawing/2014/main" id="{3EEADBDE-FEC6-4854-B534-2A9AE07A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Nile • Climate Hack-tion • 4 October 2026</a:t>
            </a:r>
          </a:p>
        </p:txBody>
      </p:sp>
      <p:sp>
        <p:nvSpPr>
          <p:cNvPr id="6" name="07">
            <a:extLst xmlns:a="http://schemas.openxmlformats.org/drawingml/2006/main">
              <a:ext uri="{FF2B5EF4-FFF2-40B4-BE49-F238E27FC236}">
                <a16:creationId xmlns:a16="http://schemas.microsoft.com/office/drawing/2014/main" id="{9CC059C7-4F48-48B6-8A1A-2D076843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794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83.2">
            <a:extLst xmlns:a="http://schemas.openxmlformats.org/drawingml/2006/main">
              <a:ext uri="{FF2B5EF4-FFF2-40B4-BE49-F238E27FC236}">
                <a16:creationId xmlns:a16="http://schemas.microsoft.com/office/drawing/2014/main" id="{89CBE390-FE4F-4F3A-B0B8-0106E617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276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925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5925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pPr>
            <a:r>
              <a:rPr sz="5925" b="0">
                <a:solidFill>
                  <a:srgbClr val="BF7947"/>
                </a:solidFill>
                <a:latin typeface="Georgia"/>
                <a:ea typeface="Georgia"/>
                <a:cs typeface="Georgia"/>
              </a:rPr>
              <a:t>83.2</a:t>
            </a:r>
          </a:p>
        </p:txBody>
      </p:sp>
      <p:sp>
        <p:nvSpPr>
          <p:cNvPr id="8" name="tonnes of grounds">
            <a:extLst xmlns:a="http://schemas.openxmlformats.org/drawingml/2006/main">
              <a:ext uri="{FF2B5EF4-FFF2-40B4-BE49-F238E27FC236}">
                <a16:creationId xmlns:a16="http://schemas.microsoft.com/office/drawing/2014/main" id="{C6CFD96C-D276-4174-9CAD-3D60C7AF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31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tonnes of grounds</a:t>
            </a:r>
          </a:p>
        </p:txBody>
      </p:sp>
      <p:sp>
        <p:nvSpPr>
          <p:cNvPr id="9" name="diverted per year">
            <a:extLst xmlns:a="http://schemas.openxmlformats.org/drawingml/2006/main">
              <a:ext uri="{FF2B5EF4-FFF2-40B4-BE49-F238E27FC236}">
                <a16:creationId xmlns:a16="http://schemas.microsoft.com/office/drawing/2014/main" id="{61FB97EE-EE42-46CB-958F-E0C14E16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331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diverted per year</a:t>
            </a:r>
          </a:p>
        </p:txBody>
      </p:sp>
      <p:sp>
        <p:nvSpPr>
          <p:cNvPr id="10" name="4.16">
            <a:extLst xmlns:a="http://schemas.openxmlformats.org/drawingml/2006/main">
              <a:ext uri="{FF2B5EF4-FFF2-40B4-BE49-F238E27FC236}">
                <a16:creationId xmlns:a16="http://schemas.microsoft.com/office/drawing/2014/main" id="{D6B1B9F5-0006-4A3A-8E62-C4C8F69D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90825"/>
            <a:ext cx="3276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925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5925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pPr>
            <a:r>
              <a:rPr sz="5925" b="0">
                <a:solidFill>
                  <a:srgbClr val="BF7947"/>
                </a:solidFill>
                <a:latin typeface="Georgia"/>
                <a:ea typeface="Georgia"/>
                <a:cs typeface="Georgia"/>
              </a:rPr>
              <a:t>4.16</a:t>
            </a:r>
          </a:p>
        </p:txBody>
      </p:sp>
      <p:sp>
        <p:nvSpPr>
          <p:cNvPr id="11" name="tonnes of usable beans">
            <a:extLst xmlns:a="http://schemas.openxmlformats.org/drawingml/2006/main">
              <a:ext uri="{FF2B5EF4-FFF2-40B4-BE49-F238E27FC236}">
                <a16:creationId xmlns:a16="http://schemas.microsoft.com/office/drawing/2014/main" id="{F80BAFCC-91BC-4CAA-BBB5-BC29CE92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0975"/>
            <a:ext cx="331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tonnes of usable beans</a:t>
            </a:r>
          </a:p>
        </p:txBody>
      </p:sp>
      <p:sp>
        <p:nvSpPr>
          <p:cNvPr id="12" name="redirected per year">
            <a:extLst xmlns:a="http://schemas.openxmlformats.org/drawingml/2006/main">
              <a:ext uri="{FF2B5EF4-FFF2-40B4-BE49-F238E27FC236}">
                <a16:creationId xmlns:a16="http://schemas.microsoft.com/office/drawing/2014/main" id="{A38DB73D-69A6-4F27-A207-23966B50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95825"/>
            <a:ext cx="331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redirected per year</a:t>
            </a:r>
          </a:p>
        </p:txBody>
      </p:sp>
      <p:sp>
        <p:nvSpPr>
          <p:cNvPr id="13" name="~6.2">
            <a:extLst xmlns:a="http://schemas.openxmlformats.org/drawingml/2006/main">
              <a:ext uri="{FF2B5EF4-FFF2-40B4-BE49-F238E27FC236}">
                <a16:creationId xmlns:a16="http://schemas.microsoft.com/office/drawing/2014/main" id="{38AAD724-1A6A-47DF-85AE-FAA05188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90825"/>
            <a:ext cx="3276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925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5925" b="0">
                <a:solidFill>
                  <a:srgbClr val="BF7947"/>
                </a:solidFill>
                <a:latin typeface="Georgia"/>
                <a:ea typeface="Georgia"/>
                <a:cs typeface="Georgia"/>
              </a:defRPr>
            </a:pPr>
            <a:r>
              <a:rPr sz="5925" b="0">
                <a:solidFill>
                  <a:srgbClr val="BF7947"/>
                </a:solidFill>
                <a:latin typeface="Georgia"/>
                <a:ea typeface="Georgia"/>
                <a:cs typeface="Georgia"/>
              </a:rPr>
              <a:t>~6.2</a:t>
            </a:r>
          </a:p>
        </p:txBody>
      </p:sp>
      <p:sp>
        <p:nvSpPr>
          <p:cNvPr id="14" name="tonnes of methane">
            <a:extLst xmlns:a="http://schemas.openxmlformats.org/drawingml/2006/main">
              <a:ext uri="{FF2B5EF4-FFF2-40B4-BE49-F238E27FC236}">
                <a16:creationId xmlns:a16="http://schemas.microsoft.com/office/drawing/2014/main" id="{7AAE1638-4512-4A6E-9D1E-30FC41AA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90975"/>
            <a:ext cx="331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tonnes of methane</a:t>
            </a:r>
          </a:p>
        </p:txBody>
      </p:sp>
      <p:sp>
        <p:nvSpPr>
          <p:cNvPr id="15" name="lifetime avoidance from&#10;that year’s grounds">
            <a:extLst xmlns:a="http://schemas.openxmlformats.org/drawingml/2006/main">
              <a:ext uri="{FF2B5EF4-FFF2-40B4-BE49-F238E27FC236}">
                <a16:creationId xmlns:a16="http://schemas.microsoft.com/office/drawing/2014/main" id="{57AE7744-1467-4B4E-836E-D6992EE8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95825"/>
            <a:ext cx="331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lifetime avoidance from</a:t>
            </a:r>
          </a:p>
          <a:p xmlns:a="http://schemas.openxmlformats.org/drawingml/2006/main">
            <a:pPr algn="l">
              <a:defRPr sz="172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that year’s grounds</a:t>
            </a:r>
          </a:p>
        </p:txBody>
      </p:sp>
      <p:sp>
        <p:nvSpPr>
          <p:cNvPr id="16" name="Assumptions: 20 kg grounds + 1 kg beans/cafe/week ">
            <a:extLst xmlns:a="http://schemas.openxmlformats.org/drawingml/2006/main">
              <a:ext uri="{FF2B5EF4-FFF2-40B4-BE49-F238E27FC236}">
                <a16:creationId xmlns:a16="http://schemas.microsoft.com/office/drawing/2014/main" id="{2598333C-2EB8-461D-8D86-57278BB5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Assumptions: 20 kg grounds + 1 kg beans/cafe/week • 52 weeks • 80% additional diversion • compost route • no landfill gas capture.</a:t>
            </a:r>
          </a:p>
        </p:txBody>
      </p:sp>
      <p:sp>
        <p:nvSpPr>
          <p:cNvPr id="17" name="Generic food-waste methane proxy; no bean methane ">
            <a:extLst xmlns:a="http://schemas.openxmlformats.org/drawingml/2006/main">
              <a:ext uri="{FF2B5EF4-FFF2-40B4-BE49-F238E27FC236}">
                <a16:creationId xmlns:a16="http://schemas.microsoft.com/office/drawing/2014/main" id="{2E4AFD02-8401-42D4-AF7E-301126E2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0820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Generic food-waste methane proxy; no bean methane credit. Source: DCCEEW, NGA Factors 2026, Tables 15, 44 and 38.</a:t>
            </a:r>
          </a:p>
        </p:txBody>
      </p:sp>
    </p:spTree>
    <p:extLst>
      <p:ext uri="{BB962C8B-B14F-4D97-AF65-F5344CB8AC3E}">
        <p14:creationId xmlns:p14="http://schemas.microsoft.com/office/powerpoint/2010/main" val="4127211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NILE  /  BUILD &amp; DEPLOYMENT">
            <a:extLst xmlns:a="http://schemas.openxmlformats.org/drawingml/2006/main">
              <a:ext uri="{FF2B5EF4-FFF2-40B4-BE49-F238E27FC236}">
                <a16:creationId xmlns:a16="http://schemas.microsoft.com/office/drawing/2014/main" id="{DA2F57C4-EC8A-4BA9-8A02-A56BBAA6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NILE  /  BUILD &amp; DEPLOYMENT</a:t>
            </a:r>
          </a:p>
        </p:txBody>
      </p:sp>
      <p:sp>
        <p:nvSpPr>
          <p:cNvPr id="2" name="Working locally. Cloud setup comes next.">
            <a:extLst xmlns:a="http://schemas.openxmlformats.org/drawingml/2006/main">
              <a:ext uri="{FF2B5EF4-FFF2-40B4-BE49-F238E27FC236}">
                <a16:creationId xmlns:a16="http://schemas.microsoft.com/office/drawing/2014/main" id="{D2E5BA2C-15BA-4731-A79D-ED719E2F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Working locally. Cloud setup comes next.</a:t>
            </a:r>
          </a:p>
        </p:txBody>
      </p:sp>
      <p:sp>
        <p:nvSpPr>
          <p:cNvPr id="3" name="GCP is not configured. Intended route: Next.js on ">
            <a:extLst xmlns:a="http://schemas.openxmlformats.org/drawingml/2006/main">
              <a:ext uri="{FF2B5EF4-FFF2-40B4-BE49-F238E27FC236}">
                <a16:creationId xmlns:a16="http://schemas.microsoft.com/office/drawing/2014/main" id="{12ACD1E2-8221-4811-8F93-054CE7E3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GCP is not configured. Intended route: Next.js on Vercel + Supabase; neither is deployed.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3253F-A8DA-412A-B277-EFD49215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C6"/>
          </a:solidFill>
          <a:ln xmlns:a="http://schemas.openxmlformats.org/drawingml/2006/main" w="0">
            <a:noFill/>
          </a:ln>
        </p:spPr>
      </p:sp>
      <p:sp>
        <p:nvSpPr>
          <p:cNvPr id="5" name="Nile • Climate Hack-tion • 4 October 2026">
            <a:extLst xmlns:a="http://schemas.openxmlformats.org/drawingml/2006/main">
              <a:ext uri="{FF2B5EF4-FFF2-40B4-BE49-F238E27FC236}">
                <a16:creationId xmlns:a16="http://schemas.microsoft.com/office/drawing/2014/main" id="{A4BC10B8-2C2F-4477-95F2-8F9FF849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Nile • Climate Hack-tion • 4 October 2026</a:t>
            </a:r>
          </a:p>
        </p:txBody>
      </p:sp>
      <p:sp>
        <p:nvSpPr>
          <p:cNvPr id="6" name="08">
            <a:extLst xmlns:a="http://schemas.openxmlformats.org/drawingml/2006/main">
              <a:ext uri="{FF2B5EF4-FFF2-40B4-BE49-F238E27FC236}">
                <a16:creationId xmlns:a16="http://schemas.microsoft.com/office/drawing/2014/main" id="{A5D8F255-4EB6-4A6D-817B-904DA16C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794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CAD95-E63C-4E2B-9FF7-D8B8DC93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3528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DD"/>
          </a:solidFill>
          <a:ln xmlns:a="http://schemas.openxmlformats.org/drawingml/2006/main" w="0">
            <a:noFill/>
          </a:ln>
        </p:spPr>
      </p:sp>
      <p:sp>
        <p:nvSpPr>
          <p:cNvPr id="8" name="Experience">
            <a:extLst xmlns:a="http://schemas.openxmlformats.org/drawingml/2006/main">
              <a:ext uri="{FF2B5EF4-FFF2-40B4-BE49-F238E27FC236}">
                <a16:creationId xmlns:a16="http://schemas.microsoft.com/office/drawing/2014/main" id="{42321B27-F3D3-4836-B087-B4EC2C91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9" name="Cafe workspace&#10;Recipient workspace&#10;Network view">
            <a:extLst xmlns:a="http://schemas.openxmlformats.org/drawingml/2006/main">
              <a:ext uri="{FF2B5EF4-FFF2-40B4-BE49-F238E27FC236}">
                <a16:creationId xmlns:a16="http://schemas.microsoft.com/office/drawing/2014/main" id="{2757005F-EBF1-4FD2-B03E-8A509D53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2933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Cafe workspace</a:t>
            </a:r>
          </a:p>
          <a:p xmlns:a="http://schemas.openxmlformats.org/drawingml/2006/main">
            <a: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Recipient workspace</a:t>
            </a:r>
          </a:p>
          <a:p xmlns:a="http://schemas.openxmlformats.org/drawingml/2006/main">
            <a: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Network view</a:t>
            </a:r>
          </a:p>
        </p:txBody>
      </p:sp>
      <p:sp>
        <p:nvSpPr>
          <p:cNvPr id="10" name="Next.js • React • TypeScript">
            <a:extLst xmlns:a="http://schemas.openxmlformats.org/drawingml/2006/main">
              <a:ext uri="{FF2B5EF4-FFF2-40B4-BE49-F238E27FC236}">
                <a16:creationId xmlns:a16="http://schemas.microsoft.com/office/drawing/2014/main" id="{8E22BAA9-B33A-4FA3-82B5-68CFDBC3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Next.js • React • TypeScript</a:t>
            </a:r>
          </a:p>
        </p:txBody>
      </p:sp>
      <p:sp>
        <p:nvSpPr>
          <p:cNvPr id="11" name="→">
            <a:extLst xmlns:a="http://schemas.openxmlformats.org/drawingml/2006/main">
              <a:ext uri="{FF2B5EF4-FFF2-40B4-BE49-F238E27FC236}">
                <a16:creationId xmlns:a16="http://schemas.microsoft.com/office/drawing/2014/main" id="{8C484B5D-620F-4437-8BED-06C05E4B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576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F794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51BB4-FD48-4D5A-A56A-08DCCC1E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33528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DD"/>
          </a:solidFill>
          <a:ln xmlns:a="http://schemas.openxmlformats.org/drawingml/2006/main" w="0">
            <a:noFill/>
          </a:ln>
        </p:spPr>
      </p:sp>
      <p:sp>
        <p:nvSpPr>
          <p:cNvPr id="13" name="API &amp; decisions">
            <a:extLst xmlns:a="http://schemas.openxmlformats.org/drawingml/2006/main">
              <a:ext uri="{FF2B5EF4-FFF2-40B4-BE49-F238E27FC236}">
                <a16:creationId xmlns:a16="http://schemas.microsoft.com/office/drawing/2014/main" id="{AECD6F2A-1A2C-4CDF-9394-581DBAA5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API &amp; decisions</a:t>
            </a:r>
          </a:p>
        </p:txBody>
      </p:sp>
      <p:sp>
        <p:nvSpPr>
          <p:cNvPr id="14" name="Zod validation&#10;Eligibility + ranking&#10;Collection + ">
            <a:extLst xmlns:a="http://schemas.openxmlformats.org/drawingml/2006/main">
              <a:ext uri="{FF2B5EF4-FFF2-40B4-BE49-F238E27FC236}">
                <a16:creationId xmlns:a16="http://schemas.microsoft.com/office/drawing/2014/main" id="{47F8D1CE-4AE4-4D90-A1EF-69BBD95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48050"/>
            <a:ext cx="2933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Zod validation</a:t>
            </a:r>
          </a:p>
          <a:p xmlns:a="http://schemas.openxmlformats.org/drawingml/2006/main">
            <a: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Eligibility + ranking</a:t>
            </a:r>
          </a:p>
          <a:p xmlns:a="http://schemas.openxmlformats.org/drawingml/2006/main">
            <a: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Collection + receipts</a:t>
            </a:r>
          </a:p>
        </p:txBody>
      </p:sp>
      <p:sp>
        <p:nvSpPr>
          <p:cNvPr id="15" name="Rules control bookings and maths">
            <a:extLst xmlns:a="http://schemas.openxmlformats.org/drawingml/2006/main">
              <a:ext uri="{FF2B5EF4-FFF2-40B4-BE49-F238E27FC236}">
                <a16:creationId xmlns:a16="http://schemas.microsoft.com/office/drawing/2014/main" id="{13CBD0D1-B214-4A51-A009-BEC1060C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24475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Rules control bookings and maths</a:t>
            </a:r>
          </a:p>
        </p:txBody>
      </p:sp>
      <p:sp>
        <p:nvSpPr>
          <p:cNvPr id="16" name="→">
            <a:extLst xmlns:a="http://schemas.openxmlformats.org/drawingml/2006/main">
              <a:ext uri="{FF2B5EF4-FFF2-40B4-BE49-F238E27FC236}">
                <a16:creationId xmlns:a16="http://schemas.microsoft.com/office/drawing/2014/main" id="{71013A67-E13B-4D0A-987F-1621DCF9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6576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F794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88C9C-2942-43DF-96E2-963DBF7D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3528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DD"/>
          </a:solidFill>
          <a:ln xmlns:a="http://schemas.openxmlformats.org/drawingml/2006/main" w="0">
            <a:noFill/>
          </a:ln>
        </p:spPr>
      </p:sp>
      <p:sp>
        <p:nvSpPr>
          <p:cNvPr id="18" name="Data &amp; explanations">
            <a:extLst xmlns:a="http://schemas.openxmlformats.org/drawingml/2006/main">
              <a:ext uri="{FF2B5EF4-FFF2-40B4-BE49-F238E27FC236}">
                <a16:creationId xmlns:a16="http://schemas.microsoft.com/office/drawing/2014/main" id="{0DC2D418-5632-4209-A208-9682925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Data &amp; explanations</a:t>
            </a:r>
          </a:p>
        </p:txBody>
      </p:sp>
      <p:sp>
        <p:nvSpPr>
          <p:cNvPr id="19" name="SQLite transactions&#10;Optional OpenAI adapter&#10;Supaba">
            <a:extLst xmlns:a="http://schemas.openxmlformats.org/drawingml/2006/main">
              <a:ext uri="{FF2B5EF4-FFF2-40B4-BE49-F238E27FC236}">
                <a16:creationId xmlns:a16="http://schemas.microsoft.com/office/drawing/2014/main" id="{800201CF-A835-4FAA-9A89-29C9BFD8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48050"/>
            <a:ext cx="2933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SQLite transactions</a:t>
            </a:r>
          </a:p>
          <a:p xmlns:a="http://schemas.openxmlformats.org/drawingml/2006/main">
            <a: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Optional OpenAI adapter</a:t>
            </a:r>
          </a:p>
          <a:p xmlns:a="http://schemas.openxmlformats.org/drawingml/2006/main">
            <a:pPr algn="l">
              <a:defRPr sz="18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Supabase SQL prepared</a:t>
            </a:r>
          </a:p>
        </p:txBody>
      </p:sp>
      <p:sp>
        <p:nvSpPr>
          <p:cNvPr id="20" name="Live OpenAI access unverified">
            <a:extLst xmlns:a="http://schemas.openxmlformats.org/drawingml/2006/main">
              <a:ext uri="{FF2B5EF4-FFF2-40B4-BE49-F238E27FC236}">
                <a16:creationId xmlns:a16="http://schemas.microsoft.com/office/drawing/2014/main" id="{C3FA30C2-6464-4A7C-879F-B546872C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24475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Live OpenAI access unverified</a:t>
            </a:r>
          </a:p>
        </p:txBody>
      </p:sp>
      <p:sp>
        <p:nvSpPr>
          <p:cNvPr id="21" name="Documented local validation: 48 unit/database + 13">
            <a:extLst xmlns:a="http://schemas.openxmlformats.org/drawingml/2006/main">
              <a:ext uri="{FF2B5EF4-FFF2-40B4-BE49-F238E27FC236}">
                <a16:creationId xmlns:a16="http://schemas.microsoft.com/office/drawing/2014/main" id="{7E4994B5-27D7-4320-B78F-99FF7F17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Documented local validation: 48 unit/database + 13 browser/API checks. Live AI, cloud Auth and real recipients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20845757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NILE  /  PROTOTYPE → REAL-WORLD USE">
            <a:extLst xmlns:a="http://schemas.openxmlformats.org/drawingml/2006/main">
              <a:ext uri="{FF2B5EF4-FFF2-40B4-BE49-F238E27FC236}">
                <a16:creationId xmlns:a16="http://schemas.microsoft.com/office/drawing/2014/main" id="{18121399-71B7-420B-85EE-2B864AFE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NILE  /  PROTOTYPE → REAL-WORLD USE</a:t>
            </a:r>
          </a:p>
        </p:txBody>
      </p:sp>
      <p:sp>
        <p:nvSpPr>
          <p:cNvPr id="2" name="A small pilot can test the whole promise.">
            <a:extLst xmlns:a="http://schemas.openxmlformats.org/drawingml/2006/main">
              <a:ext uri="{FF2B5EF4-FFF2-40B4-BE49-F238E27FC236}">
                <a16:creationId xmlns:a16="http://schemas.microsoft.com/office/drawing/2014/main" id="{CDE1F068-3F62-49AD-8948-7825601D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A small pilot can test the whole promise.</a:t>
            </a:r>
          </a:p>
        </p:txBody>
      </p:sp>
      <p:sp>
        <p:nvSpPr>
          <p:cNvPr id="3" name="Proposed: 3–5 nearby cafes • 1–2 accepting recipie">
            <a:extLst xmlns:a="http://schemas.openxmlformats.org/drawingml/2006/main">
              <a:ext uri="{FF2B5EF4-FFF2-40B4-BE49-F238E27FC236}">
                <a16:creationId xmlns:a16="http://schemas.microsoft.com/office/drawing/2014/main" id="{E6B6AB17-2851-42D3-AE04-24CBB4E3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Proposed: 3–5 nearby cafes • 1–2 accepting recipients • 4 weeks. No participants are confirmed.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7FF9B-9DBA-4B8B-B02C-A889FEBA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C6"/>
          </a:solidFill>
          <a:ln xmlns:a="http://schemas.openxmlformats.org/drawingml/2006/main" w="0">
            <a:noFill/>
          </a:ln>
        </p:spPr>
      </p:sp>
      <p:sp>
        <p:nvSpPr>
          <p:cNvPr id="5" name="Nile • Climate Hack-tion • 4 October 2026">
            <a:extLst xmlns:a="http://schemas.openxmlformats.org/drawingml/2006/main">
              <a:ext uri="{FF2B5EF4-FFF2-40B4-BE49-F238E27FC236}">
                <a16:creationId xmlns:a16="http://schemas.microsoft.com/office/drawing/2014/main" id="{8317ACE1-1E75-44A1-BDCB-E12D1691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Nile • Climate Hack-tion • 4 October 2026</a:t>
            </a:r>
          </a:p>
        </p:txBody>
      </p:sp>
      <p:sp>
        <p:nvSpPr>
          <p:cNvPr id="6" name="09">
            <a:extLst xmlns:a="http://schemas.openxmlformats.org/drawingml/2006/main">
              <a:ext uri="{FF2B5EF4-FFF2-40B4-BE49-F238E27FC236}">
                <a16:creationId xmlns:a16="http://schemas.microsoft.com/office/drawing/2014/main" id="{1E57AF31-58A9-426E-992F-5BC3B260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794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1  Establish the baseline">
            <a:extLst xmlns:a="http://schemas.openxmlformats.org/drawingml/2006/main">
              <a:ext uri="{FF2B5EF4-FFF2-40B4-BE49-F238E27FC236}">
                <a16:creationId xmlns:a16="http://schemas.microsoft.com/office/drawing/2014/main" id="{337C6C40-3D03-41A0-9692-3ED74B42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31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1  Establish the baseline</a:t>
            </a:r>
          </a:p>
        </p:txBody>
      </p:sp>
      <p:sp>
        <p:nvSpPr>
          <p:cNvPr id="8" name="Check bin destinations, existing collectors, weekl">
            <a:extLst xmlns:a="http://schemas.openxmlformats.org/drawingml/2006/main">
              <a:ext uri="{FF2B5EF4-FFF2-40B4-BE49-F238E27FC236}">
                <a16:creationId xmlns:a16="http://schemas.microsoft.com/office/drawing/2014/main" id="{22EC3157-9932-4DA8-9A64-E669583A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331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Check bin destinations, existing collectors, weekly weights and current costs.</a:t>
            </a:r>
          </a:p>
        </p:txBody>
      </p:sp>
      <p:sp>
        <p:nvSpPr>
          <p:cNvPr id="9" name="2  Agree a practical route">
            <a:extLst xmlns:a="http://schemas.openxmlformats.org/drawingml/2006/main">
              <a:ext uri="{FF2B5EF4-FFF2-40B4-BE49-F238E27FC236}">
                <a16:creationId xmlns:a16="http://schemas.microsoft.com/office/drawing/2014/main" id="{CE45DC60-D71A-4D27-BED3-CB072EBA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14625"/>
            <a:ext cx="331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2  Agree a practical route</a:t>
            </a:r>
          </a:p>
        </p:txBody>
      </p:sp>
      <p:sp>
        <p:nvSpPr>
          <p:cNvPr id="10" name="Confirm recipient rules, storage, pickup windows, ">
            <a:extLst xmlns:a="http://schemas.openxmlformats.org/drawingml/2006/main">
              <a:ext uri="{FF2B5EF4-FFF2-40B4-BE49-F238E27FC236}">
                <a16:creationId xmlns:a16="http://schemas.microsoft.com/office/drawing/2014/main" id="{AEB384A9-099D-4F13-AFDD-D298B89C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86175"/>
            <a:ext cx="331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Confirm recipient rules, storage, pickup windows, access and charges.</a:t>
            </a:r>
          </a:p>
        </p:txBody>
      </p:sp>
      <p:sp>
        <p:nvSpPr>
          <p:cNvPr id="11" name="3  Run and record">
            <a:extLst xmlns:a="http://schemas.openxmlformats.org/drawingml/2006/main">
              <a:ext uri="{FF2B5EF4-FFF2-40B4-BE49-F238E27FC236}">
                <a16:creationId xmlns:a16="http://schemas.microsoft.com/office/drawing/2014/main" id="{65DA4AA6-8093-4541-B9FB-E02D742E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14625"/>
            <a:ext cx="331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3  Run and record</a:t>
            </a:r>
          </a:p>
        </p:txBody>
      </p:sp>
      <p:sp>
        <p:nvSpPr>
          <p:cNvPr id="12" name="Track accepted kg, reported use, failures, staff t">
            <a:extLst xmlns:a="http://schemas.openxmlformats.org/drawingml/2006/main">
              <a:ext uri="{FF2B5EF4-FFF2-40B4-BE49-F238E27FC236}">
                <a16:creationId xmlns:a16="http://schemas.microsoft.com/office/drawing/2014/main" id="{6DFF25DC-7C28-445B-BFD8-2BC6DCEB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86175"/>
            <a:ext cx="331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Track accepted kg, reported use, failures, staff time, costs and understanding.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F5E21-EE12-4AEA-8679-D5918E98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C6"/>
          </a:solidFill>
          <a:ln xmlns:a="http://schemas.openxmlformats.org/drawingml/2006/main" w="0">
            <a:noFill/>
          </a:ln>
        </p:spPr>
      </p:sp>
      <p:sp>
        <p:nvSpPr>
          <p:cNvPr id="14" name="Suggested pass gates">
            <a:extLst xmlns:a="http://schemas.openxmlformats.org/drawingml/2006/main">
              <a:ext uri="{FF2B5EF4-FFF2-40B4-BE49-F238E27FC236}">
                <a16:creationId xmlns:a16="http://schemas.microsoft.com/office/drawing/2014/main" id="{0E60EE3E-4461-481F-BDB0-64C583C0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Suggested pass gates</a:t>
            </a:r>
          </a:p>
        </p:txBody>
      </p:sp>
      <p:sp>
        <p:nvSpPr>
          <p:cNvPr id="15" name="≥80% pickups completed  •  ≤2 min median repeat li">
            <a:extLst xmlns:a="http://schemas.openxmlformats.org/drawingml/2006/main">
              <a:ext uri="{FF2B5EF4-FFF2-40B4-BE49-F238E27FC236}">
                <a16:creationId xmlns:a16="http://schemas.microsoft.com/office/drawing/2014/main" id="{324F35D0-3DC2-44FE-A401-DF049BC4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≥80% pickups completed  •  ≤2 min median repeat listing  •  ≥60% repeat participation</a:t>
            </a:r>
          </a:p>
          <a:p xmlns:a="http://schemas.openxmlformats.org/drawingml/2006/main">
            <a:pPr algn="l">
              <a:defRPr sz="1575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Median net benefit ≥$0 after actual costs; additional diversion checked against baseline.</a:t>
            </a:r>
          </a:p>
        </p:txBody>
      </p:sp>
    </p:spTree>
    <p:extLst>
      <p:ext uri="{BB962C8B-B14F-4D97-AF65-F5344CB8AC3E}">
        <p14:creationId xmlns:p14="http://schemas.microsoft.com/office/powerpoint/2010/main" val="7683646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NILE  /  APPENDIX / SCENARIO METHOD">
            <a:extLst xmlns:a="http://schemas.openxmlformats.org/drawingml/2006/main">
              <a:ext uri="{FF2B5EF4-FFF2-40B4-BE49-F238E27FC236}">
                <a16:creationId xmlns:a16="http://schemas.microsoft.com/office/drawing/2014/main" id="{41412F35-1AB6-4913-9631-6FC370BF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NILE  /  APPENDIX / SCENARIO METHOD</a:t>
            </a:r>
          </a:p>
        </p:txBody>
      </p:sp>
      <p:sp>
        <p:nvSpPr>
          <p:cNvPr id="2" name="Assumptions stay visible and adjustable.">
            <a:extLst xmlns:a="http://schemas.openxmlformats.org/drawingml/2006/main">
              <a:ext uri="{FF2B5EF4-FFF2-40B4-BE49-F238E27FC236}">
                <a16:creationId xmlns:a16="http://schemas.microsoft.com/office/drawing/2014/main" id="{FD003440-15EA-43CA-AE88-D8F79882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Assumptions stay visible and adjustable.</a:t>
            </a:r>
          </a:p>
        </p:txBody>
      </p:sp>
      <p:sp>
        <p:nvSpPr>
          <p:cNvPr id="3" name="The four interviews did not measure these quantiti">
            <a:extLst xmlns:a="http://schemas.openxmlformats.org/drawingml/2006/main">
              <a:ext uri="{FF2B5EF4-FFF2-40B4-BE49-F238E27FC236}">
                <a16:creationId xmlns:a16="http://schemas.microsoft.com/office/drawing/2014/main" id="{8277B8FC-87DC-4527-8662-AF0833DB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The four interviews did not measure these quantities. The 100-cafe case is a planning illustration.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74720-1186-4460-8C01-74955566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C6"/>
          </a:solidFill>
          <a:ln xmlns:a="http://schemas.openxmlformats.org/drawingml/2006/main" w="0">
            <a:noFill/>
          </a:ln>
        </p:spPr>
      </p:sp>
      <p:sp>
        <p:nvSpPr>
          <p:cNvPr id="5" name="Nile • Climate Hack-tion • 4 October 2026">
            <a:extLst xmlns:a="http://schemas.openxmlformats.org/drawingml/2006/main">
              <a:ext uri="{FF2B5EF4-FFF2-40B4-BE49-F238E27FC236}">
                <a16:creationId xmlns:a16="http://schemas.microsoft.com/office/drawing/2014/main" id="{7E14BAE1-B45E-4A82-A588-35B36ACB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Nile • Climate Hack-tion • 4 October 2026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961847A8-F46E-4230-B5B7-08E753F3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794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C80D0-DF47-44E3-A348-F3C75EB81CFF}"/>
              </a:ext>
            </a:extLst>
          </p:cNvPr>
          <p:cNvGraphicFramePr/>
          <p:nvPr/>
        </p:nvGraphicFramePr>
        <p:xfrm>
          <a:off xmlns:a="http://schemas.openxmlformats.org/drawingml/2006/main" x="685800" y="2524125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67150"/>
                <a:gridCol w="6953250"/>
              </a:tblGrid>
              <a:tr h="4826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/ calculation</a:t>
                      </a:r>
                    </a:p>
                  </a:txBody>
                  <a:tcPr marL="133350" marR="133350" marT="76200" marB="76200" anchor="ctr">
                    <a:solidFill>
                      <a:srgbClr val="214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value / result</a:t>
                      </a:r>
                    </a:p>
                  </a:txBody>
                  <a:tcPr marL="133350" marR="133350" marT="76200" marB="76200" anchor="ctr">
                    <a:solidFill>
                      <a:srgbClr val="214535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Cohort and period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100 cafes × 52 weeks × 80% additional successful diversion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Eligible grounds and usable beans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20 kg grounds + 1 kg beans per cafe per week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Annual material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83.2 t grounds + 4.16 t beans = 87.36 t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Grounds-only methane formula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83.2 × (2.1 × (1 − capture) − 0.021) ÷ 28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Assumed landfill methane capture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53D30"/>
                          </a:solidFill>
                          <a:latin typeface="Arial"/>
                          <a:ea typeface="Arial"/>
                          <a:cs typeface="Arial"/>
                        </a:rPr>
                        <a:t>0%: 6.2 t CH₄  |  50%: 3.1 t  |  70%: 1.8 t</a:t>
                      </a:r>
                    </a:p>
                  </a:txBody>
                  <a:tcPr marL="133350" marR="133350" marT="76200" marB="76200" anchor="ctr">
                    <a:solidFill>
                      <a:srgbClr val="F4EFE5"/>
                    </a:solidFill>
                  </a:tcPr>
                </a:tc>
              </a:tr>
            </a:tbl>
          </a:graphicData>
        </a:graphic>
      </p:graphicFrame>
      <p:sp>
        <p:nvSpPr>
          <p:cNvPr id="8" name="Methane is a lifetime comparison, not a measured a">
            <a:extLst xmlns:a="http://schemas.openxmlformats.org/drawingml/2006/main">
              <a:ext uri="{FF2B5EF4-FFF2-40B4-BE49-F238E27FC236}">
                <a16:creationId xmlns:a16="http://schemas.microsoft.com/office/drawing/2014/main" id="{D566FD46-71CB-466F-B1D8-189D63F2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Methane is a lifetime comparison, not a measured annual saving. Generic food-waste proxy; beans receive no methane credit. Transport and processing energy are excluded.</a:t>
            </a:r>
          </a:p>
        </p:txBody>
      </p:sp>
      <p:sp>
        <p:nvSpPr>
          <p:cNvPr id="9" name="Source: DCCEEW 2026, Australian National Greenhous">
            <a:extLst xmlns:a="http://schemas.openxmlformats.org/drawingml/2006/main">
              <a:ext uri="{FF2B5EF4-FFF2-40B4-BE49-F238E27FC236}">
                <a16:creationId xmlns:a16="http://schemas.microsoft.com/office/drawing/2014/main" id="{ABA8278D-1508-40B2-A795-2C36948F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Source: DCCEEW 2026, Australian National Greenhouse Accounts Factors, Tables 15, 44 and 38 (CC BY 4.0).</a:t>
            </a:r>
          </a:p>
        </p:txBody>
      </p:sp>
    </p:spTree>
    <p:extLst>
      <p:ext uri="{BB962C8B-B14F-4D97-AF65-F5344CB8AC3E}">
        <p14:creationId xmlns:p14="http://schemas.microsoft.com/office/powerpoint/2010/main" val="1567935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NILE  /  APPENDIX / TOOLS DISCLOSURE">
            <a:extLst xmlns:a="http://schemas.openxmlformats.org/drawingml/2006/main">
              <a:ext uri="{FF2B5EF4-FFF2-40B4-BE49-F238E27FC236}">
                <a16:creationId xmlns:a16="http://schemas.microsoft.com/office/drawing/2014/main" id="{88539334-FFB0-44C0-960E-6B03DA9C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7947"/>
                </a:solidFill>
                <a:latin typeface="Arial"/>
                <a:ea typeface="Arial"/>
                <a:cs typeface="Arial"/>
              </a:rPr>
              <a:t>NILE  /  APPENDIX / TOOLS DISCLOSURE</a:t>
            </a:r>
          </a:p>
        </p:txBody>
      </p:sp>
      <p:sp>
        <p:nvSpPr>
          <p:cNvPr id="2" name="What we used, and what is still planned.">
            <a:extLst xmlns:a="http://schemas.openxmlformats.org/drawingml/2006/main">
              <a:ext uri="{FF2B5EF4-FFF2-40B4-BE49-F238E27FC236}">
                <a16:creationId xmlns:a16="http://schemas.microsoft.com/office/drawing/2014/main" id="{03921510-EBED-4BD6-ABB5-718E3C9A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253D30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53D30"/>
                </a:solidFill>
                <a:latin typeface="Georgia"/>
                <a:ea typeface="Georgia"/>
                <a:cs typeface="Georgia"/>
              </a:rPr>
              <a:t>What we used, and what is still planned.</a:t>
            </a:r>
          </a:p>
        </p:txBody>
      </p:sp>
      <p:sp>
        <p:nvSpPr>
          <p:cNvPr id="3" name="Full disclosure, setup instructions and source lin">
            <a:extLst xmlns:a="http://schemas.openxmlformats.org/drawingml/2006/main">
              <a:ext uri="{FF2B5EF4-FFF2-40B4-BE49-F238E27FC236}">
                <a16:creationId xmlns:a16="http://schemas.microsoft.com/office/drawing/2014/main" id="{B15F28B5-412C-4DA3-A570-6E27AA4D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Full disclosure, setup instructions and source links are included in the repository.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A607D-1248-484E-A0C7-9AAC0977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4C6"/>
          </a:solidFill>
          <a:ln xmlns:a="http://schemas.openxmlformats.org/drawingml/2006/main" w="0">
            <a:noFill/>
          </a:ln>
        </p:spPr>
      </p:sp>
      <p:sp>
        <p:nvSpPr>
          <p:cNvPr id="5" name="Nile • Climate Hack-tion • 4 October 2026">
            <a:extLst xmlns:a="http://schemas.openxmlformats.org/drawingml/2006/main">
              <a:ext uri="{FF2B5EF4-FFF2-40B4-BE49-F238E27FC236}">
                <a16:creationId xmlns:a16="http://schemas.microsoft.com/office/drawing/2014/main" id="{9133F6F0-F6E9-4042-9FCC-7729F053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0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066"/>
                </a:solidFill>
                <a:latin typeface="Arial"/>
                <a:ea typeface="Arial"/>
                <a:cs typeface="Arial"/>
              </a:rPr>
              <a:t>Nile • Climate Hack-tion • 4 October 2026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089CC609-D154-4056-9D34-EA2A7728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794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794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AI assistance">
            <a:extLst xmlns:a="http://schemas.openxmlformats.org/drawingml/2006/main">
              <a:ext uri="{FF2B5EF4-FFF2-40B4-BE49-F238E27FC236}">
                <a16:creationId xmlns:a16="http://schemas.microsoft.com/office/drawing/2014/main" id="{7326727F-AA7F-4B71-BF86-A4C58FAA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AI assistance</a:t>
            </a:r>
          </a:p>
        </p:txBody>
      </p:sp>
      <p:sp>
        <p:nvSpPr>
          <p:cNvPr id="8" name="OpenAI Codex: planning, research, writing, coding,">
            <a:extLst xmlns:a="http://schemas.openxmlformats.org/drawingml/2006/main">
              <a:ext uri="{FF2B5EF4-FFF2-40B4-BE49-F238E27FC236}">
                <a16:creationId xmlns:a16="http://schemas.microsoft.com/office/drawing/2014/main" id="{4DFBD78A-2F32-4A55-A094-CDB0526E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19375"/>
            <a:ext cx="7486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OpenAI Codex: planning, research, writing, coding, review and documentation.</a:t>
            </a:r>
          </a:p>
        </p:txBody>
      </p:sp>
      <p:sp>
        <p:nvSpPr>
          <p:cNvPr id="9" name="Application">
            <a:extLst xmlns:a="http://schemas.openxmlformats.org/drawingml/2006/main">
              <a:ext uri="{FF2B5EF4-FFF2-40B4-BE49-F238E27FC236}">
                <a16:creationId xmlns:a16="http://schemas.microsoft.com/office/drawing/2014/main" id="{491C2ABC-7BE4-43C4-9CDB-D4B4BFED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0" name="Next.js, React, TypeScript, Tailwind, Zod, Radix/C">
            <a:extLst xmlns:a="http://schemas.openxmlformats.org/drawingml/2006/main">
              <a:ext uri="{FF2B5EF4-FFF2-40B4-BE49-F238E27FC236}">
                <a16:creationId xmlns:a16="http://schemas.microsoft.com/office/drawing/2014/main" id="{5BAEC38A-74D2-40B8-924F-7DC606CF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95650"/>
            <a:ext cx="7486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Next.js, React, TypeScript, Tailwind, Zod, Radix/CVA, Recharts, Lucide and SQLite.</a:t>
            </a:r>
          </a:p>
        </p:txBody>
      </p:sp>
      <p:sp>
        <p:nvSpPr>
          <p:cNvPr id="11" name="Validation &amp; coordination">
            <a:extLst xmlns:a="http://schemas.openxmlformats.org/drawingml/2006/main">
              <a:ext uri="{FF2B5EF4-FFF2-40B4-BE49-F238E27FC236}">
                <a16:creationId xmlns:a16="http://schemas.microsoft.com/office/drawing/2014/main" id="{B597F297-3B95-4716-BEAB-7BC6A84C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Validation &amp; coordination</a:t>
            </a:r>
          </a:p>
        </p:txBody>
      </p:sp>
      <p:sp>
        <p:nvSpPr>
          <p:cNvPr id="12" name="Vitest, Playwright, PGlite, ESLint, Prettier, agen">
            <a:extLst xmlns:a="http://schemas.openxmlformats.org/drawingml/2006/main">
              <a:ext uri="{FF2B5EF4-FFF2-40B4-BE49-F238E27FC236}">
                <a16:creationId xmlns:a16="http://schemas.microsoft.com/office/drawing/2014/main" id="{9CA2D6EB-B89D-40CF-B53B-8F06ACD4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71925"/>
            <a:ext cx="7486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Vitest, Playwright, PGlite, ESLint, Prettier, agent-browser, GitHub and Notion.</a:t>
            </a:r>
          </a:p>
        </p:txBody>
      </p:sp>
      <p:sp>
        <p:nvSpPr>
          <p:cNvPr id="13" name="Submission materials">
            <a:extLst xmlns:a="http://schemas.openxmlformats.org/drawingml/2006/main">
              <a:ext uri="{FF2B5EF4-FFF2-40B4-BE49-F238E27FC236}">
                <a16:creationId xmlns:a16="http://schemas.microsoft.com/office/drawing/2014/main" id="{ED6A15BC-B010-49AC-88EE-ABBE4BE2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Submission materials</a:t>
            </a:r>
          </a:p>
        </p:txBody>
      </p:sp>
      <p:sp>
        <p:nvSpPr>
          <p:cNvPr id="14" name="Artifact Tool, LibreOffice, pypdf and pypdfium2; e">
            <a:extLst xmlns:a="http://schemas.openxmlformats.org/drawingml/2006/main">
              <a:ext uri="{FF2B5EF4-FFF2-40B4-BE49-F238E27FC236}">
                <a16:creationId xmlns:a16="http://schemas.microsoft.com/office/drawing/2014/main" id="{4B914433-9059-43EC-8EA8-EB034C04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48200"/>
            <a:ext cx="7486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Artifact Tool, LibreOffice, pypdf and pypdfium2; earlier PDF used ReportLab.</a:t>
            </a:r>
          </a:p>
        </p:txBody>
      </p:sp>
      <p:sp>
        <p:nvSpPr>
          <p:cNvPr id="15" name="Prepared, not live">
            <a:extLst xmlns:a="http://schemas.openxmlformats.org/drawingml/2006/main">
              <a:ext uri="{FF2B5EF4-FFF2-40B4-BE49-F238E27FC236}">
                <a16:creationId xmlns:a16="http://schemas.microsoft.com/office/drawing/2014/main" id="{4FEAE217-0B3B-45A6-96B2-DA216F57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D30"/>
                </a:solidFill>
                <a:latin typeface="Arial"/>
                <a:ea typeface="Arial"/>
                <a:cs typeface="Arial"/>
              </a:rPr>
              <a:t>Prepared, not live</a:t>
            </a:r>
          </a:p>
        </p:txBody>
      </p:sp>
      <p:sp>
        <p:nvSpPr>
          <p:cNvPr id="16" name="OpenAI adapter/key locally configured; live access">
            <a:extLst xmlns:a="http://schemas.openxmlformats.org/drawingml/2006/main">
              <a:ext uri="{FF2B5EF4-FFF2-40B4-BE49-F238E27FC236}">
                <a16:creationId xmlns:a16="http://schemas.microsoft.com/office/drawing/2014/main" id="{EEA6F367-7144-4A5A-AB15-292BE311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324475"/>
            <a:ext cx="7486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53D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D30"/>
                </a:solidFill>
                <a:latin typeface="Arial"/>
                <a:ea typeface="Arial"/>
                <a:cs typeface="Arial"/>
              </a:rPr>
              <a:t>OpenAI adapter/key locally configured; live access unverified. Supabase SQL only; no cloud deployment.</a:t>
            </a:r>
          </a:p>
        </p:txBody>
      </p:sp>
    </p:spTree>
    <p:extLst>
      <p:ext uri="{BB962C8B-B14F-4D97-AF65-F5344CB8AC3E}">
        <p14:creationId xmlns:p14="http://schemas.microsoft.com/office/powerpoint/2010/main" val="1131072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2026-10-04T06:23:06.7280000Z</dcterms:created>
  <dcterms:modified xsi:type="dcterms:W3CDTF">2026-10-04T06:23:06.7280000Z</dcterms:modified>
</coreProperties>
</file>