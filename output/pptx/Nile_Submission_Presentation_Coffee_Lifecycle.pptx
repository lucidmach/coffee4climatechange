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9e24bfb47c497c" /><Relationship Type="http://schemas.openxmlformats.org/officeDocument/2006/relationships/extended-properties" Target="/docProps/app.xml" Id="Ra881b88ac4a74dca" /><Relationship Type="http://schemas.openxmlformats.org/officeDocument/2006/relationships/officeDocument" Target="/ppt/presentation.xml" Id="R1b84d201ccf84581" /></Relationships>
</file>

<file path=ppt/presentation.xml><?xml version="1.0" encoding="utf-8"?>
<p:presentation xmlns:p="http://schemas.openxmlformats.org/presentationml/2006/main">
  <p:sldMasterIdLst>
    <p:sldMasterId xmlns:r="http://schemas.openxmlformats.org/officeDocument/2006/relationships" id="2147483648" r:id="Rb8dfe48378f247ea"/>
  </p:sldMasterIdLst>
  <p:notesMasterIdLst>
    <p:notesMasterId xmlns:r="http://schemas.openxmlformats.org/officeDocument/2006/relationships" r:id="Rd40bbab368224e91"/>
  </p:notesMasterIdLst>
  <p:sldIdLst>
    <p:sldId xmlns:r="http://schemas.openxmlformats.org/officeDocument/2006/relationships" id="256" r:id="R230420e2078d4d41"/>
    <p:sldId xmlns:r="http://schemas.openxmlformats.org/officeDocument/2006/relationships" id="257" r:id="R75833076a4664f20"/>
    <p:sldId xmlns:r="http://schemas.openxmlformats.org/officeDocument/2006/relationships" id="258" r:id="R4949f78bd8c84926"/>
    <p:sldId xmlns:r="http://schemas.openxmlformats.org/officeDocument/2006/relationships" id="259" r:id="R815d32740a71452c"/>
    <p:sldId xmlns:r="http://schemas.openxmlformats.org/officeDocument/2006/relationships" id="260" r:id="Rdb12f62382664fef"/>
    <p:sldId xmlns:r="http://schemas.openxmlformats.org/officeDocument/2006/relationships" id="261" r:id="Rb28e36ad83c34b4e"/>
    <p:sldId xmlns:r="http://schemas.openxmlformats.org/officeDocument/2006/relationships" id="262" r:id="Rf94acd51e5d74628"/>
    <p:sldId xmlns:r="http://schemas.openxmlformats.org/officeDocument/2006/relationships" id="263" r:id="Rb6525ba7b391487f"/>
    <p:sldId xmlns:r="http://schemas.openxmlformats.org/officeDocument/2006/relationships" id="264" r:id="R3a1d85524f6646d0"/>
    <p:sldId xmlns:r="http://schemas.openxmlformats.org/officeDocument/2006/relationships" id="265" r:id="R727f03dc51fb4848"/>
    <p:sldId xmlns:r="http://schemas.openxmlformats.org/officeDocument/2006/relationships" id="266" r:id="R3e77379804754e8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34f7e0b3e84d9d" /><Relationship Type="http://schemas.openxmlformats.org/officeDocument/2006/relationships/slideMaster" Target="/ppt/slideMasters/slideMaster1.xml" Id="Rb8dfe48378f247ea" /><Relationship Type="http://schemas.openxmlformats.org/officeDocument/2006/relationships/notesMaster" Target="/ppt/notesMasters/notesMaster1.xml" Id="Rd40bbab368224e91" /><Relationship Type="http://schemas.openxmlformats.org/officeDocument/2006/relationships/presProps" Target="/ppt/presProps.xml" Id="Ra028aeaa697f4cb0" /><Relationship Type="http://schemas.openxmlformats.org/officeDocument/2006/relationships/tableStyles" Target="/ppt/tableStyles.xml" Id="R5d97bbc599d24650" /><Relationship Type="http://schemas.openxmlformats.org/officeDocument/2006/relationships/slide" Target="/ppt/slides/slide1.xml" Id="R230420e2078d4d41" /><Relationship Type="http://schemas.openxmlformats.org/officeDocument/2006/relationships/slide" Target="/ppt/slides/slide2.xml" Id="R75833076a4664f20" /><Relationship Type="http://schemas.openxmlformats.org/officeDocument/2006/relationships/slide" Target="/ppt/slides/slide3.xml" Id="R4949f78bd8c84926" /><Relationship Type="http://schemas.openxmlformats.org/officeDocument/2006/relationships/slide" Target="/ppt/slides/slide4.xml" Id="R815d32740a71452c" /><Relationship Type="http://schemas.openxmlformats.org/officeDocument/2006/relationships/slide" Target="/ppt/slides/slide5.xml" Id="Rdb12f62382664fef" /><Relationship Type="http://schemas.openxmlformats.org/officeDocument/2006/relationships/slide" Target="/ppt/slides/slide6.xml" Id="Rb28e36ad83c34b4e" /><Relationship Type="http://schemas.openxmlformats.org/officeDocument/2006/relationships/slide" Target="/ppt/slides/slide7.xml" Id="Rf94acd51e5d74628" /><Relationship Type="http://schemas.openxmlformats.org/officeDocument/2006/relationships/slide" Target="/ppt/slides/slide8.xml" Id="Rb6525ba7b391487f" /><Relationship Type="http://schemas.openxmlformats.org/officeDocument/2006/relationships/slide" Target="/ppt/slides/slide9.xml" Id="R3a1d85524f6646d0" /><Relationship Type="http://schemas.openxmlformats.org/officeDocument/2006/relationships/slide" Target="/ppt/slides/slide10.xml" Id="R727f03dc51fb4848" /><Relationship Type="http://schemas.openxmlformats.org/officeDocument/2006/relationships/slide" Target="/ppt/slides/slide11.xml" Id="R3e77379804754e8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c4c0f4253649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c2ceb7bebe4e2c" /><Relationship Type="http://schemas.openxmlformats.org/officeDocument/2006/relationships/notesMaster" Target="/ppt/notesMasters/notesMaster1.xml" Id="R9d265948263a43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bb2d01717f4228" /><Relationship Type="http://schemas.openxmlformats.org/officeDocument/2006/relationships/notesMaster" Target="/ppt/notesMasters/notesMaster1.xml" Id="Rf522ed6113aa4a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19c759d2994d40" /><Relationship Type="http://schemas.openxmlformats.org/officeDocument/2006/relationships/notesMaster" Target="/ppt/notesMasters/notesMaster1.xml" Id="R70b471ab544841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1e2adffab684f97" /><Relationship Type="http://schemas.openxmlformats.org/officeDocument/2006/relationships/notesMaster" Target="/ppt/notesMasters/notesMaster1.xml" Id="R90508f9adf7f4e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82128ba2554d20" /><Relationship Type="http://schemas.openxmlformats.org/officeDocument/2006/relationships/notesMaster" Target="/ppt/notesMasters/notesMaster1.xml" Id="R3d33f07fb5cf4b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83706eee064155" /><Relationship Type="http://schemas.openxmlformats.org/officeDocument/2006/relationships/notesMaster" Target="/ppt/notesMasters/notesMaster1.xml" Id="R8e77cb23c63043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afd3c3b04c464c" /><Relationship Type="http://schemas.openxmlformats.org/officeDocument/2006/relationships/notesMaster" Target="/ppt/notesMasters/notesMaster1.xml" Id="R911eece0a46045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0bdbbf7bf0444e3" /><Relationship Type="http://schemas.openxmlformats.org/officeDocument/2006/relationships/notesMaster" Target="/ppt/notesMasters/notesMaster1.xml" Id="R5259655eb2ef464a" /></Relationships>
</file>

<file path=ppt/notesSlides/_rels/notesSlide9.xml.rels>&#65279;<?xml version="1.0" encoding="utf-8"?><Relationships xmlns="http://schemas.openxmlformats.org/package/2006/relationships"><Relationship Type="http://schemas.openxmlformats.org/officeDocument/2006/relationships/slide" Target="/ppt/slides/slide9.xml" Id="R9cf38bb468104ae9" /><Relationship Type="http://schemas.openxmlformats.org/officeDocument/2006/relationships/notesMaster" Target="/ppt/notesMasters/notesMaster1.xml" Id="R1c3c5cf1162e4ab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4638d0ecdf4e1e" /><Relationship Type="http://schemas.openxmlformats.org/officeDocument/2006/relationships/notesMaster" Target="/ppt/notesMasters/notesMaster1.xml" Id="Rffc1a33c87384a0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5006306b3994ea9" /><Relationship Type="http://schemas.openxmlformats.org/officeDocument/2006/relationships/notesMaster" Target="/ppt/notesMasters/notesMaster1.xml" Id="R808f3b8004224c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composition and bean/latte/grounds illustration restored from the original Nile_Submission_Presentation.pdf. The cropped original illustration is an image; other cover text and the context card are native editable objects. RMIT (23 August 2023), https://www.rmit.edu.au/news/all-news/2023/aug/coffee-concrete, estimates around 75,000 tonnes of grounds generated in Australia annually. This is dated context, not Nile impact. All three requested event priorities remain visible. Slides 2–11 retain the research, hypothetical scenarios and evidence boundaries from v3.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Team-reported qualitative interviews with four cafes, supplied in conversation 4 October 2026. No transcripts, names, dates, weights or disposal audits supplied. Some cafes already have collection for agriculture. No direct quotations reproduced.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event priority descriptions. Original UNFCCC URL could not be fetched in this update; global numeric targets are not independently asserted. Farm/weather/satellite advice remains a future extension. Current awareness function is preparation guidance and understandable reuse/climate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implementation: README.md, docs/build-status.md, docs/adoption-tools.md. Recipients and quotes are fictional fixtures. 30 kg proposed -&gt; 27 kg accepted -&gt; 25 kg reported used is a testable software demonstration, not achieved physical diversion. Chaff, pulp and farm/mill husks are wider catalogue pathways requiring recipient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features verified in docs/adoption-tools.md. Net benefit formula does not guarantee income, realized savings, payment processing or free collection. All sample quotes and buyer capacities are fictional. CSV planner is browser-only and does not place orders. Nile participation records are not certification.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Reground reviewed 4 October 2026. Grounds service: https://reground.com.au/collection/ground-coffee/. Chaff: https://reground.com.au/collection/chaff/ . Consultancy: https://reground.com.au/consultancy/ . Circular Coffee: https://reground.com.au/collection/circular-coffee/. Remote partner systems: https://reground.com.au/remote/ . Reviewed service pages do not explicitly advertise a usable surplus roasted-bean marketplace; this is not proof none exists. Nile has no collection fleet, real buyer demand, agreed partner or proven cost advantage.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Assumptions: 100 cafes, 20 kg grounds + 1 kg eligible usable surplus beans/cafe/week, 52 weeks, 80% additional diversion. Grounds=83.2 t; beans=4.16 t. Grounds landfill -&gt; compost, zero gas capture. Lifetime methane=83.2*(2.1-0.021)/28=6.1776 t CH4, not annual methane savings. Source DCCEEW 2026 NGA Tables 15/44/38: https://www.dcceew.gov.au/sites/default/files/documents/national-greenhouse-accounts-factors-2026.pdf. Generic food-waste proxy; coffee-specific composition/wet mass unvalidated. No methane credit for beans. Existing diversion excluded. Transport/treatment energy/substitution excluded. See method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local implementation checked against README.md, docs/build-status.md and backend setup. SQLite with demo role switching, not cloud Auth. OpenAI adapter implemented with a nonempty local API key; live model access remains unverified in this update. Supabase migration/read policies locally tested, hosted repository/Auth/Storage unwired. Production hosting cannot use this local SQLite repository. Documented checks at commit 759f893: 48 unit/database and 13 browser/API tests. No deployment provisioned.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pilot: week 1 baseline and agreements, weeks 2–4 collections. Suggested gates: 80% pickups completed, median repeat listing &lt;=2 minutes, 60% cafes choosing another cycle, median documented net benefit &gt;=0. Not performed. Actual accepted mass is additional diversion only with verified baseline landfill. Track use and virgin-input substitution separately; use reports are self-reports. Awareness test: correct preparation and interpretation of evidence before/after. Methane remains estimated, not directly measured. No climate-resilient farming test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DCCEEW 2026 Australian National Greenhouse Accounts Factors: https://www.dcceew.gov.au/sites/default/files/documents/national-greenhouse-accounts-factors-2026.pdf, Tables 15/44/38. Lifetime food-waste methane proxy 2.1 t CO2e/t without capture; compost methane 0.021, separate N2O excluded; GWP100 CH4=28. Formula grounds_t*(2.1*(1-capture)-0.021)/28. Alternatives 0%=6.1776, 50%=3.0576, 70%=1.8096 t CH4, not confidence interval. Effective capture is illustrative. Coffee-specific composition/wet mass, transport, treatment energy and substitution unvalidated/excluded. Beans no methane credit, later grounds not double-counted. Existing reuse excluded.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OpenAI Codex assistance for planning/research/writing/code/review/docs/materials. App stack checked against package.json. Optional OpenAI adapter locally configured, no live API calls made for these materials. Supabase SQL/read policies tested with PGlite locally only. Artifact Tool editable PowerPoint; LibreOffice PDF conversion; pypdf/pypdfium2 checks. Earlier PDF ReportLab. No Figma/Canva use reported. Sources https://reground.com.au/collection/ground-coffee/, https://reground.com.au/collection/circular-coffee/, https://www.dcceew.gov.au/sites/default/files/documents/national-greenhouse-accounts-factors-2026.pdf. No certification, independently assured impact or actual adoption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6ab0346f184d0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672e73980654bb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b5f035524b54d2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aee6d54e7b24e3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e9bb14cce1d426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1f73e2281014f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826067-C64C-48B0-85DB-BE56A312BE5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B16BC5B-B767-4B3C-845E-BAD61409061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46D45CD-8489-4A8E-A17E-DDCA77EE2B9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B87E0B-5375-4EFD-8417-FA6818FC8E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D45A5B7-9351-47AC-AB85-7638B41EB53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07C1879-054A-40DF-ADF0-687571D124F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281494-8F41-43B9-98D9-854EE47768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0581A35-3637-4691-93FA-4D3A6CC4669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A80887-1575-4E96-BCBE-24BC32390A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1B2939E-72A9-4EC9-B720-091806866F3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1e6a3414334458" /><Relationship Type="http://schemas.openxmlformats.org/officeDocument/2006/relationships/slideLayout" Target="/ppt/slideLayouts/slideLayout1.xml" Id="R43e94884284c4cb5" /><Relationship Type="http://schemas.openxmlformats.org/officeDocument/2006/relationships/slideLayout" Target="/ppt/slideLayouts/slideLayout2.xml" Id="R4efdad9d4bc04f11" /><Relationship Type="http://schemas.openxmlformats.org/officeDocument/2006/relationships/slideLayout" Target="/ppt/slideLayouts/slideLayout3.xml" Id="R6f4c79d833e945b4" /><Relationship Type="http://schemas.openxmlformats.org/officeDocument/2006/relationships/slideLayout" Target="/ppt/slideLayouts/slideLayout4.xml" Id="Ra8372ac8829446f6" /><Relationship Type="http://schemas.openxmlformats.org/officeDocument/2006/relationships/slideLayout" Target="/ppt/slideLayouts/slideLayout5.xml" Id="R519fddf9d7aa4cc3" /><Relationship Type="http://schemas.openxmlformats.org/officeDocument/2006/relationships/slideLayout" Target="/ppt/slideLayouts/slideLayout6.xml" Id="Rd920b9a2566545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e94884284c4cb5"/>
    <p:sldLayoutId xmlns:r="http://schemas.openxmlformats.org/officeDocument/2006/relationships" id="2147483650" r:id="R4efdad9d4bc04f11"/>
    <p:sldLayoutId xmlns:r="http://schemas.openxmlformats.org/officeDocument/2006/relationships" id="2147483651" r:id="R6f4c79d833e945b4"/>
    <p:sldLayoutId xmlns:r="http://schemas.openxmlformats.org/officeDocument/2006/relationships" id="2147483652" r:id="Ra8372ac8829446f6"/>
    <p:sldLayoutId xmlns:r="http://schemas.openxmlformats.org/officeDocument/2006/relationships" id="2147483653" r:id="R519fddf9d7aa4cc3"/>
    <p:sldLayoutId xmlns:r="http://schemas.openxmlformats.org/officeDocument/2006/relationships" id="2147483654" r:id="Rd920b9a2566545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a1b2fa1cfdc4cd6" /><Relationship Type="http://schemas.openxmlformats.org/officeDocument/2006/relationships/image" Target="/ppt/media/image.png" Id="R9be990599b304c80" /><Relationship Type="http://schemas.openxmlformats.org/officeDocument/2006/relationships/notesSlide" Target="/ppt/notesSlides/notesSlide1.xml" Id="R4be92a49fd0d44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988137e9bce418d" /><Relationship Type="http://schemas.openxmlformats.org/officeDocument/2006/relationships/notesSlide" Target="/ppt/notesSlides/notesSlide2.xml" Id="Rfe4e8eaff61d44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4ada1751f0747e2" /><Relationship Type="http://schemas.openxmlformats.org/officeDocument/2006/relationships/notesSlide" Target="/ppt/notesSlides/notesSlide3.xml" Id="R111a092103944a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e6f27fcee944808" /><Relationship Type="http://schemas.openxmlformats.org/officeDocument/2006/relationships/notesSlide" Target="/ppt/notesSlides/notesSlide4.xml" Id="Rd222445a56f94f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4fb3fbb63d74879" /><Relationship Type="http://schemas.openxmlformats.org/officeDocument/2006/relationships/notesSlide" Target="/ppt/notesSlides/notesSlide5.xml" Id="R8638a8c1d50b44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5a1056cbf17485d" /><Relationship Type="http://schemas.openxmlformats.org/officeDocument/2006/relationships/notesSlide" Target="/ppt/notesSlides/notesSlide6.xml" Id="R963968e1eb54473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1f7e1ddb1584f2a" /><Relationship Type="http://schemas.openxmlformats.org/officeDocument/2006/relationships/notesSlide" Target="/ppt/notesSlides/notesSlide7.xml" Id="Rc4d7da4d54e646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0101dfd24f64ebb" /><Relationship Type="http://schemas.openxmlformats.org/officeDocument/2006/relationships/notesSlide" Target="/ppt/notesSlides/notesSlide8.xml" Id="R35bc25929ee94a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89a98480d4c4966" /><Relationship Type="http://schemas.openxmlformats.org/officeDocument/2006/relationships/notesSlide" Target="/ppt/notesSlides/notesSlide9.xml" Id="Rc60743a7c61a4ba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ede1bec819644a4" /><Relationship Type="http://schemas.openxmlformats.org/officeDocument/2006/relationships/notesSlide" Target="/ppt/notesSlides/notesSlide10.xml" Id="R53c0108fe657494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f80c6967f7b4e95" /><Relationship Type="http://schemas.openxmlformats.org/officeDocument/2006/relationships/notesSlide" Target="/ppt/notesSlides/notesSlide11.xml" Id="R87247c615177437e" /></Relationships>
</file>

<file path=ppt/slides/slide1.xml><?xml version="1.0" encoding="utf-8"?>
<p:sld xmlns:p="http://schemas.openxmlformats.org/presentationml/2006/main">
  <p:cSld>
    <p:bg>
      <p:bgPr>
        <a:solidFill xmlns:a="http://schemas.openxmlformats.org/drawingml/2006/main">
          <a:srgbClr val="214535"/>
        </a:solidFill>
      </p:bgPr>
    </p:bg>
    <p:spTree>
      <p:nvGrpSpPr>
        <p:cNvPr id="1" name=""/>
        <p:cNvGrpSpPr/>
        <p:nvPr/>
      </p:nvGrpSpPr>
      <p:grpSpPr>
        <a:xfrm xmlns:a="http://schemas.openxmlformats.org/drawingml/2006/main"/>
      </p:grpSpPr>
      <p:sp>
        <p:nvSpPr>
          <p:cNvPr id="13" name="nile.">
            <a:extLst xmlns:a="http://schemas.openxmlformats.org/drawingml/2006/main">
              <a:ext uri="{FF2B5EF4-FFF2-40B4-BE49-F238E27FC236}">
                <a16:creationId xmlns:a16="http://schemas.microsoft.com/office/drawing/2014/main" id="{EBF9BF1F-7FCB-458D-B639-FD8AF7348373}"/>
              </a:ext>
            </a:extLst>
          </p:cNvPr>
          <p:cNvSpPr>
            <a:spLocks xmlns:a="http://schemas.openxmlformats.org/drawingml/2006/main" noGrp="1"/>
          </p:cNvSpPr>
          <p:nvPr/>
        </p:nvSpPr>
        <p:spPr>
          <a:xfrm xmlns:a="http://schemas.openxmlformats.org/drawingml/2006/main">
            <a:off x="571500" y="304800"/>
            <a:ext cx="476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0">
                <a:solidFill>
                  <a:srgbClr val="F4EFE5"/>
                </a:solidFill>
                <a:latin typeface="Georgia"/>
                <a:ea typeface="Georgia"/>
                <a:cs typeface="Georgia"/>
              </a:defRPr>
            </a:defPPr>
          </a:lstStyle>
          <a:p xmlns:a="http://schemas.openxmlformats.org/drawingml/2006/main">
            <a:pPr algn="l">
              <a:defRPr sz="4800" b="0">
                <a:solidFill>
                  <a:srgbClr val="F4EFE5"/>
                </a:solidFill>
                <a:latin typeface="Georgia"/>
                <a:ea typeface="Georgia"/>
                <a:cs typeface="Georgia"/>
              </a:defRPr>
            </a:pPr>
            <a:r>
              <a:rPr sz="4800" b="0">
                <a:solidFill>
                  <a:srgbClr val="F4EFE5"/>
                </a:solidFill>
                <a:latin typeface="Georgia"/>
                <a:ea typeface="Georgia"/>
                <a:cs typeface="Georgia"/>
              </a:rPr>
              <a:t>nile.</a:t>
            </a:r>
          </a:p>
        </p:txBody>
      </p:sp>
      <p:sp>
        <p:nvSpPr>
          <p:cNvPr id="2" name="COFFEE INTO CLIMATE ACTION">
            <a:extLst xmlns:a="http://schemas.openxmlformats.org/drawingml/2006/main">
              <a:ext uri="{FF2B5EF4-FFF2-40B4-BE49-F238E27FC236}">
                <a16:creationId xmlns:a16="http://schemas.microsoft.com/office/drawing/2014/main" id="{CA2F3F8E-97EF-44B4-936D-D34A9EDF4E10}"/>
              </a:ext>
            </a:extLst>
          </p:cNvPr>
          <p:cNvSpPr>
            <a:spLocks xmlns:a="http://schemas.openxmlformats.org/drawingml/2006/main" noGrp="1"/>
          </p:cNvSpPr>
          <p:nvPr/>
        </p:nvSpPr>
        <p:spPr>
          <a:xfrm xmlns:a="http://schemas.openxmlformats.org/drawingml/2006/main">
            <a:off x="609600" y="1209675"/>
            <a:ext cx="600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D4DABB"/>
                </a:solidFill>
                <a:latin typeface="Arial"/>
                <a:ea typeface="Arial"/>
                <a:cs typeface="Arial"/>
              </a:defRPr>
            </a:defPPr>
          </a:lstStyle>
          <a:p xmlns:a="http://schemas.openxmlformats.org/drawingml/2006/main">
            <a:pPr algn="l">
              <a:defRPr sz="1200" b="1">
                <a:solidFill>
                  <a:srgbClr val="D4DABB"/>
                </a:solidFill>
                <a:latin typeface="Arial"/>
                <a:ea typeface="Arial"/>
                <a:cs typeface="Arial"/>
              </a:defRPr>
            </a:pPr>
            <a:r>
              <a:rPr sz="1200" b="1">
                <a:solidFill>
                  <a:srgbClr val="D4DABB"/>
                </a:solidFill>
                <a:latin typeface="Arial"/>
                <a:ea typeface="Arial"/>
                <a:cs typeface="Arial"/>
              </a:rPr>
              <a:t>COFFEE INTO CLIMATE ACTION</a:t>
            </a:r>
          </a:p>
        </p:txBody>
      </p:sp>
      <p:sp>
        <p:nvSpPr>
          <p:cNvPr id="3" name="Give coffee&#10;a next life.">
            <a:extLst xmlns:a="http://schemas.openxmlformats.org/drawingml/2006/main">
              <a:ext uri="{FF2B5EF4-FFF2-40B4-BE49-F238E27FC236}">
                <a16:creationId xmlns:a16="http://schemas.microsoft.com/office/drawing/2014/main" id="{6DFC89B7-9F53-47F5-941C-F9F6BE0F1CEB}"/>
              </a:ext>
            </a:extLst>
          </p:cNvPr>
          <p:cNvSpPr>
            <a:spLocks xmlns:a="http://schemas.openxmlformats.org/drawingml/2006/main" noGrp="1"/>
          </p:cNvSpPr>
          <p:nvPr/>
        </p:nvSpPr>
        <p:spPr>
          <a:xfrm xmlns:a="http://schemas.openxmlformats.org/drawingml/2006/main">
            <a:off x="571500" y="1733550"/>
            <a:ext cx="61912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0">
                <a:solidFill>
                  <a:srgbClr val="F4EFE5"/>
                </a:solidFill>
                <a:latin typeface="Arial"/>
                <a:ea typeface="Arial"/>
                <a:cs typeface="Arial"/>
              </a:defRPr>
            </a:defPPr>
          </a:lstStyle>
          <a:p xmlns:a="http://schemas.openxmlformats.org/drawingml/2006/main">
            <a:pPr algn="l">
              <a:defRPr sz="4800" b="0">
                <a:solidFill>
                  <a:srgbClr val="F4EFE5"/>
                </a:solidFill>
                <a:latin typeface="Arial"/>
                <a:ea typeface="Arial"/>
                <a:cs typeface="Arial"/>
              </a:defRPr>
            </a:pPr>
            <a:r>
              <a:rPr sz="4800" b="0">
                <a:solidFill>
                  <a:srgbClr val="F4EFE5"/>
                </a:solidFill>
                <a:latin typeface="Arial"/>
                <a:ea typeface="Arial"/>
                <a:cs typeface="Arial"/>
              </a:rPr>
              <a:t>Give coffee</a:t>
            </a:r>
          </a:p>
          <a:p xmlns:a="http://schemas.openxmlformats.org/drawingml/2006/main">
            <a:pPr algn="l">
              <a:defRPr sz="4800" b="0">
                <a:solidFill>
                  <a:srgbClr val="F4EFE5"/>
                </a:solidFill>
                <a:latin typeface="Arial"/>
                <a:ea typeface="Arial"/>
                <a:cs typeface="Arial"/>
              </a:defRPr>
            </a:pPr>
            <a:r>
              <a:rPr sz="4800" b="0">
                <a:solidFill>
                  <a:srgbClr val="F4EFE5"/>
                </a:solidFill>
                <a:latin typeface="Arial"/>
                <a:ea typeface="Arial"/>
                <a:cs typeface="Arial"/>
              </a:rPr>
              <a:t>a next life.</a:t>
            </a:r>
          </a:p>
        </p:txBody>
      </p:sp>
      <p:sp>
        <p:nvSpPr>
          <p:cNvPr id="4" name="Surplus beans and coffee by-products.&#10;Compatible r">
            <a:extLst xmlns:a="http://schemas.openxmlformats.org/drawingml/2006/main">
              <a:ext uri="{FF2B5EF4-FFF2-40B4-BE49-F238E27FC236}">
                <a16:creationId xmlns:a16="http://schemas.microsoft.com/office/drawing/2014/main" id="{51CA1217-1F6B-4210-A68A-90FABC5D3DF2}"/>
              </a:ext>
            </a:extLst>
          </p:cNvPr>
          <p:cNvSpPr>
            <a:spLocks xmlns:a="http://schemas.openxmlformats.org/drawingml/2006/main" noGrp="1"/>
          </p:cNvSpPr>
          <p:nvPr/>
        </p:nvSpPr>
        <p:spPr>
          <a:xfrm xmlns:a="http://schemas.openxmlformats.org/drawingml/2006/main">
            <a:off x="609600" y="3524250"/>
            <a:ext cx="628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4EFE5"/>
                </a:solidFill>
                <a:latin typeface="Arial"/>
                <a:ea typeface="Arial"/>
                <a:cs typeface="Arial"/>
              </a:defRPr>
            </a:defPPr>
          </a:lstStyle>
          <a:p xmlns:a="http://schemas.openxmlformats.org/drawingml/2006/main">
            <a:pPr algn="l">
              <a:defRPr sz="1725" b="0">
                <a:solidFill>
                  <a:srgbClr val="F4EFE5"/>
                </a:solidFill>
                <a:latin typeface="Arial"/>
                <a:ea typeface="Arial"/>
                <a:cs typeface="Arial"/>
              </a:defRPr>
            </a:pPr>
            <a:r>
              <a:rPr sz="1725" b="0">
                <a:solidFill>
                  <a:srgbClr val="F4EFE5"/>
                </a:solidFill>
                <a:latin typeface="Arial"/>
                <a:ea typeface="Arial"/>
                <a:cs typeface="Arial"/>
              </a:rPr>
              <a:t>Surplus beans and coffee by-products.</a:t>
            </a:r>
          </a:p>
          <a:p xmlns:a="http://schemas.openxmlformats.org/drawingml/2006/main">
            <a:pPr algn="l">
              <a:defRPr sz="1725" b="0">
                <a:solidFill>
                  <a:srgbClr val="F4EFE5"/>
                </a:solidFill>
                <a:latin typeface="Arial"/>
                <a:ea typeface="Arial"/>
                <a:cs typeface="Arial"/>
              </a:defRPr>
            </a:pPr>
            <a:r>
              <a:rPr sz="1725" b="0">
                <a:solidFill>
                  <a:srgbClr val="F4EFE5"/>
                </a:solidFill>
                <a:latin typeface="Arial"/>
                <a:ea typeface="Arial"/>
                <a:cs typeface="Arial"/>
              </a:rPr>
              <a:t>Compatible recipients. Clear value. Easier collection.</a:t>
            </a:r>
          </a:p>
        </p:txBody>
      </p:sp>
      <p:sp>
        <p:nvSpPr>
          <p:cNvPr id="5" name="">
            <a:extLst xmlns:a="http://schemas.openxmlformats.org/drawingml/2006/main">
              <a:ext uri="{FF2B5EF4-FFF2-40B4-BE49-F238E27FC236}">
                <a16:creationId xmlns:a16="http://schemas.microsoft.com/office/drawing/2014/main" id="{2F46CE2D-AD3E-4445-81C7-D8D68111E179}"/>
              </a:ext>
            </a:extLst>
          </p:cNvPr>
          <p:cNvSpPr>
            <a:spLocks xmlns:a="http://schemas.openxmlformats.org/drawingml/2006/main" noGrp="1"/>
          </p:cNvSpPr>
          <p:nvPr/>
        </p:nvSpPr>
        <p:spPr>
          <a:xfrm xmlns:a="http://schemas.openxmlformats.org/drawingml/2006/main">
            <a:off x="638175" y="4410075"/>
            <a:ext cx="5781675" cy="1295400"/>
          </a:xfrm>
          <a:prstGeom xmlns:a="http://schemas.openxmlformats.org/drawingml/2006/main" prst="roundRect">
            <a:avLst>
              <a:gd name="adj" fmla="val 15441"/>
            </a:avLst>
          </a:prstGeom>
          <a:solidFill xmlns:a="http://schemas.openxmlformats.org/drawingml/2006/main">
            <a:srgbClr val="2E5340"/>
          </a:solidFill>
          <a:ln xmlns:a="http://schemas.openxmlformats.org/drawingml/2006/main" w="0">
            <a:noFill/>
          </a:ln>
        </p:spPr>
      </p:sp>
      <p:sp>
        <p:nvSpPr>
          <p:cNvPr id="6" name="~75,000 tonnes / year">
            <a:extLst xmlns:a="http://schemas.openxmlformats.org/drawingml/2006/main">
              <a:ext uri="{FF2B5EF4-FFF2-40B4-BE49-F238E27FC236}">
                <a16:creationId xmlns:a16="http://schemas.microsoft.com/office/drawing/2014/main" id="{722B1661-137E-440B-8746-7E065C4E24AB}"/>
              </a:ext>
            </a:extLst>
          </p:cNvPr>
          <p:cNvSpPr>
            <a:spLocks xmlns:a="http://schemas.openxmlformats.org/drawingml/2006/main" noGrp="1"/>
          </p:cNvSpPr>
          <p:nvPr/>
        </p:nvSpPr>
        <p:spPr>
          <a:xfrm xmlns:a="http://schemas.openxmlformats.org/drawingml/2006/main">
            <a:off x="876300" y="4610100"/>
            <a:ext cx="53244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E2AE7E"/>
                </a:solidFill>
                <a:latin typeface="Arial"/>
                <a:ea typeface="Arial"/>
                <a:cs typeface="Arial"/>
              </a:defRPr>
            </a:defPPr>
          </a:lstStyle>
          <a:p xmlns:a="http://schemas.openxmlformats.org/drawingml/2006/main">
            <a:pPr algn="l">
              <a:defRPr sz="2700" b="1">
                <a:solidFill>
                  <a:srgbClr val="E2AE7E"/>
                </a:solidFill>
                <a:latin typeface="Arial"/>
                <a:ea typeface="Arial"/>
                <a:cs typeface="Arial"/>
              </a:defRPr>
            </a:pPr>
            <a:r>
              <a:rPr sz="2700" b="1">
                <a:solidFill>
                  <a:srgbClr val="E2AE7E"/>
                </a:solidFill>
                <a:latin typeface="Arial"/>
                <a:ea typeface="Arial"/>
                <a:cs typeface="Arial"/>
              </a:rPr>
              <a:t>~75,000 tonnes / year</a:t>
            </a:r>
          </a:p>
        </p:txBody>
      </p:sp>
      <p:sp>
        <p:nvSpPr>
          <p:cNvPr id="7" name="Spent coffee grounds generated in Australia.&#10;RMIT ">
            <a:extLst xmlns:a="http://schemas.openxmlformats.org/drawingml/2006/main">
              <a:ext uri="{FF2B5EF4-FFF2-40B4-BE49-F238E27FC236}">
                <a16:creationId xmlns:a16="http://schemas.microsoft.com/office/drawing/2014/main" id="{CA9BF925-9613-4867-8C17-4059F908D965}"/>
              </a:ext>
            </a:extLst>
          </p:cNvPr>
          <p:cNvSpPr>
            <a:spLocks xmlns:a="http://schemas.openxmlformats.org/drawingml/2006/main" noGrp="1"/>
          </p:cNvSpPr>
          <p:nvPr/>
        </p:nvSpPr>
        <p:spPr>
          <a:xfrm xmlns:a="http://schemas.openxmlformats.org/drawingml/2006/main">
            <a:off x="885825" y="5210175"/>
            <a:ext cx="5238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F4EFE5"/>
                </a:solidFill>
                <a:latin typeface="Arial"/>
                <a:ea typeface="Arial"/>
                <a:cs typeface="Arial"/>
              </a:defRPr>
            </a:defPPr>
          </a:lstStyle>
          <a:p xmlns:a="http://schemas.openxmlformats.org/drawingml/2006/main">
            <a:pPr algn="l">
              <a:defRPr sz="1200" b="0">
                <a:solidFill>
                  <a:srgbClr val="F4EFE5"/>
                </a:solidFill>
                <a:latin typeface="Arial"/>
                <a:ea typeface="Arial"/>
                <a:cs typeface="Arial"/>
              </a:defRPr>
            </a:pPr>
            <a:r>
              <a:rPr sz="1200" b="0">
                <a:solidFill>
                  <a:srgbClr val="F4EFE5"/>
                </a:solidFill>
                <a:latin typeface="Arial"/>
                <a:ea typeface="Arial"/>
                <a:cs typeface="Arial"/>
              </a:rPr>
              <a:t>Spent coffee grounds generated in Australia.</a:t>
            </a:r>
          </a:p>
          <a:p xmlns:a="http://schemas.openxmlformats.org/drawingml/2006/main">
            <a:pPr algn="l">
              <a:defRPr sz="1200" b="0">
                <a:solidFill>
                  <a:srgbClr val="F4EFE5"/>
                </a:solidFill>
                <a:latin typeface="Arial"/>
                <a:ea typeface="Arial"/>
                <a:cs typeface="Arial"/>
              </a:defRPr>
            </a:pPr>
            <a:r>
              <a:rPr sz="1200" b="0">
                <a:solidFill>
                  <a:srgbClr val="F4EFE5"/>
                </a:solidFill>
                <a:latin typeface="Arial"/>
                <a:ea typeface="Arial"/>
                <a:cs typeface="Arial"/>
              </a:rPr>
              <a:t>RMIT estimate, 2023. Context, not Nile impact.</a:t>
            </a:r>
          </a:p>
        </p:txBody>
      </p:sp>
      <p:pic>
        <p:nvPicPr>
          <p:cNvPr id="8" name="">
            <a:extLst xmlns:a="http://schemas.openxmlformats.org/drawingml/2006/main">
              <a:ext uri="{FF2B5EF4-FFF2-40B4-BE49-F238E27FC236}">
                <a16:creationId xmlns:a16="http://schemas.microsoft.com/office/drawing/2014/main" id="{FFCA6EE5-7615-4311-8555-E3C4E593FA74}"/>
              </a:ext>
            </a:extLst>
          </p:cNvPr>
          <p:cNvPicPr>
            <a:picLocks xmlns:a="http://schemas.openxmlformats.org/drawingml/2006/main" noChangeAspect="1"/>
          </p:cNvPicPr>
          <p:nvPr/>
        </p:nvPicPr>
        <p:blipFill>
          <a:blip xmlns:r="http://schemas.openxmlformats.org/officeDocument/2006/relationships" xmlns:a="http://schemas.openxmlformats.org/drawingml/2006/main" r:embed="R9be990599b304c80"/>
          <a:srcRect xmlns:a="http://schemas.openxmlformats.org/drawingml/2006/main" l="60000" t="24000" r="7500" b="28000"/>
          <a:stretch xmlns:a="http://schemas.openxmlformats.org/drawingml/2006/main"/>
        </p:blipFill>
        <p:spPr>
          <a:xfrm xmlns:a="http://schemas.openxmlformats.org/drawingml/2006/main">
            <a:off x="7115175" y="1600200"/>
            <a:ext cx="4400550" cy="3657600"/>
          </a:xfrm>
          <a:prstGeom xmlns:a="http://schemas.openxmlformats.org/drawingml/2006/main" prst="rect">
            <a:avLst/>
          </a:prstGeom>
        </p:spPr>
      </p:pic>
      <p:sp>
        <p:nvSpPr>
          <p:cNvPr id="9" name="One engine for coffee materials&#10;at different stage">
            <a:extLst xmlns:a="http://schemas.openxmlformats.org/drawingml/2006/main">
              <a:ext uri="{FF2B5EF4-FFF2-40B4-BE49-F238E27FC236}">
                <a16:creationId xmlns:a16="http://schemas.microsoft.com/office/drawing/2014/main" id="{6A50F2F4-D6EA-486C-9A7F-40BEDC884C11}"/>
              </a:ext>
            </a:extLst>
          </p:cNvPr>
          <p:cNvSpPr>
            <a:spLocks xmlns:a="http://schemas.openxmlformats.org/drawingml/2006/main" noGrp="1"/>
          </p:cNvSpPr>
          <p:nvPr/>
        </p:nvSpPr>
        <p:spPr>
          <a:xfrm xmlns:a="http://schemas.openxmlformats.org/drawingml/2006/main">
            <a:off x="7429500" y="5429250"/>
            <a:ext cx="4076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4EFE5"/>
                </a:solidFill>
                <a:latin typeface="Arial"/>
                <a:ea typeface="Arial"/>
                <a:cs typeface="Arial"/>
              </a:defRPr>
            </a:defPPr>
          </a:lstStyle>
          <a:p xmlns:a="http://schemas.openxmlformats.org/drawingml/2006/main">
            <a:pPr algn="l">
              <a:defRPr sz="1725" b="0">
                <a:solidFill>
                  <a:srgbClr val="F4EFE5"/>
                </a:solidFill>
                <a:latin typeface="Arial"/>
                <a:ea typeface="Arial"/>
                <a:cs typeface="Arial"/>
              </a:defRPr>
            </a:pPr>
            <a:r>
              <a:rPr sz="1725" b="0">
                <a:solidFill>
                  <a:srgbClr val="F4EFE5"/>
                </a:solidFill>
                <a:latin typeface="Arial"/>
                <a:ea typeface="Arial"/>
                <a:cs typeface="Arial"/>
              </a:rPr>
              <a:t>One engine for coffee materials</a:t>
            </a:r>
          </a:p>
          <a:p xmlns:a="http://schemas.openxmlformats.org/drawingml/2006/main">
            <a:pPr algn="l">
              <a:defRPr sz="1725" b="0">
                <a:solidFill>
                  <a:srgbClr val="F4EFE5"/>
                </a:solidFill>
                <a:latin typeface="Arial"/>
                <a:ea typeface="Arial"/>
                <a:cs typeface="Arial"/>
              </a:defRPr>
            </a:pPr>
            <a:r>
              <a:rPr sz="1725" b="0">
                <a:solidFill>
                  <a:srgbClr val="F4EFE5"/>
                </a:solidFill>
                <a:latin typeface="Arial"/>
                <a:ea typeface="Arial"/>
                <a:cs typeface="Arial"/>
              </a:rPr>
              <a:t>at different stages.</a:t>
            </a:r>
          </a:p>
        </p:txBody>
      </p:sp>
      <p:sp>
        <p:nvSpPr>
          <p:cNvPr id="10" name="Zero Waste &amp; Methane Reduction   /   Green Industr">
            <a:extLst xmlns:a="http://schemas.openxmlformats.org/drawingml/2006/main">
              <a:ext uri="{FF2B5EF4-FFF2-40B4-BE49-F238E27FC236}">
                <a16:creationId xmlns:a16="http://schemas.microsoft.com/office/drawing/2014/main" id="{5DC5716D-E5EC-4854-853B-C343A56510F4}"/>
              </a:ext>
            </a:extLst>
          </p:cNvPr>
          <p:cNvSpPr>
            <a:spLocks xmlns:a="http://schemas.openxmlformats.org/drawingml/2006/main" noGrp="1"/>
          </p:cNvSpPr>
          <p:nvPr/>
        </p:nvSpPr>
        <p:spPr>
          <a:xfrm xmlns:a="http://schemas.openxmlformats.org/drawingml/2006/main">
            <a:off x="609600" y="6057900"/>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D4DABB"/>
                </a:solidFill>
                <a:latin typeface="Arial"/>
                <a:ea typeface="Arial"/>
                <a:cs typeface="Arial"/>
              </a:defRPr>
            </a:defPPr>
          </a:lstStyle>
          <a:p xmlns:a="http://schemas.openxmlformats.org/drawingml/2006/main">
            <a:pPr algn="l">
              <a:defRPr sz="1200" b="0">
                <a:solidFill>
                  <a:srgbClr val="D4DABB"/>
                </a:solidFill>
                <a:latin typeface="Arial"/>
                <a:ea typeface="Arial"/>
                <a:cs typeface="Arial"/>
              </a:defRPr>
            </a:pPr>
            <a:r>
              <a:rPr sz="1200" b="0">
                <a:solidFill>
                  <a:srgbClr val="D4DABB"/>
                </a:solidFill>
                <a:latin typeface="Arial"/>
                <a:ea typeface="Arial"/>
                <a:cs typeface="Arial"/>
              </a:rPr>
              <a:t>Zero Waste &amp; Methane Reduction   /   Green Industrialisation   /   Awareness</a:t>
            </a:r>
          </a:p>
        </p:txBody>
      </p:sp>
      <p:sp>
        <p:nvSpPr>
          <p:cNvPr id="11" name="Source: RMIT, Coffee offers performance boost for ">
            <a:extLst xmlns:a="http://schemas.openxmlformats.org/drawingml/2006/main">
              <a:ext uri="{FF2B5EF4-FFF2-40B4-BE49-F238E27FC236}">
                <a16:creationId xmlns:a16="http://schemas.microsoft.com/office/drawing/2014/main" id="{14092F3A-0871-432A-A14A-C329618D57FB}"/>
              </a:ext>
            </a:extLst>
          </p:cNvPr>
          <p:cNvSpPr>
            <a:spLocks xmlns:a="http://schemas.openxmlformats.org/drawingml/2006/main" noGrp="1"/>
          </p:cNvSpPr>
          <p:nvPr/>
        </p:nvSpPr>
        <p:spPr>
          <a:xfrm xmlns:a="http://schemas.openxmlformats.org/drawingml/2006/main">
            <a:off x="609600" y="6448425"/>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CDD7BD"/>
                </a:solidFill>
                <a:latin typeface="Arial"/>
                <a:ea typeface="Arial"/>
                <a:cs typeface="Arial"/>
              </a:defRPr>
            </a:defPPr>
          </a:lstStyle>
          <a:p xmlns:a="http://schemas.openxmlformats.org/drawingml/2006/main">
            <a:pPr algn="l">
              <a:defRPr sz="900" b="0">
                <a:solidFill>
                  <a:srgbClr val="CDD7BD"/>
                </a:solidFill>
                <a:latin typeface="Arial"/>
                <a:ea typeface="Arial"/>
                <a:cs typeface="Arial"/>
              </a:defRPr>
            </a:pPr>
            <a:r>
              <a:rPr sz="900" b="0">
                <a:solidFill>
                  <a:srgbClr val="CDD7BD"/>
                </a:solidFill>
                <a:latin typeface="Arial"/>
                <a:ea typeface="Arial"/>
                <a:cs typeface="Arial"/>
              </a:rPr>
              <a:t>Source: RMIT, Coffee offers performance boost for concrete, 23 August 2023</a:t>
            </a:r>
          </a:p>
        </p:txBody>
      </p:sp>
      <p:sp>
        <p:nvSpPr>
          <p:cNvPr id="12" name="1 / 11">
            <a:extLst xmlns:a="http://schemas.openxmlformats.org/drawingml/2006/main">
              <a:ext uri="{FF2B5EF4-FFF2-40B4-BE49-F238E27FC236}">
                <a16:creationId xmlns:a16="http://schemas.microsoft.com/office/drawing/2014/main" id="{D94A37CD-CDC9-4BFD-87C8-CC66AB99BF78}"/>
              </a:ext>
            </a:extLst>
          </p:cNvPr>
          <p:cNvSpPr>
            <a:spLocks xmlns:a="http://schemas.openxmlformats.org/drawingml/2006/main" noGrp="1"/>
          </p:cNvSpPr>
          <p:nvPr/>
        </p:nvSpPr>
        <p:spPr>
          <a:xfrm xmlns:a="http://schemas.openxmlformats.org/drawingml/2006/main">
            <a:off x="11029950" y="64389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F4EFE5"/>
                </a:solidFill>
                <a:latin typeface="Arial"/>
                <a:ea typeface="Arial"/>
                <a:cs typeface="Arial"/>
              </a:defRPr>
            </a:defPPr>
          </a:lstStyle>
          <a:p xmlns:a="http://schemas.openxmlformats.org/drawingml/2006/main">
            <a:pPr algn="r">
              <a:defRPr sz="1050" b="0">
                <a:solidFill>
                  <a:srgbClr val="F4EFE5"/>
                </a:solidFill>
                <a:latin typeface="Arial"/>
                <a:ea typeface="Arial"/>
                <a:cs typeface="Arial"/>
              </a:defRPr>
            </a:pPr>
            <a:r>
              <a:rPr sz="1050" b="0">
                <a:solidFill>
                  <a:srgbClr val="F4EFE5"/>
                </a:solidFill>
                <a:latin typeface="Arial"/>
                <a:ea typeface="Arial"/>
                <a:cs typeface="Arial"/>
              </a:rPr>
              <a:t>1 / 11</a:t>
            </a:r>
          </a:p>
        </p:txBody>
      </p:sp>
    </p:spTree>
    <p:extLst>
      <p:ext uri="{BB962C8B-B14F-4D97-AF65-F5344CB8AC3E}">
        <p14:creationId xmlns:p14="http://schemas.microsoft.com/office/powerpoint/2010/main" val="551801597"/>
      </p:ext>
    </p:extLst>
  </p:cSld>
</p:sld>
</file>

<file path=ppt/slides/slide2.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7" name="NILE  /  PROBLEM &amp; EARLY EVIDENCE">
            <a:extLst xmlns:a="http://schemas.openxmlformats.org/drawingml/2006/main">
              <a:ext uri="{FF2B5EF4-FFF2-40B4-BE49-F238E27FC236}">
                <a16:creationId xmlns:a16="http://schemas.microsoft.com/office/drawing/2014/main" id="{EB7CA392-78AD-4D68-8248-FED8D6849F1D}"/>
              </a:ext>
            </a:extLst>
          </p:cNvPr>
          <p:cNvSpPr>
            <a:spLocks xmlns:a="http://schemas.openxmlformats.org/drawingml/2006/main" noGrp="1"/>
          </p:cNvSpPr>
          <p:nvPr/>
        </p:nvSpPr>
        <p:spPr>
          <a:xfrm xmlns:a="http://schemas.openxmlformats.org/drawingml/2006/main">
            <a:off x="685800" y="381000"/>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BF7947"/>
                </a:solidFill>
                <a:latin typeface="Arial"/>
                <a:ea typeface="Arial"/>
                <a:cs typeface="Arial"/>
              </a:defRPr>
            </a:defPPr>
          </a:lstStyle>
          <a:p xmlns:a="http://schemas.openxmlformats.org/drawingml/2006/main">
            <a:pPr algn="l">
              <a:defRPr sz="1200" b="1">
                <a:solidFill>
                  <a:srgbClr val="BF7947"/>
                </a:solidFill>
                <a:latin typeface="Arial"/>
                <a:ea typeface="Arial"/>
                <a:cs typeface="Arial"/>
              </a:defRPr>
            </a:pPr>
            <a:r>
              <a:rPr sz="1200" b="1">
                <a:solidFill>
                  <a:srgbClr val="BF7947"/>
                </a:solidFill>
                <a:latin typeface="Arial"/>
                <a:ea typeface="Arial"/>
                <a:cs typeface="Arial"/>
              </a:rPr>
              <a:t>NILE  /  PROBLEM &amp; EARLY EVIDENCE</a:t>
            </a:r>
          </a:p>
        </p:txBody>
      </p:sp>
      <p:sp>
        <p:nvSpPr>
          <p:cNvPr id="2" name="The barrier is reliable reuse, every week.">
            <a:extLst xmlns:a="http://schemas.openxmlformats.org/drawingml/2006/main">
              <a:ext uri="{FF2B5EF4-FFF2-40B4-BE49-F238E27FC236}">
                <a16:creationId xmlns:a16="http://schemas.microsoft.com/office/drawing/2014/main" id="{5E1E3D9F-AD27-40CC-BC91-424305140DE5}"/>
              </a:ext>
            </a:extLst>
          </p:cNvPr>
          <p:cNvSpPr>
            <a:spLocks xmlns:a="http://schemas.openxmlformats.org/drawingml/2006/main" noGrp="1"/>
          </p:cNvSpPr>
          <p:nvPr/>
        </p:nvSpPr>
        <p:spPr>
          <a:xfrm xmlns:a="http://schemas.openxmlformats.org/drawingml/2006/main">
            <a:off x="685800" y="809625"/>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0">
                <a:solidFill>
                  <a:srgbClr val="253D30"/>
                </a:solidFill>
                <a:latin typeface="Georgia"/>
                <a:ea typeface="Georgia"/>
                <a:cs typeface="Georgia"/>
              </a:defRPr>
            </a:defPPr>
          </a:lstStyle>
          <a:p xmlns:a="http://schemas.openxmlformats.org/drawingml/2006/main">
            <a:pPr algn="l">
              <a:defRPr sz="3375" b="0">
                <a:solidFill>
                  <a:srgbClr val="253D30"/>
                </a:solidFill>
                <a:latin typeface="Georgia"/>
                <a:ea typeface="Georgia"/>
                <a:cs typeface="Georgia"/>
              </a:defRPr>
            </a:pPr>
            <a:r>
              <a:rPr sz="3375" b="0">
                <a:solidFill>
                  <a:srgbClr val="253D30"/>
                </a:solidFill>
                <a:latin typeface="Georgia"/>
                <a:ea typeface="Georgia"/>
                <a:cs typeface="Georgia"/>
              </a:rPr>
              <a:t>The barrier is reliable reuse, every week.</a:t>
            </a:r>
          </a:p>
        </p:txBody>
      </p:sp>
      <p:sp>
        <p:nvSpPr>
          <p:cNvPr id="3" name="A cafe needs an accepting destination, workable co">
            <a:extLst xmlns:a="http://schemas.openxmlformats.org/drawingml/2006/main">
              <a:ext uri="{FF2B5EF4-FFF2-40B4-BE49-F238E27FC236}">
                <a16:creationId xmlns:a16="http://schemas.microsoft.com/office/drawing/2014/main" id="{CD2048FC-EB99-4675-9364-F848164BBE03}"/>
              </a:ext>
            </a:extLst>
          </p:cNvPr>
          <p:cNvSpPr>
            <a:spLocks xmlns:a="http://schemas.openxmlformats.org/drawingml/2006/main" noGrp="1"/>
          </p:cNvSpPr>
          <p:nvPr/>
        </p:nvSpPr>
        <p:spPr>
          <a:xfrm xmlns:a="http://schemas.openxmlformats.org/drawingml/2006/main">
            <a:off x="685800" y="185737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17066"/>
                </a:solidFill>
                <a:latin typeface="Arial"/>
                <a:ea typeface="Arial"/>
                <a:cs typeface="Arial"/>
              </a:defRPr>
            </a:defPPr>
          </a:lstStyle>
          <a:p xmlns:a="http://schemas.openxmlformats.org/drawingml/2006/main">
            <a:pPr algn="l">
              <a:defRPr sz="1725" b="0">
                <a:solidFill>
                  <a:srgbClr val="617066"/>
                </a:solidFill>
                <a:latin typeface="Arial"/>
                <a:ea typeface="Arial"/>
                <a:cs typeface="Arial"/>
              </a:defRPr>
            </a:pPr>
            <a:r>
              <a:rPr sz="1725" b="0">
                <a:solidFill>
                  <a:srgbClr val="617066"/>
                </a:solidFill>
                <a:latin typeface="Arial"/>
                <a:ea typeface="Arial"/>
                <a:cs typeface="Arial"/>
              </a:rPr>
              <a:t>A cafe needs an accepting destination, workable costs and a dependable handover.</a:t>
            </a:r>
          </a:p>
        </p:txBody>
      </p:sp>
      <p:sp>
        <p:nvSpPr>
          <p:cNvPr id="4" name="">
            <a:extLst xmlns:a="http://schemas.openxmlformats.org/drawingml/2006/main">
              <a:ext uri="{FF2B5EF4-FFF2-40B4-BE49-F238E27FC236}">
                <a16:creationId xmlns:a16="http://schemas.microsoft.com/office/drawing/2014/main" id="{ABC1BA6F-866A-4616-840A-16647D867A54}"/>
              </a:ext>
            </a:extLst>
          </p:cNvPr>
          <p:cNvSpPr>
            <a:spLocks xmlns:a="http://schemas.openxmlformats.org/drawingml/2006/main" noGrp="1"/>
          </p:cNvSpPr>
          <p:nvPr/>
        </p:nvSpPr>
        <p:spPr>
          <a:xfrm xmlns:a="http://schemas.openxmlformats.org/drawingml/2006/main">
            <a:off x="685800" y="6296025"/>
            <a:ext cx="10820400" cy="14288"/>
          </a:xfrm>
          <a:prstGeom xmlns:a="http://schemas.openxmlformats.org/drawingml/2006/main" prst="rect">
            <a:avLst/>
          </a:prstGeom>
          <a:solidFill xmlns:a="http://schemas.openxmlformats.org/drawingml/2006/main">
            <a:srgbClr val="CDD4C6"/>
          </a:solidFill>
          <a:ln xmlns:a="http://schemas.openxmlformats.org/drawingml/2006/main" w="0">
            <a:noFill/>
          </a:ln>
        </p:spPr>
      </p:sp>
      <p:sp>
        <p:nvSpPr>
          <p:cNvPr id="5" name="Nile • Climate Hack-tion • 4 October 2026">
            <a:extLst xmlns:a="http://schemas.openxmlformats.org/drawingml/2006/main">
              <a:ext uri="{FF2B5EF4-FFF2-40B4-BE49-F238E27FC236}">
                <a16:creationId xmlns:a16="http://schemas.microsoft.com/office/drawing/2014/main" id="{E7E79570-AEB7-4F07-BD7B-0B5038845569}"/>
              </a:ext>
            </a:extLst>
          </p:cNvPr>
          <p:cNvSpPr>
            <a:spLocks xmlns:a="http://schemas.openxmlformats.org/drawingml/2006/main" noGrp="1"/>
          </p:cNvSpPr>
          <p:nvPr/>
        </p:nvSpPr>
        <p:spPr>
          <a:xfrm xmlns:a="http://schemas.openxmlformats.org/drawingml/2006/main">
            <a:off x="685800" y="6448425"/>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066"/>
                </a:solidFill>
                <a:latin typeface="Arial"/>
                <a:ea typeface="Arial"/>
                <a:cs typeface="Arial"/>
              </a:defRPr>
            </a:defPPr>
          </a:lstStyle>
          <a:p xmlns:a="http://schemas.openxmlformats.org/drawingml/2006/main">
            <a:pPr algn="l">
              <a:defRPr sz="1050" b="0">
                <a:solidFill>
                  <a:srgbClr val="617066"/>
                </a:solidFill>
                <a:latin typeface="Arial"/>
                <a:ea typeface="Arial"/>
                <a:cs typeface="Arial"/>
              </a:defRPr>
            </a:pPr>
            <a:r>
              <a:rPr sz="1050" b="0">
                <a:solidFill>
                  <a:srgbClr val="617066"/>
                </a:solidFill>
                <a:latin typeface="Arial"/>
                <a:ea typeface="Arial"/>
                <a:cs typeface="Arial"/>
              </a:rPr>
              <a:t>Nile • Climate Hack-tion • 4 October 2026</a:t>
            </a:r>
          </a:p>
        </p:txBody>
      </p:sp>
      <p:sp>
        <p:nvSpPr>
          <p:cNvPr id="6" name="02">
            <a:extLst xmlns:a="http://schemas.openxmlformats.org/drawingml/2006/main">
              <a:ext uri="{FF2B5EF4-FFF2-40B4-BE49-F238E27FC236}">
                <a16:creationId xmlns:a16="http://schemas.microsoft.com/office/drawing/2014/main" id="{50422A5A-C16B-47D6-AE89-F6FFE9C3A36B}"/>
              </a:ext>
            </a:extLst>
          </p:cNvPr>
          <p:cNvSpPr>
            <a:spLocks xmlns:a="http://schemas.openxmlformats.org/drawingml/2006/main" noGrp="1"/>
          </p:cNvSpPr>
          <p:nvPr/>
        </p:nvSpPr>
        <p:spPr>
          <a:xfrm xmlns:a="http://schemas.openxmlformats.org/drawingml/2006/main">
            <a:off x="10953750" y="64293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BF7947"/>
                </a:solidFill>
                <a:latin typeface="Arial"/>
                <a:ea typeface="Arial"/>
                <a:cs typeface="Arial"/>
              </a:defRPr>
            </a:defPPr>
          </a:lstStyle>
          <a:p xmlns:a="http://schemas.openxmlformats.org/drawingml/2006/main">
            <a:pPr algn="r">
              <a:defRPr sz="1200" b="0">
                <a:solidFill>
                  <a:srgbClr val="BF7947"/>
                </a:solidFill>
                <a:latin typeface="Arial"/>
                <a:ea typeface="Arial"/>
                <a:cs typeface="Arial"/>
              </a:defRPr>
            </a:pPr>
            <a:r>
              <a:rPr sz="1200" b="0">
                <a:solidFill>
                  <a:srgbClr val="BF7947"/>
                </a:solidFill>
                <a:latin typeface="Arial"/>
                <a:ea typeface="Arial"/>
                <a:cs typeface="Arial"/>
              </a:rPr>
              <a:t>02</a:t>
            </a:r>
          </a:p>
        </p:txBody>
      </p:sp>
      <p:sp>
        <p:nvSpPr>
          <p:cNvPr id="7" name="4">
            <a:extLst xmlns:a="http://schemas.openxmlformats.org/drawingml/2006/main">
              <a:ext uri="{FF2B5EF4-FFF2-40B4-BE49-F238E27FC236}">
                <a16:creationId xmlns:a16="http://schemas.microsoft.com/office/drawing/2014/main" id="{E4FC2845-3C86-41C3-AFB5-DA096EA71E8D}"/>
              </a:ext>
            </a:extLst>
          </p:cNvPr>
          <p:cNvSpPr>
            <a:spLocks xmlns:a="http://schemas.openxmlformats.org/drawingml/2006/main" noGrp="1"/>
          </p:cNvSpPr>
          <p:nvPr/>
        </p:nvSpPr>
        <p:spPr>
          <a:xfrm xmlns:a="http://schemas.openxmlformats.org/drawingml/2006/main">
            <a:off x="685800" y="2686050"/>
            <a:ext cx="2190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100" b="0">
                <a:solidFill>
                  <a:srgbClr val="BF7947"/>
                </a:solidFill>
                <a:latin typeface="Georgia"/>
                <a:ea typeface="Georgia"/>
                <a:cs typeface="Georgia"/>
              </a:defRPr>
            </a:defPPr>
          </a:lstStyle>
          <a:p xmlns:a="http://schemas.openxmlformats.org/drawingml/2006/main">
            <a:pPr algn="l">
              <a:defRPr sz="8100" b="0">
                <a:solidFill>
                  <a:srgbClr val="BF7947"/>
                </a:solidFill>
                <a:latin typeface="Georgia"/>
                <a:ea typeface="Georgia"/>
                <a:cs typeface="Georgia"/>
              </a:defRPr>
            </a:pPr>
            <a:r>
              <a:rPr sz="8100" b="0">
                <a:solidFill>
                  <a:srgbClr val="BF7947"/>
                </a:solidFill>
                <a:latin typeface="Georgia"/>
                <a:ea typeface="Georgia"/>
                <a:cs typeface="Georgia"/>
              </a:rPr>
              <a:t>4</a:t>
            </a:r>
          </a:p>
        </p:txBody>
      </p:sp>
      <p:sp>
        <p:nvSpPr>
          <p:cNvPr id="8" name="cafes interviewed">
            <a:extLst xmlns:a="http://schemas.openxmlformats.org/drawingml/2006/main">
              <a:ext uri="{FF2B5EF4-FFF2-40B4-BE49-F238E27FC236}">
                <a16:creationId xmlns:a16="http://schemas.microsoft.com/office/drawing/2014/main" id="{55BBDB49-90AB-4F25-B123-36B3D8F53F0E}"/>
              </a:ext>
            </a:extLst>
          </p:cNvPr>
          <p:cNvSpPr>
            <a:spLocks xmlns:a="http://schemas.openxmlformats.org/drawingml/2006/main" noGrp="1"/>
          </p:cNvSpPr>
          <p:nvPr/>
        </p:nvSpPr>
        <p:spPr>
          <a:xfrm xmlns:a="http://schemas.openxmlformats.org/drawingml/2006/main">
            <a:off x="723900" y="4010025"/>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53D30"/>
                </a:solidFill>
                <a:latin typeface="Arial"/>
                <a:ea typeface="Arial"/>
                <a:cs typeface="Arial"/>
              </a:defRPr>
            </a:defPPr>
          </a:lstStyle>
          <a:p xmlns:a="http://schemas.openxmlformats.org/drawingml/2006/main">
            <a:pPr algn="l">
              <a:defRPr sz="1950" b="1">
                <a:solidFill>
                  <a:srgbClr val="253D30"/>
                </a:solidFill>
                <a:latin typeface="Arial"/>
                <a:ea typeface="Arial"/>
                <a:cs typeface="Arial"/>
              </a:defRPr>
            </a:pPr>
            <a:r>
              <a:rPr sz="1950" b="1">
                <a:solidFill>
                  <a:srgbClr val="253D30"/>
                </a:solidFill>
                <a:latin typeface="Arial"/>
                <a:ea typeface="Arial"/>
                <a:cs typeface="Arial"/>
              </a:rPr>
              <a:t>cafes interviewed</a:t>
            </a:r>
          </a:p>
        </p:txBody>
      </p:sp>
      <p:sp>
        <p:nvSpPr>
          <p:cNvPr id="9" name="Team-reported&#10;qualitative feedback">
            <a:extLst xmlns:a="http://schemas.openxmlformats.org/drawingml/2006/main">
              <a:ext uri="{FF2B5EF4-FFF2-40B4-BE49-F238E27FC236}">
                <a16:creationId xmlns:a16="http://schemas.microsoft.com/office/drawing/2014/main" id="{A70117C4-C867-4F0C-AF83-11CD61ACD5E6}"/>
              </a:ext>
            </a:extLst>
          </p:cNvPr>
          <p:cNvSpPr>
            <a:spLocks xmlns:a="http://schemas.openxmlformats.org/drawingml/2006/main" noGrp="1"/>
          </p:cNvSpPr>
          <p:nvPr/>
        </p:nvSpPr>
        <p:spPr>
          <a:xfrm xmlns:a="http://schemas.openxmlformats.org/drawingml/2006/main">
            <a:off x="723900" y="4600575"/>
            <a:ext cx="2524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17066"/>
                </a:solidFill>
                <a:latin typeface="Arial"/>
                <a:ea typeface="Arial"/>
                <a:cs typeface="Arial"/>
              </a:defRPr>
            </a:defPPr>
          </a:lstStyle>
          <a:p xmlns:a="http://schemas.openxmlformats.org/drawingml/2006/main">
            <a:pPr algn="l">
              <a:defRPr sz="1725" b="0">
                <a:solidFill>
                  <a:srgbClr val="617066"/>
                </a:solidFill>
                <a:latin typeface="Arial"/>
                <a:ea typeface="Arial"/>
                <a:cs typeface="Arial"/>
              </a:defRPr>
            </a:pPr>
            <a:r>
              <a:rPr sz="1725" b="0">
                <a:solidFill>
                  <a:srgbClr val="617066"/>
                </a:solidFill>
                <a:latin typeface="Arial"/>
                <a:ea typeface="Arial"/>
                <a:cs typeface="Arial"/>
              </a:rPr>
              <a:t>Team-reported</a:t>
            </a:r>
          </a:p>
          <a:p xmlns:a="http://schemas.openxmlformats.org/drawingml/2006/main">
            <a:pPr algn="l">
              <a:defRPr sz="1725" b="0">
                <a:solidFill>
                  <a:srgbClr val="617066"/>
                </a:solidFill>
                <a:latin typeface="Arial"/>
                <a:ea typeface="Arial"/>
                <a:cs typeface="Arial"/>
              </a:defRPr>
            </a:pPr>
            <a:r>
              <a:rPr sz="1725" b="0">
                <a:solidFill>
                  <a:srgbClr val="617066"/>
                </a:solidFill>
                <a:latin typeface="Arial"/>
                <a:ea typeface="Arial"/>
                <a:cs typeface="Arial"/>
              </a:rPr>
              <a:t>qualitative feedback</a:t>
            </a:r>
          </a:p>
        </p:txBody>
      </p:sp>
      <p:sp>
        <p:nvSpPr>
          <p:cNvPr id="10" name="Recurring spent grounds">
            <a:extLst xmlns:a="http://schemas.openxmlformats.org/drawingml/2006/main">
              <a:ext uri="{FF2B5EF4-FFF2-40B4-BE49-F238E27FC236}">
                <a16:creationId xmlns:a16="http://schemas.microsoft.com/office/drawing/2014/main" id="{26E13280-2B5F-4E13-81FB-96E91BDE1381}"/>
              </a:ext>
            </a:extLst>
          </p:cNvPr>
          <p:cNvSpPr>
            <a:spLocks xmlns:a="http://schemas.openxmlformats.org/drawingml/2006/main" noGrp="1"/>
          </p:cNvSpPr>
          <p:nvPr/>
        </p:nvSpPr>
        <p:spPr>
          <a:xfrm xmlns:a="http://schemas.openxmlformats.org/drawingml/2006/main">
            <a:off x="3810000" y="2657475"/>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53D30"/>
                </a:solidFill>
                <a:latin typeface="Arial"/>
                <a:ea typeface="Arial"/>
                <a:cs typeface="Arial"/>
              </a:defRPr>
            </a:defPPr>
          </a:lstStyle>
          <a:p xmlns:a="http://schemas.openxmlformats.org/drawingml/2006/main">
            <a:pPr algn="l">
              <a:defRPr sz="2025" b="1">
                <a:solidFill>
                  <a:srgbClr val="253D30"/>
                </a:solidFill>
                <a:latin typeface="Arial"/>
                <a:ea typeface="Arial"/>
                <a:cs typeface="Arial"/>
              </a:defRPr>
            </a:pPr>
            <a:r>
              <a:rPr sz="2025" b="1">
                <a:solidFill>
                  <a:srgbClr val="253D30"/>
                </a:solidFill>
                <a:latin typeface="Arial"/>
                <a:ea typeface="Arial"/>
                <a:cs typeface="Arial"/>
              </a:rPr>
              <a:t>Recurring spent grounds</a:t>
            </a:r>
          </a:p>
        </p:txBody>
      </p:sp>
      <p:sp>
        <p:nvSpPr>
          <p:cNvPr id="11" name="Grounds commonly go in bins; actual disposal desti">
            <a:extLst xmlns:a="http://schemas.openxmlformats.org/drawingml/2006/main">
              <a:ext uri="{FF2B5EF4-FFF2-40B4-BE49-F238E27FC236}">
                <a16:creationId xmlns:a16="http://schemas.microsoft.com/office/drawing/2014/main" id="{DEE87ABA-CE57-48B9-AAF5-B37B8916330C}"/>
              </a:ext>
            </a:extLst>
          </p:cNvPr>
          <p:cNvSpPr>
            <a:spLocks xmlns:a="http://schemas.openxmlformats.org/drawingml/2006/main" noGrp="1"/>
          </p:cNvSpPr>
          <p:nvPr/>
        </p:nvSpPr>
        <p:spPr>
          <a:xfrm xmlns:a="http://schemas.openxmlformats.org/drawingml/2006/main">
            <a:off x="3810000" y="3028950"/>
            <a:ext cx="752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53D30"/>
                </a:solidFill>
                <a:latin typeface="Arial"/>
                <a:ea typeface="Arial"/>
                <a:cs typeface="Arial"/>
              </a:defRPr>
            </a:defPPr>
          </a:lstStyle>
          <a:p xmlns:a="http://schemas.openxmlformats.org/drawingml/2006/main">
            <a:pPr algn="l">
              <a:defRPr sz="1725" b="0">
                <a:solidFill>
                  <a:srgbClr val="253D30"/>
                </a:solidFill>
                <a:latin typeface="Arial"/>
                <a:ea typeface="Arial"/>
                <a:cs typeface="Arial"/>
              </a:defRPr>
            </a:pPr>
            <a:r>
              <a:rPr sz="1725" b="0">
                <a:solidFill>
                  <a:srgbClr val="253D30"/>
                </a:solidFill>
                <a:latin typeface="Arial"/>
                <a:ea typeface="Arial"/>
                <a:cs typeface="Arial"/>
              </a:rPr>
              <a:t>Grounds commonly go in bins; actual disposal destinations need checking.</a:t>
            </a:r>
          </a:p>
        </p:txBody>
      </p:sp>
      <p:sp>
        <p:nvSpPr>
          <p:cNvPr id="12" name="Occasional surplus beans">
            <a:extLst xmlns:a="http://schemas.openxmlformats.org/drawingml/2006/main">
              <a:ext uri="{FF2B5EF4-FFF2-40B4-BE49-F238E27FC236}">
                <a16:creationId xmlns:a16="http://schemas.microsoft.com/office/drawing/2014/main" id="{D7E8E99C-0B11-4521-BD5E-9D89A93A0542}"/>
              </a:ext>
            </a:extLst>
          </p:cNvPr>
          <p:cNvSpPr>
            <a:spLocks xmlns:a="http://schemas.openxmlformats.org/drawingml/2006/main" noGrp="1"/>
          </p:cNvSpPr>
          <p:nvPr/>
        </p:nvSpPr>
        <p:spPr>
          <a:xfrm xmlns:a="http://schemas.openxmlformats.org/drawingml/2006/main">
            <a:off x="3810000" y="3724275"/>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53D30"/>
                </a:solidFill>
                <a:latin typeface="Arial"/>
                <a:ea typeface="Arial"/>
                <a:cs typeface="Arial"/>
              </a:defRPr>
            </a:defPPr>
          </a:lstStyle>
          <a:p xmlns:a="http://schemas.openxmlformats.org/drawingml/2006/main">
            <a:pPr algn="l">
              <a:defRPr sz="2025" b="1">
                <a:solidFill>
                  <a:srgbClr val="253D30"/>
                </a:solidFill>
                <a:latin typeface="Arial"/>
                <a:ea typeface="Arial"/>
                <a:cs typeface="Arial"/>
              </a:defRPr>
            </a:pPr>
            <a:r>
              <a:rPr sz="2025" b="1">
                <a:solidFill>
                  <a:srgbClr val="253D30"/>
                </a:solidFill>
                <a:latin typeface="Arial"/>
                <a:ea typeface="Arial"/>
                <a:cs typeface="Arial"/>
              </a:rPr>
              <a:t>Occasional surplus beans</a:t>
            </a:r>
          </a:p>
        </p:txBody>
      </p:sp>
      <p:sp>
        <p:nvSpPr>
          <p:cNvPr id="13" name="Usable leftovers sometimes need another buyer or c">
            <a:extLst xmlns:a="http://schemas.openxmlformats.org/drawingml/2006/main">
              <a:ext uri="{FF2B5EF4-FFF2-40B4-BE49-F238E27FC236}">
                <a16:creationId xmlns:a16="http://schemas.microsoft.com/office/drawing/2014/main" id="{AF838769-C246-40BF-A244-F5D65E20E249}"/>
              </a:ext>
            </a:extLst>
          </p:cNvPr>
          <p:cNvSpPr>
            <a:spLocks xmlns:a="http://schemas.openxmlformats.org/drawingml/2006/main" noGrp="1"/>
          </p:cNvSpPr>
          <p:nvPr/>
        </p:nvSpPr>
        <p:spPr>
          <a:xfrm xmlns:a="http://schemas.openxmlformats.org/drawingml/2006/main">
            <a:off x="3810000" y="4095750"/>
            <a:ext cx="752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53D30"/>
                </a:solidFill>
                <a:latin typeface="Arial"/>
                <a:ea typeface="Arial"/>
                <a:cs typeface="Arial"/>
              </a:defRPr>
            </a:defPPr>
          </a:lstStyle>
          <a:p xmlns:a="http://schemas.openxmlformats.org/drawingml/2006/main">
            <a:pPr algn="l">
              <a:defRPr sz="1725" b="0">
                <a:solidFill>
                  <a:srgbClr val="253D30"/>
                </a:solidFill>
                <a:latin typeface="Arial"/>
                <a:ea typeface="Arial"/>
                <a:cs typeface="Arial"/>
              </a:defRPr>
            </a:pPr>
            <a:r>
              <a:rPr sz="1725" b="0">
                <a:solidFill>
                  <a:srgbClr val="253D30"/>
                </a:solidFill>
                <a:latin typeface="Arial"/>
                <a:ea typeface="Arial"/>
                <a:cs typeface="Arial"/>
              </a:rPr>
              <a:t>Usable leftovers sometimes need another buyer or cafe before freshness declines.</a:t>
            </a:r>
          </a:p>
        </p:txBody>
      </p:sp>
      <p:sp>
        <p:nvSpPr>
          <p:cNvPr id="14" name="Inconsistent arrangements">
            <a:extLst xmlns:a="http://schemas.openxmlformats.org/drawingml/2006/main">
              <a:ext uri="{FF2B5EF4-FFF2-40B4-BE49-F238E27FC236}">
                <a16:creationId xmlns:a16="http://schemas.microsoft.com/office/drawing/2014/main" id="{783F7D8A-1B41-4FFB-9623-C9FD7AECB99F}"/>
              </a:ext>
            </a:extLst>
          </p:cNvPr>
          <p:cNvSpPr>
            <a:spLocks xmlns:a="http://schemas.openxmlformats.org/drawingml/2006/main" noGrp="1"/>
          </p:cNvSpPr>
          <p:nvPr/>
        </p:nvSpPr>
        <p:spPr>
          <a:xfrm xmlns:a="http://schemas.openxmlformats.org/drawingml/2006/main">
            <a:off x="3810000" y="4791075"/>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53D30"/>
                </a:solidFill>
                <a:latin typeface="Arial"/>
                <a:ea typeface="Arial"/>
                <a:cs typeface="Arial"/>
              </a:defRPr>
            </a:defPPr>
          </a:lstStyle>
          <a:p xmlns:a="http://schemas.openxmlformats.org/drawingml/2006/main">
            <a:pPr algn="l">
              <a:defRPr sz="2025" b="1">
                <a:solidFill>
                  <a:srgbClr val="253D30"/>
                </a:solidFill>
                <a:latin typeface="Arial"/>
                <a:ea typeface="Arial"/>
                <a:cs typeface="Arial"/>
              </a:defRPr>
            </a:pPr>
            <a:r>
              <a:rPr sz="2025" b="1">
                <a:solidFill>
                  <a:srgbClr val="253D30"/>
                </a:solidFill>
                <a:latin typeface="Arial"/>
                <a:ea typeface="Arial"/>
                <a:cs typeface="Arial"/>
              </a:rPr>
              <a:t>Inconsistent arrangements</a:t>
            </a:r>
          </a:p>
        </p:txBody>
      </p:sp>
      <p:sp>
        <p:nvSpPr>
          <p:cNvPr id="15" name="Some cafes already use agricultural collection; ot">
            <a:extLst xmlns:a="http://schemas.openxmlformats.org/drawingml/2006/main">
              <a:ext uri="{FF2B5EF4-FFF2-40B4-BE49-F238E27FC236}">
                <a16:creationId xmlns:a16="http://schemas.microsoft.com/office/drawing/2014/main" id="{B4A0CA16-34E0-40B0-B938-5FA3159171E5}"/>
              </a:ext>
            </a:extLst>
          </p:cNvPr>
          <p:cNvSpPr>
            <a:spLocks xmlns:a="http://schemas.openxmlformats.org/drawingml/2006/main" noGrp="1"/>
          </p:cNvSpPr>
          <p:nvPr/>
        </p:nvSpPr>
        <p:spPr>
          <a:xfrm xmlns:a="http://schemas.openxmlformats.org/drawingml/2006/main">
            <a:off x="3810000" y="5162550"/>
            <a:ext cx="752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53D30"/>
                </a:solidFill>
                <a:latin typeface="Arial"/>
                <a:ea typeface="Arial"/>
                <a:cs typeface="Arial"/>
              </a:defRPr>
            </a:defPPr>
          </a:lstStyle>
          <a:p xmlns:a="http://schemas.openxmlformats.org/drawingml/2006/main">
            <a:pPr algn="l">
              <a:defRPr sz="1725" b="0">
                <a:solidFill>
                  <a:srgbClr val="253D30"/>
                </a:solidFill>
                <a:latin typeface="Arial"/>
                <a:ea typeface="Arial"/>
                <a:cs typeface="Arial"/>
              </a:defRPr>
            </a:pPr>
            <a:r>
              <a:rPr sz="1725" b="0">
                <a:solidFill>
                  <a:srgbClr val="253D30"/>
                </a:solidFill>
                <a:latin typeface="Arial"/>
                <a:ea typeface="Arial"/>
                <a:cs typeface="Arial"/>
              </a:rPr>
              <a:t>Some cafes already use agricultural collection; others lack a repeatable system.</a:t>
            </a:r>
          </a:p>
        </p:txBody>
      </p:sp>
      <p:sp>
        <p:nvSpPr>
          <p:cNvPr id="16" name="Early problem evidence only: no measured volumes, ">
            <a:extLst xmlns:a="http://schemas.openxmlformats.org/drawingml/2006/main">
              <a:ext uri="{FF2B5EF4-FFF2-40B4-BE49-F238E27FC236}">
                <a16:creationId xmlns:a16="http://schemas.microsoft.com/office/drawing/2014/main" id="{140F7169-D9B2-4E37-94AE-50FBE39FF345}"/>
              </a:ext>
            </a:extLst>
          </p:cNvPr>
          <p:cNvSpPr>
            <a:spLocks xmlns:a="http://schemas.openxmlformats.org/drawingml/2006/main" noGrp="1"/>
          </p:cNvSpPr>
          <p:nvPr/>
        </p:nvSpPr>
        <p:spPr>
          <a:xfrm xmlns:a="http://schemas.openxmlformats.org/drawingml/2006/main">
            <a:off x="685800" y="580072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17066"/>
                </a:solidFill>
                <a:latin typeface="Arial"/>
                <a:ea typeface="Arial"/>
                <a:cs typeface="Arial"/>
              </a:defRPr>
            </a:defPPr>
          </a:lstStyle>
          <a:p xmlns:a="http://schemas.openxmlformats.org/drawingml/2006/main">
            <a:pPr algn="l">
              <a:defRPr sz="1350" b="0">
                <a:solidFill>
                  <a:srgbClr val="617066"/>
                </a:solidFill>
                <a:latin typeface="Arial"/>
                <a:ea typeface="Arial"/>
                <a:cs typeface="Arial"/>
              </a:defRPr>
            </a:pPr>
            <a:r>
              <a:rPr sz="1350" b="0">
                <a:solidFill>
                  <a:srgbClr val="617066"/>
                </a:solidFill>
                <a:latin typeface="Arial"/>
                <a:ea typeface="Arial"/>
                <a:cs typeface="Arial"/>
              </a:rPr>
              <a:t>Early problem evidence only: no measured volumes, verified landfill routes or commitments to pay.</a:t>
            </a:r>
          </a:p>
        </p:txBody>
      </p:sp>
    </p:spTree>
    <p:extLst>
      <p:ext uri="{BB962C8B-B14F-4D97-AF65-F5344CB8AC3E}">
        <p14:creationId xmlns:p14="http://schemas.microsoft.com/office/powerpoint/2010/main" val="342722076"/>
      </p:ext>
    </p:extLst>
  </p:cSld>
</p:sld>
</file>

<file path=ppt/slides/slide3.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9" name="NILE  /  COP31 ALIGNMENT">
            <a:extLst xmlns:a="http://schemas.openxmlformats.org/drawingml/2006/main">
              <a:ext uri="{FF2B5EF4-FFF2-40B4-BE49-F238E27FC236}">
                <a16:creationId xmlns:a16="http://schemas.microsoft.com/office/drawing/2014/main" id="{94048E15-D375-441C-B0BB-822F87751237}"/>
              </a:ext>
            </a:extLst>
          </p:cNvPr>
          <p:cNvSpPr>
            <a:spLocks xmlns:a="http://schemas.openxmlformats.org/drawingml/2006/main" noGrp="1"/>
          </p:cNvSpPr>
          <p:nvPr/>
        </p:nvSpPr>
        <p:spPr>
          <a:xfrm xmlns:a="http://schemas.openxmlformats.org/drawingml/2006/main">
            <a:off x="685800" y="381000"/>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BF7947"/>
                </a:solidFill>
                <a:latin typeface="Arial"/>
                <a:ea typeface="Arial"/>
                <a:cs typeface="Arial"/>
              </a:defRPr>
            </a:defPPr>
          </a:lstStyle>
          <a:p xmlns:a="http://schemas.openxmlformats.org/drawingml/2006/main">
            <a:pPr algn="l">
              <a:defRPr sz="1200" b="1">
                <a:solidFill>
                  <a:srgbClr val="BF7947"/>
                </a:solidFill>
                <a:latin typeface="Arial"/>
                <a:ea typeface="Arial"/>
                <a:cs typeface="Arial"/>
              </a:defRPr>
            </a:pPr>
            <a:r>
              <a:rPr sz="1200" b="1">
                <a:solidFill>
                  <a:srgbClr val="BF7947"/>
                </a:solidFill>
                <a:latin typeface="Arial"/>
                <a:ea typeface="Arial"/>
                <a:cs typeface="Arial"/>
              </a:rPr>
              <a:t>NILE  /  COP31 ALIGNMENT</a:t>
            </a:r>
          </a:p>
        </p:txBody>
      </p:sp>
      <p:sp>
        <p:nvSpPr>
          <p:cNvPr id="2" name="Three priorities. One practical workflow.">
            <a:extLst xmlns:a="http://schemas.openxmlformats.org/drawingml/2006/main">
              <a:ext uri="{FF2B5EF4-FFF2-40B4-BE49-F238E27FC236}">
                <a16:creationId xmlns:a16="http://schemas.microsoft.com/office/drawing/2014/main" id="{6CC3D522-CDE3-47BE-84B1-CBCA0ED0F5BB}"/>
              </a:ext>
            </a:extLst>
          </p:cNvPr>
          <p:cNvSpPr>
            <a:spLocks xmlns:a="http://schemas.openxmlformats.org/drawingml/2006/main" noGrp="1"/>
          </p:cNvSpPr>
          <p:nvPr/>
        </p:nvSpPr>
        <p:spPr>
          <a:xfrm xmlns:a="http://schemas.openxmlformats.org/drawingml/2006/main">
            <a:off x="685800" y="809625"/>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0">
                <a:solidFill>
                  <a:srgbClr val="253D30"/>
                </a:solidFill>
                <a:latin typeface="Georgia"/>
                <a:ea typeface="Georgia"/>
                <a:cs typeface="Georgia"/>
              </a:defRPr>
            </a:defPPr>
          </a:lstStyle>
          <a:p xmlns:a="http://schemas.openxmlformats.org/drawingml/2006/main">
            <a:pPr algn="l">
              <a:defRPr sz="3375" b="0">
                <a:solidFill>
                  <a:srgbClr val="253D30"/>
                </a:solidFill>
                <a:latin typeface="Georgia"/>
                <a:ea typeface="Georgia"/>
                <a:cs typeface="Georgia"/>
              </a:defRPr>
            </a:pPr>
            <a:r>
              <a:rPr sz="3375" b="0">
                <a:solidFill>
                  <a:srgbClr val="253D30"/>
                </a:solidFill>
                <a:latin typeface="Georgia"/>
                <a:ea typeface="Georgia"/>
                <a:cs typeface="Georgia"/>
              </a:rPr>
              <a:t>Three priorities. One practical workflow.</a:t>
            </a:r>
          </a:p>
        </p:txBody>
      </p:sp>
      <p:sp>
        <p:nvSpPr>
          <p:cNvPr id="3" name="For Australian cafes, accepting processors and col">
            <a:extLst xmlns:a="http://schemas.openxmlformats.org/drawingml/2006/main">
              <a:ext uri="{FF2B5EF4-FFF2-40B4-BE49-F238E27FC236}">
                <a16:creationId xmlns:a16="http://schemas.microsoft.com/office/drawing/2014/main" id="{1811B2F9-F3B2-4761-9A78-AEF9FF54D33B}"/>
              </a:ext>
            </a:extLst>
          </p:cNvPr>
          <p:cNvSpPr>
            <a:spLocks xmlns:a="http://schemas.openxmlformats.org/drawingml/2006/main" noGrp="1"/>
          </p:cNvSpPr>
          <p:nvPr/>
        </p:nvSpPr>
        <p:spPr>
          <a:xfrm xmlns:a="http://schemas.openxmlformats.org/drawingml/2006/main">
            <a:off x="685800" y="185737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17066"/>
                </a:solidFill>
                <a:latin typeface="Arial"/>
                <a:ea typeface="Arial"/>
                <a:cs typeface="Arial"/>
              </a:defRPr>
            </a:defPPr>
          </a:lstStyle>
          <a:p xmlns:a="http://schemas.openxmlformats.org/drawingml/2006/main">
            <a:pPr algn="l">
              <a:defRPr sz="1725" b="0">
                <a:solidFill>
                  <a:srgbClr val="617066"/>
                </a:solidFill>
                <a:latin typeface="Arial"/>
                <a:ea typeface="Arial"/>
                <a:cs typeface="Arial"/>
              </a:defRPr>
            </a:pPr>
            <a:r>
              <a:rPr sz="1725" b="0">
                <a:solidFill>
                  <a:srgbClr val="617066"/>
                </a:solidFill>
                <a:latin typeface="Arial"/>
                <a:ea typeface="Arial"/>
                <a:cs typeface="Arial"/>
              </a:rPr>
              <a:t>For Australian cafes, accepting processors and collectors: make coffee circularity easier to adopt and measure.</a:t>
            </a:r>
          </a:p>
        </p:txBody>
      </p:sp>
      <p:sp>
        <p:nvSpPr>
          <p:cNvPr id="4" name="">
            <a:extLst xmlns:a="http://schemas.openxmlformats.org/drawingml/2006/main">
              <a:ext uri="{FF2B5EF4-FFF2-40B4-BE49-F238E27FC236}">
                <a16:creationId xmlns:a16="http://schemas.microsoft.com/office/drawing/2014/main" id="{6EBEDEAC-715C-4CC2-A4B5-C49F435115B9}"/>
              </a:ext>
            </a:extLst>
          </p:cNvPr>
          <p:cNvSpPr>
            <a:spLocks xmlns:a="http://schemas.openxmlformats.org/drawingml/2006/main" noGrp="1"/>
          </p:cNvSpPr>
          <p:nvPr/>
        </p:nvSpPr>
        <p:spPr>
          <a:xfrm xmlns:a="http://schemas.openxmlformats.org/drawingml/2006/main">
            <a:off x="685800" y="6296025"/>
            <a:ext cx="10820400" cy="14288"/>
          </a:xfrm>
          <a:prstGeom xmlns:a="http://schemas.openxmlformats.org/drawingml/2006/main" prst="rect">
            <a:avLst/>
          </a:prstGeom>
          <a:solidFill xmlns:a="http://schemas.openxmlformats.org/drawingml/2006/main">
            <a:srgbClr val="CDD4C6"/>
          </a:solidFill>
          <a:ln xmlns:a="http://schemas.openxmlformats.org/drawingml/2006/main" w="0">
            <a:noFill/>
          </a:ln>
        </p:spPr>
      </p:sp>
      <p:sp>
        <p:nvSpPr>
          <p:cNvPr id="5" name="Nile • Climate Hack-tion • 4 October 2026">
            <a:extLst xmlns:a="http://schemas.openxmlformats.org/drawingml/2006/main">
              <a:ext uri="{FF2B5EF4-FFF2-40B4-BE49-F238E27FC236}">
                <a16:creationId xmlns:a16="http://schemas.microsoft.com/office/drawing/2014/main" id="{990B7E40-7960-4EA4-A9EE-8072FF2D89AE}"/>
              </a:ext>
            </a:extLst>
          </p:cNvPr>
          <p:cNvSpPr>
            <a:spLocks xmlns:a="http://schemas.openxmlformats.org/drawingml/2006/main" noGrp="1"/>
          </p:cNvSpPr>
          <p:nvPr/>
        </p:nvSpPr>
        <p:spPr>
          <a:xfrm xmlns:a="http://schemas.openxmlformats.org/drawingml/2006/main">
            <a:off x="685800" y="6448425"/>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066"/>
                </a:solidFill>
                <a:latin typeface="Arial"/>
                <a:ea typeface="Arial"/>
                <a:cs typeface="Arial"/>
              </a:defRPr>
            </a:defPPr>
          </a:lstStyle>
          <a:p xmlns:a="http://schemas.openxmlformats.org/drawingml/2006/main">
            <a:pPr algn="l">
              <a:defRPr sz="1050" b="0">
                <a:solidFill>
                  <a:srgbClr val="617066"/>
                </a:solidFill>
                <a:latin typeface="Arial"/>
                <a:ea typeface="Arial"/>
                <a:cs typeface="Arial"/>
              </a:defRPr>
            </a:pPr>
            <a:r>
              <a:rPr sz="1050" b="0">
                <a:solidFill>
                  <a:srgbClr val="617066"/>
                </a:solidFill>
                <a:latin typeface="Arial"/>
                <a:ea typeface="Arial"/>
                <a:cs typeface="Arial"/>
              </a:rPr>
              <a:t>Nile • Climate Hack-tion • 4 October 2026</a:t>
            </a:r>
          </a:p>
        </p:txBody>
      </p:sp>
      <p:sp>
        <p:nvSpPr>
          <p:cNvPr id="6" name="03">
            <a:extLst xmlns:a="http://schemas.openxmlformats.org/drawingml/2006/main">
              <a:ext uri="{FF2B5EF4-FFF2-40B4-BE49-F238E27FC236}">
                <a16:creationId xmlns:a16="http://schemas.microsoft.com/office/drawing/2014/main" id="{9FF02579-3A4C-4F93-86DB-EB29FE124BCA}"/>
              </a:ext>
            </a:extLst>
          </p:cNvPr>
          <p:cNvSpPr>
            <a:spLocks xmlns:a="http://schemas.openxmlformats.org/drawingml/2006/main" noGrp="1"/>
          </p:cNvSpPr>
          <p:nvPr/>
        </p:nvSpPr>
        <p:spPr>
          <a:xfrm xmlns:a="http://schemas.openxmlformats.org/drawingml/2006/main">
            <a:off x="10953750" y="64293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BF7947"/>
                </a:solidFill>
                <a:latin typeface="Arial"/>
                <a:ea typeface="Arial"/>
                <a:cs typeface="Arial"/>
              </a:defRPr>
            </a:defPPr>
          </a:lstStyle>
          <a:p xmlns:a="http://schemas.openxmlformats.org/drawingml/2006/main">
            <a:pPr algn="r">
              <a:defRPr sz="1200" b="0">
                <a:solidFill>
                  <a:srgbClr val="BF7947"/>
                </a:solidFill>
                <a:latin typeface="Arial"/>
                <a:ea typeface="Arial"/>
                <a:cs typeface="Arial"/>
              </a:defRPr>
            </a:pPr>
            <a:r>
              <a:rPr sz="1200" b="0">
                <a:solidFill>
                  <a:srgbClr val="BF7947"/>
                </a:solidFill>
                <a:latin typeface="Arial"/>
                <a:ea typeface="Arial"/>
                <a:cs typeface="Arial"/>
              </a:rPr>
              <a:t>03</a:t>
            </a:r>
          </a:p>
        </p:txBody>
      </p:sp>
      <p:sp>
        <p:nvSpPr>
          <p:cNvPr id="7" name="01">
            <a:extLst xmlns:a="http://schemas.openxmlformats.org/drawingml/2006/main">
              <a:ext uri="{FF2B5EF4-FFF2-40B4-BE49-F238E27FC236}">
                <a16:creationId xmlns:a16="http://schemas.microsoft.com/office/drawing/2014/main" id="{73585D53-2930-437B-B13B-551ACA42E32C}"/>
              </a:ext>
            </a:extLst>
          </p:cNvPr>
          <p:cNvSpPr>
            <a:spLocks xmlns:a="http://schemas.openxmlformats.org/drawingml/2006/main" noGrp="1"/>
          </p:cNvSpPr>
          <p:nvPr/>
        </p:nvSpPr>
        <p:spPr>
          <a:xfrm xmlns:a="http://schemas.openxmlformats.org/drawingml/2006/main">
            <a:off x="685800" y="27432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F7947"/>
                </a:solidFill>
                <a:latin typeface="Arial"/>
                <a:ea typeface="Arial"/>
                <a:cs typeface="Arial"/>
              </a:defRPr>
            </a:defPPr>
          </a:lstStyle>
          <a:p xmlns:a="http://schemas.openxmlformats.org/drawingml/2006/main">
            <a:pPr algn="l">
              <a:defRPr sz="1500" b="1">
                <a:solidFill>
                  <a:srgbClr val="BF7947"/>
                </a:solidFill>
                <a:latin typeface="Arial"/>
                <a:ea typeface="Arial"/>
                <a:cs typeface="Arial"/>
              </a:defRPr>
            </a:pPr>
            <a:r>
              <a:rPr sz="1500" b="1">
                <a:solidFill>
                  <a:srgbClr val="BF7947"/>
                </a:solidFill>
                <a:latin typeface="Arial"/>
                <a:ea typeface="Arial"/>
                <a:cs typeface="Arial"/>
              </a:rPr>
              <a:t>01</a:t>
            </a:r>
          </a:p>
        </p:txBody>
      </p:sp>
      <p:sp>
        <p:nvSpPr>
          <p:cNvPr id="8" name="Zero Waste &amp;&#10;Methane Reduction">
            <a:extLst xmlns:a="http://schemas.openxmlformats.org/drawingml/2006/main">
              <a:ext uri="{FF2B5EF4-FFF2-40B4-BE49-F238E27FC236}">
                <a16:creationId xmlns:a16="http://schemas.microsoft.com/office/drawing/2014/main" id="{5D4E6CFA-1D66-4326-9D45-CB885EF61EB7}"/>
              </a:ext>
            </a:extLst>
          </p:cNvPr>
          <p:cNvSpPr>
            <a:spLocks xmlns:a="http://schemas.openxmlformats.org/drawingml/2006/main" noGrp="1"/>
          </p:cNvSpPr>
          <p:nvPr/>
        </p:nvSpPr>
        <p:spPr>
          <a:xfrm xmlns:a="http://schemas.openxmlformats.org/drawingml/2006/main">
            <a:off x="685800" y="3209925"/>
            <a:ext cx="3219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53D30"/>
                </a:solidFill>
                <a:latin typeface="Georgia"/>
                <a:ea typeface="Georgia"/>
                <a:cs typeface="Georgia"/>
              </a:defRPr>
            </a:defPPr>
          </a:lstStyle>
          <a:p xmlns:a="http://schemas.openxmlformats.org/drawingml/2006/main">
            <a:pPr algn="l">
              <a:defRPr sz="2325" b="0">
                <a:solidFill>
                  <a:srgbClr val="253D30"/>
                </a:solidFill>
                <a:latin typeface="Georgia"/>
                <a:ea typeface="Georgia"/>
                <a:cs typeface="Georgia"/>
              </a:defRPr>
            </a:pPr>
            <a:r>
              <a:rPr sz="2325" b="0">
                <a:solidFill>
                  <a:srgbClr val="253D30"/>
                </a:solidFill>
                <a:latin typeface="Georgia"/>
                <a:ea typeface="Georgia"/>
                <a:cs typeface="Georgia"/>
              </a:rPr>
              <a:t>Zero Waste &amp;</a:t>
            </a:r>
          </a:p>
          <a:p xmlns:a="http://schemas.openxmlformats.org/drawingml/2006/main">
            <a:pPr algn="l">
              <a:defRPr sz="2325" b="0">
                <a:solidFill>
                  <a:srgbClr val="253D30"/>
                </a:solidFill>
                <a:latin typeface="Georgia"/>
                <a:ea typeface="Georgia"/>
                <a:cs typeface="Georgia"/>
              </a:defRPr>
            </a:pPr>
            <a:r>
              <a:rPr sz="2325" b="0">
                <a:solidFill>
                  <a:srgbClr val="253D30"/>
                </a:solidFill>
                <a:latin typeface="Georgia"/>
                <a:ea typeface="Georgia"/>
                <a:cs typeface="Georgia"/>
              </a:rPr>
              <a:t>Methane Reduction</a:t>
            </a:r>
          </a:p>
        </p:txBody>
      </p:sp>
      <p:sp>
        <p:nvSpPr>
          <p:cNvPr id="9" name="Keep usable beans circulating; redirect eligible g">
            <a:extLst xmlns:a="http://schemas.openxmlformats.org/drawingml/2006/main">
              <a:ext uri="{FF2B5EF4-FFF2-40B4-BE49-F238E27FC236}">
                <a16:creationId xmlns:a16="http://schemas.microsoft.com/office/drawing/2014/main" id="{C6262A6A-FE4D-42F0-9C0A-1621ED0F233A}"/>
              </a:ext>
            </a:extLst>
          </p:cNvPr>
          <p:cNvSpPr>
            <a:spLocks xmlns:a="http://schemas.openxmlformats.org/drawingml/2006/main" noGrp="1"/>
          </p:cNvSpPr>
          <p:nvPr/>
        </p:nvSpPr>
        <p:spPr>
          <a:xfrm xmlns:a="http://schemas.openxmlformats.org/drawingml/2006/main">
            <a:off x="685800" y="4210050"/>
            <a:ext cx="32194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53D30"/>
                </a:solidFill>
                <a:latin typeface="Arial"/>
                <a:ea typeface="Arial"/>
                <a:cs typeface="Arial"/>
              </a:defRPr>
            </a:defPPr>
          </a:lstStyle>
          <a:p xmlns:a="http://schemas.openxmlformats.org/drawingml/2006/main">
            <a:pPr algn="l">
              <a:defRPr sz="1725" b="0">
                <a:solidFill>
                  <a:srgbClr val="253D30"/>
                </a:solidFill>
                <a:latin typeface="Arial"/>
                <a:ea typeface="Arial"/>
                <a:cs typeface="Arial"/>
              </a:defRPr>
            </a:pPr>
            <a:r>
              <a:rPr sz="1725" b="0">
                <a:solidFill>
                  <a:srgbClr val="253D30"/>
                </a:solidFill>
                <a:latin typeface="Arial"/>
                <a:ea typeface="Arial"/>
                <a:cs typeface="Arial"/>
              </a:rPr>
              <a:t>Keep usable beans circulating; redirect eligible grounds from landfill.</a:t>
            </a:r>
          </a:p>
        </p:txBody>
      </p:sp>
      <p:sp>
        <p:nvSpPr>
          <p:cNvPr id="10" name="Test: additional accepted mass and the actual disp">
            <a:extLst xmlns:a="http://schemas.openxmlformats.org/drawingml/2006/main">
              <a:ext uri="{FF2B5EF4-FFF2-40B4-BE49-F238E27FC236}">
                <a16:creationId xmlns:a16="http://schemas.microsoft.com/office/drawing/2014/main" id="{646E210C-DBBE-4A8C-9BEF-043F4118611C}"/>
              </a:ext>
            </a:extLst>
          </p:cNvPr>
          <p:cNvSpPr>
            <a:spLocks xmlns:a="http://schemas.openxmlformats.org/drawingml/2006/main" noGrp="1"/>
          </p:cNvSpPr>
          <p:nvPr/>
        </p:nvSpPr>
        <p:spPr>
          <a:xfrm xmlns:a="http://schemas.openxmlformats.org/drawingml/2006/main">
            <a:off x="685800" y="5362575"/>
            <a:ext cx="321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17066"/>
                </a:solidFill>
                <a:latin typeface="Arial"/>
                <a:ea typeface="Arial"/>
                <a:cs typeface="Arial"/>
              </a:defRPr>
            </a:defPPr>
          </a:lstStyle>
          <a:p xmlns:a="http://schemas.openxmlformats.org/drawingml/2006/main">
            <a:pPr algn="l">
              <a:defRPr sz="1500" b="0">
                <a:solidFill>
                  <a:srgbClr val="617066"/>
                </a:solidFill>
                <a:latin typeface="Arial"/>
                <a:ea typeface="Arial"/>
                <a:cs typeface="Arial"/>
              </a:defRPr>
            </a:pPr>
            <a:r>
              <a:rPr sz="1500" b="0">
                <a:solidFill>
                  <a:srgbClr val="617066"/>
                </a:solidFill>
                <a:latin typeface="Arial"/>
                <a:ea typeface="Arial"/>
                <a:cs typeface="Arial"/>
              </a:rPr>
              <a:t>Test: additional accepted mass and the actual disposal baseline.</a:t>
            </a:r>
          </a:p>
        </p:txBody>
      </p:sp>
      <p:sp>
        <p:nvSpPr>
          <p:cNvPr id="11" name="02">
            <a:extLst xmlns:a="http://schemas.openxmlformats.org/drawingml/2006/main">
              <a:ext uri="{FF2B5EF4-FFF2-40B4-BE49-F238E27FC236}">
                <a16:creationId xmlns:a16="http://schemas.microsoft.com/office/drawing/2014/main" id="{C9C85B72-EAAD-40DE-80E5-08172D9A91EC}"/>
              </a:ext>
            </a:extLst>
          </p:cNvPr>
          <p:cNvSpPr>
            <a:spLocks xmlns:a="http://schemas.openxmlformats.org/drawingml/2006/main" noGrp="1"/>
          </p:cNvSpPr>
          <p:nvPr/>
        </p:nvSpPr>
        <p:spPr>
          <a:xfrm xmlns:a="http://schemas.openxmlformats.org/drawingml/2006/main">
            <a:off x="4419600" y="27432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F7947"/>
                </a:solidFill>
                <a:latin typeface="Arial"/>
                <a:ea typeface="Arial"/>
                <a:cs typeface="Arial"/>
              </a:defRPr>
            </a:defPPr>
          </a:lstStyle>
          <a:p xmlns:a="http://schemas.openxmlformats.org/drawingml/2006/main">
            <a:pPr algn="l">
              <a:defRPr sz="1500" b="1">
                <a:solidFill>
                  <a:srgbClr val="BF7947"/>
                </a:solidFill>
                <a:latin typeface="Arial"/>
                <a:ea typeface="Arial"/>
                <a:cs typeface="Arial"/>
              </a:defRPr>
            </a:pPr>
            <a:r>
              <a:rPr sz="1500" b="1">
                <a:solidFill>
                  <a:srgbClr val="BF7947"/>
                </a:solidFill>
                <a:latin typeface="Arial"/>
                <a:ea typeface="Arial"/>
                <a:cs typeface="Arial"/>
              </a:rPr>
              <a:t>02</a:t>
            </a:r>
          </a:p>
        </p:txBody>
      </p:sp>
      <p:sp>
        <p:nvSpPr>
          <p:cNvPr id="12" name="Green&#10;Industrialisation">
            <a:extLst xmlns:a="http://schemas.openxmlformats.org/drawingml/2006/main">
              <a:ext uri="{FF2B5EF4-FFF2-40B4-BE49-F238E27FC236}">
                <a16:creationId xmlns:a16="http://schemas.microsoft.com/office/drawing/2014/main" id="{11A85C09-B437-4A7B-A1B2-BF762C9531C1}"/>
              </a:ext>
            </a:extLst>
          </p:cNvPr>
          <p:cNvSpPr>
            <a:spLocks xmlns:a="http://schemas.openxmlformats.org/drawingml/2006/main" noGrp="1"/>
          </p:cNvSpPr>
          <p:nvPr/>
        </p:nvSpPr>
        <p:spPr>
          <a:xfrm xmlns:a="http://schemas.openxmlformats.org/drawingml/2006/main">
            <a:off x="4419600" y="3209925"/>
            <a:ext cx="3219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53D30"/>
                </a:solidFill>
                <a:latin typeface="Georgia"/>
                <a:ea typeface="Georgia"/>
                <a:cs typeface="Georgia"/>
              </a:defRPr>
            </a:defPPr>
          </a:lstStyle>
          <a:p xmlns:a="http://schemas.openxmlformats.org/drawingml/2006/main">
            <a:pPr algn="l">
              <a:defRPr sz="2325" b="0">
                <a:solidFill>
                  <a:srgbClr val="253D30"/>
                </a:solidFill>
                <a:latin typeface="Georgia"/>
                <a:ea typeface="Georgia"/>
                <a:cs typeface="Georgia"/>
              </a:defRPr>
            </a:pPr>
            <a:r>
              <a:rPr sz="2325" b="0">
                <a:solidFill>
                  <a:srgbClr val="253D30"/>
                </a:solidFill>
                <a:latin typeface="Georgia"/>
                <a:ea typeface="Georgia"/>
                <a:cs typeface="Georgia"/>
              </a:rPr>
              <a:t>Green</a:t>
            </a:r>
          </a:p>
          <a:p xmlns:a="http://schemas.openxmlformats.org/drawingml/2006/main">
            <a:pPr algn="l">
              <a:defRPr sz="2325" b="0">
                <a:solidFill>
                  <a:srgbClr val="253D30"/>
                </a:solidFill>
                <a:latin typeface="Georgia"/>
                <a:ea typeface="Georgia"/>
                <a:cs typeface="Georgia"/>
              </a:defRPr>
            </a:pPr>
            <a:r>
              <a:rPr sz="2325" b="0">
                <a:solidFill>
                  <a:srgbClr val="253D30"/>
                </a:solidFill>
                <a:latin typeface="Georgia"/>
                <a:ea typeface="Georgia"/>
                <a:cs typeface="Georgia"/>
              </a:rPr>
              <a:t>Industrialisation</a:t>
            </a:r>
          </a:p>
        </p:txBody>
      </p:sp>
      <p:sp>
        <p:nvSpPr>
          <p:cNvPr id="13" name="Help suitable growers and processors use coffee by">
            <a:extLst xmlns:a="http://schemas.openxmlformats.org/drawingml/2006/main">
              <a:ext uri="{FF2B5EF4-FFF2-40B4-BE49-F238E27FC236}">
                <a16:creationId xmlns:a16="http://schemas.microsoft.com/office/drawing/2014/main" id="{067862F3-4DAB-4BCD-9505-33DC396B7515}"/>
              </a:ext>
            </a:extLst>
          </p:cNvPr>
          <p:cNvSpPr>
            <a:spLocks xmlns:a="http://schemas.openxmlformats.org/drawingml/2006/main" noGrp="1"/>
          </p:cNvSpPr>
          <p:nvPr/>
        </p:nvSpPr>
        <p:spPr>
          <a:xfrm xmlns:a="http://schemas.openxmlformats.org/drawingml/2006/main">
            <a:off x="4419600" y="4210050"/>
            <a:ext cx="32194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53D30"/>
                </a:solidFill>
                <a:latin typeface="Arial"/>
                <a:ea typeface="Arial"/>
                <a:cs typeface="Arial"/>
              </a:defRPr>
            </a:defPPr>
          </a:lstStyle>
          <a:p xmlns:a="http://schemas.openxmlformats.org/drawingml/2006/main">
            <a:pPr algn="l">
              <a:defRPr sz="1725" b="0">
                <a:solidFill>
                  <a:srgbClr val="253D30"/>
                </a:solidFill>
                <a:latin typeface="Arial"/>
                <a:ea typeface="Arial"/>
                <a:cs typeface="Arial"/>
              </a:defRPr>
            </a:pPr>
            <a:r>
              <a:rPr sz="1725" b="0">
                <a:solidFill>
                  <a:srgbClr val="253D30"/>
                </a:solidFill>
                <a:latin typeface="Arial"/>
                <a:ea typeface="Arial"/>
                <a:cs typeface="Arial"/>
              </a:rPr>
              <a:t>Help suitable growers and processors use coffee by-products as inputs.</a:t>
            </a:r>
          </a:p>
        </p:txBody>
      </p:sp>
      <p:sp>
        <p:nvSpPr>
          <p:cNvPr id="14" name="Test: processor acceptance, actual use and input s">
            <a:extLst xmlns:a="http://schemas.openxmlformats.org/drawingml/2006/main">
              <a:ext uri="{FF2B5EF4-FFF2-40B4-BE49-F238E27FC236}">
                <a16:creationId xmlns:a16="http://schemas.microsoft.com/office/drawing/2014/main" id="{1E9E946F-8BDA-49E8-8DB1-B6EF91BA07C6}"/>
              </a:ext>
            </a:extLst>
          </p:cNvPr>
          <p:cNvSpPr>
            <a:spLocks xmlns:a="http://schemas.openxmlformats.org/drawingml/2006/main" noGrp="1"/>
          </p:cNvSpPr>
          <p:nvPr/>
        </p:nvSpPr>
        <p:spPr>
          <a:xfrm xmlns:a="http://schemas.openxmlformats.org/drawingml/2006/main">
            <a:off x="4419600" y="5362575"/>
            <a:ext cx="321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17066"/>
                </a:solidFill>
                <a:latin typeface="Arial"/>
                <a:ea typeface="Arial"/>
                <a:cs typeface="Arial"/>
              </a:defRPr>
            </a:defPPr>
          </a:lstStyle>
          <a:p xmlns:a="http://schemas.openxmlformats.org/drawingml/2006/main">
            <a:pPr algn="l">
              <a:defRPr sz="1500" b="0">
                <a:solidFill>
                  <a:srgbClr val="617066"/>
                </a:solidFill>
                <a:latin typeface="Arial"/>
                <a:ea typeface="Arial"/>
                <a:cs typeface="Arial"/>
              </a:defRPr>
            </a:pPr>
            <a:r>
              <a:rPr sz="1500" b="0">
                <a:solidFill>
                  <a:srgbClr val="617066"/>
                </a:solidFill>
                <a:latin typeface="Arial"/>
                <a:ea typeface="Arial"/>
                <a:cs typeface="Arial"/>
              </a:rPr>
              <a:t>Test: processor acceptance, actual use and input substitution.</a:t>
            </a:r>
          </a:p>
        </p:txBody>
      </p:sp>
      <p:sp>
        <p:nvSpPr>
          <p:cNvPr id="15" name="03">
            <a:extLst xmlns:a="http://schemas.openxmlformats.org/drawingml/2006/main">
              <a:ext uri="{FF2B5EF4-FFF2-40B4-BE49-F238E27FC236}">
                <a16:creationId xmlns:a16="http://schemas.microsoft.com/office/drawing/2014/main" id="{76F02758-712A-413A-A704-D308E58FDB32}"/>
              </a:ext>
            </a:extLst>
          </p:cNvPr>
          <p:cNvSpPr>
            <a:spLocks xmlns:a="http://schemas.openxmlformats.org/drawingml/2006/main" noGrp="1"/>
          </p:cNvSpPr>
          <p:nvPr/>
        </p:nvSpPr>
        <p:spPr>
          <a:xfrm xmlns:a="http://schemas.openxmlformats.org/drawingml/2006/main">
            <a:off x="8153400" y="27432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BF7947"/>
                </a:solidFill>
                <a:latin typeface="Arial"/>
                <a:ea typeface="Arial"/>
                <a:cs typeface="Arial"/>
              </a:defRPr>
            </a:defPPr>
          </a:lstStyle>
          <a:p xmlns:a="http://schemas.openxmlformats.org/drawingml/2006/main">
            <a:pPr algn="l">
              <a:defRPr sz="1500" b="1">
                <a:solidFill>
                  <a:srgbClr val="BF7947"/>
                </a:solidFill>
                <a:latin typeface="Arial"/>
                <a:ea typeface="Arial"/>
                <a:cs typeface="Arial"/>
              </a:defRPr>
            </a:pPr>
            <a:r>
              <a:rPr sz="1500" b="1">
                <a:solidFill>
                  <a:srgbClr val="BF7947"/>
                </a:solidFill>
                <a:latin typeface="Arial"/>
                <a:ea typeface="Arial"/>
                <a:cs typeface="Arial"/>
              </a:rPr>
              <a:t>03</a:t>
            </a:r>
          </a:p>
        </p:txBody>
      </p:sp>
      <p:sp>
        <p:nvSpPr>
          <p:cNvPr id="16" name="Awareness">
            <a:extLst xmlns:a="http://schemas.openxmlformats.org/drawingml/2006/main">
              <a:ext uri="{FF2B5EF4-FFF2-40B4-BE49-F238E27FC236}">
                <a16:creationId xmlns:a16="http://schemas.microsoft.com/office/drawing/2014/main" id="{B11DDAD1-7CBF-408B-B754-EEE4BD78A7F3}"/>
              </a:ext>
            </a:extLst>
          </p:cNvPr>
          <p:cNvSpPr>
            <a:spLocks xmlns:a="http://schemas.openxmlformats.org/drawingml/2006/main" noGrp="1"/>
          </p:cNvSpPr>
          <p:nvPr/>
        </p:nvSpPr>
        <p:spPr>
          <a:xfrm xmlns:a="http://schemas.openxmlformats.org/drawingml/2006/main">
            <a:off x="8153400" y="3209925"/>
            <a:ext cx="3219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53D30"/>
                </a:solidFill>
                <a:latin typeface="Georgia"/>
                <a:ea typeface="Georgia"/>
                <a:cs typeface="Georgia"/>
              </a:defRPr>
            </a:defPPr>
          </a:lstStyle>
          <a:p xmlns:a="http://schemas.openxmlformats.org/drawingml/2006/main">
            <a:pPr algn="l">
              <a:defRPr sz="2325" b="0">
                <a:solidFill>
                  <a:srgbClr val="253D30"/>
                </a:solidFill>
                <a:latin typeface="Georgia"/>
                <a:ea typeface="Georgia"/>
                <a:cs typeface="Georgia"/>
              </a:defRPr>
            </a:pPr>
            <a:r>
              <a:rPr sz="2325" b="0">
                <a:solidFill>
                  <a:srgbClr val="253D30"/>
                </a:solidFill>
                <a:latin typeface="Georgia"/>
                <a:ea typeface="Georgia"/>
                <a:cs typeface="Georgia"/>
              </a:rPr>
              <a:t>Awareness</a:t>
            </a:r>
          </a:p>
        </p:txBody>
      </p:sp>
      <p:sp>
        <p:nvSpPr>
          <p:cNvPr id="17" name="Explain reuse routes, preparation rules and climat">
            <a:extLst xmlns:a="http://schemas.openxmlformats.org/drawingml/2006/main">
              <a:ext uri="{FF2B5EF4-FFF2-40B4-BE49-F238E27FC236}">
                <a16:creationId xmlns:a16="http://schemas.microsoft.com/office/drawing/2014/main" id="{F62F4DDB-71B5-4A33-9EBD-7FF199A8FFCE}"/>
              </a:ext>
            </a:extLst>
          </p:cNvPr>
          <p:cNvSpPr>
            <a:spLocks xmlns:a="http://schemas.openxmlformats.org/drawingml/2006/main" noGrp="1"/>
          </p:cNvSpPr>
          <p:nvPr/>
        </p:nvSpPr>
        <p:spPr>
          <a:xfrm xmlns:a="http://schemas.openxmlformats.org/drawingml/2006/main">
            <a:off x="8153400" y="4210050"/>
            <a:ext cx="32194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53D30"/>
                </a:solidFill>
                <a:latin typeface="Arial"/>
                <a:ea typeface="Arial"/>
                <a:cs typeface="Arial"/>
              </a:defRPr>
            </a:defPPr>
          </a:lstStyle>
          <a:p xmlns:a="http://schemas.openxmlformats.org/drawingml/2006/main">
            <a:pPr algn="l">
              <a:defRPr sz="1725" b="0">
                <a:solidFill>
                  <a:srgbClr val="253D30"/>
                </a:solidFill>
                <a:latin typeface="Arial"/>
                <a:ea typeface="Arial"/>
                <a:cs typeface="Arial"/>
              </a:defRPr>
            </a:pPr>
            <a:r>
              <a:rPr sz="1725" b="0">
                <a:solidFill>
                  <a:srgbClr val="253D30"/>
                </a:solidFill>
                <a:latin typeface="Arial"/>
                <a:ea typeface="Arial"/>
                <a:cs typeface="Arial"/>
              </a:rPr>
              <a:t>Explain reuse routes, preparation rules and climate estimates in plain language.</a:t>
            </a:r>
          </a:p>
        </p:txBody>
      </p:sp>
      <p:sp>
        <p:nvSpPr>
          <p:cNvPr id="18" name="Test: understanding and correct preparation before">
            <a:extLst xmlns:a="http://schemas.openxmlformats.org/drawingml/2006/main">
              <a:ext uri="{FF2B5EF4-FFF2-40B4-BE49-F238E27FC236}">
                <a16:creationId xmlns:a16="http://schemas.microsoft.com/office/drawing/2014/main" id="{7C0926CC-01DC-48FE-80FC-7AB643968C9B}"/>
              </a:ext>
            </a:extLst>
          </p:cNvPr>
          <p:cNvSpPr>
            <a:spLocks xmlns:a="http://schemas.openxmlformats.org/drawingml/2006/main" noGrp="1"/>
          </p:cNvSpPr>
          <p:nvPr/>
        </p:nvSpPr>
        <p:spPr>
          <a:xfrm xmlns:a="http://schemas.openxmlformats.org/drawingml/2006/main">
            <a:off x="8153400" y="5362575"/>
            <a:ext cx="321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17066"/>
                </a:solidFill>
                <a:latin typeface="Arial"/>
                <a:ea typeface="Arial"/>
                <a:cs typeface="Arial"/>
              </a:defRPr>
            </a:defPPr>
          </a:lstStyle>
          <a:p xmlns:a="http://schemas.openxmlformats.org/drawingml/2006/main">
            <a:pPr algn="l">
              <a:defRPr sz="1500" b="0">
                <a:solidFill>
                  <a:srgbClr val="617066"/>
                </a:solidFill>
                <a:latin typeface="Arial"/>
                <a:ea typeface="Arial"/>
                <a:cs typeface="Arial"/>
              </a:defRPr>
            </a:pPr>
            <a:r>
              <a:rPr sz="1500" b="0">
                <a:solidFill>
                  <a:srgbClr val="617066"/>
                </a:solidFill>
                <a:latin typeface="Arial"/>
                <a:ea typeface="Arial"/>
                <a:cs typeface="Arial"/>
              </a:rPr>
              <a:t>Test: understanding and correct preparation before and after use.</a:t>
            </a:r>
          </a:p>
        </p:txBody>
      </p:sp>
    </p:spTree>
    <p:extLst>
      <p:ext uri="{BB962C8B-B14F-4D97-AF65-F5344CB8AC3E}">
        <p14:creationId xmlns:p14="http://schemas.microsoft.com/office/powerpoint/2010/main" val="290613323"/>
      </p:ext>
    </p:extLst>
  </p:cSld>
</p:sld>
</file>

<file path=ppt/slides/slide4.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22" name="NILE  /  WORKING PROTOTYPE">
            <a:extLst xmlns:a="http://schemas.openxmlformats.org/drawingml/2006/main">
              <a:ext uri="{FF2B5EF4-FFF2-40B4-BE49-F238E27FC236}">
                <a16:creationId xmlns:a16="http://schemas.microsoft.com/office/drawing/2014/main" id="{01A4DA11-C7DE-46EA-A0E9-07377FAF48BB}"/>
              </a:ext>
            </a:extLst>
          </p:cNvPr>
          <p:cNvSpPr>
            <a:spLocks xmlns:a="http://schemas.openxmlformats.org/drawingml/2006/main" noGrp="1"/>
          </p:cNvSpPr>
          <p:nvPr/>
        </p:nvSpPr>
        <p:spPr>
          <a:xfrm xmlns:a="http://schemas.openxmlformats.org/drawingml/2006/main">
            <a:off x="685800" y="381000"/>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BF7947"/>
                </a:solidFill>
                <a:latin typeface="Arial"/>
                <a:ea typeface="Arial"/>
                <a:cs typeface="Arial"/>
              </a:defRPr>
            </a:defPPr>
          </a:lstStyle>
          <a:p xmlns:a="http://schemas.openxmlformats.org/drawingml/2006/main">
            <a:pPr algn="l">
              <a:defRPr sz="1200" b="1">
                <a:solidFill>
                  <a:srgbClr val="BF7947"/>
                </a:solidFill>
                <a:latin typeface="Arial"/>
                <a:ea typeface="Arial"/>
                <a:cs typeface="Arial"/>
              </a:defRPr>
            </a:pPr>
            <a:r>
              <a:rPr sz="1200" b="1">
                <a:solidFill>
                  <a:srgbClr val="BF7947"/>
                </a:solidFill>
                <a:latin typeface="Arial"/>
                <a:ea typeface="Arial"/>
                <a:cs typeface="Arial"/>
              </a:rPr>
              <a:t>NILE  /  WORKING PROTOTYPE</a:t>
            </a:r>
          </a:p>
        </p:txBody>
      </p:sp>
      <p:sp>
        <p:nvSpPr>
          <p:cNvPr id="2" name="List. Match. Collect. Confirm.">
            <a:extLst xmlns:a="http://schemas.openxmlformats.org/drawingml/2006/main">
              <a:ext uri="{FF2B5EF4-FFF2-40B4-BE49-F238E27FC236}">
                <a16:creationId xmlns:a16="http://schemas.microsoft.com/office/drawing/2014/main" id="{509F914B-3743-4362-AB27-7D4A8D082B86}"/>
              </a:ext>
            </a:extLst>
          </p:cNvPr>
          <p:cNvSpPr>
            <a:spLocks xmlns:a="http://schemas.openxmlformats.org/drawingml/2006/main" noGrp="1"/>
          </p:cNvSpPr>
          <p:nvPr/>
        </p:nvSpPr>
        <p:spPr>
          <a:xfrm xmlns:a="http://schemas.openxmlformats.org/drawingml/2006/main">
            <a:off x="685800" y="809625"/>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0">
                <a:solidFill>
                  <a:srgbClr val="253D30"/>
                </a:solidFill>
                <a:latin typeface="Georgia"/>
                <a:ea typeface="Georgia"/>
                <a:cs typeface="Georgia"/>
              </a:defRPr>
            </a:defPPr>
          </a:lstStyle>
          <a:p xmlns:a="http://schemas.openxmlformats.org/drawingml/2006/main">
            <a:pPr algn="l">
              <a:defRPr sz="3375" b="0">
                <a:solidFill>
                  <a:srgbClr val="253D30"/>
                </a:solidFill>
                <a:latin typeface="Georgia"/>
                <a:ea typeface="Georgia"/>
                <a:cs typeface="Georgia"/>
              </a:defRPr>
            </a:pPr>
            <a:r>
              <a:rPr sz="3375" b="0">
                <a:solidFill>
                  <a:srgbClr val="253D30"/>
                </a:solidFill>
                <a:latin typeface="Georgia"/>
                <a:ea typeface="Georgia"/>
                <a:cs typeface="Georgia"/>
              </a:rPr>
              <a:t>List. Match. Collect. Confirm.</a:t>
            </a:r>
          </a:p>
        </p:txBody>
      </p:sp>
      <p:sp>
        <p:nvSpPr>
          <p:cNvPr id="3" name="One engine demonstrates spent grounds and usable s">
            <a:extLst xmlns:a="http://schemas.openxmlformats.org/drawingml/2006/main">
              <a:ext uri="{FF2B5EF4-FFF2-40B4-BE49-F238E27FC236}">
                <a16:creationId xmlns:a16="http://schemas.microsoft.com/office/drawing/2014/main" id="{88DC8315-F0E4-4252-842F-FB4A11105169}"/>
              </a:ext>
            </a:extLst>
          </p:cNvPr>
          <p:cNvSpPr>
            <a:spLocks xmlns:a="http://schemas.openxmlformats.org/drawingml/2006/main" noGrp="1"/>
          </p:cNvSpPr>
          <p:nvPr/>
        </p:nvSpPr>
        <p:spPr>
          <a:xfrm xmlns:a="http://schemas.openxmlformats.org/drawingml/2006/main">
            <a:off x="685800" y="185737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17066"/>
                </a:solidFill>
                <a:latin typeface="Arial"/>
                <a:ea typeface="Arial"/>
                <a:cs typeface="Arial"/>
              </a:defRPr>
            </a:defPPr>
          </a:lstStyle>
          <a:p xmlns:a="http://schemas.openxmlformats.org/drawingml/2006/main">
            <a:pPr algn="l">
              <a:defRPr sz="1725" b="0">
                <a:solidFill>
                  <a:srgbClr val="617066"/>
                </a:solidFill>
                <a:latin typeface="Arial"/>
                <a:ea typeface="Arial"/>
                <a:cs typeface="Arial"/>
              </a:defRPr>
            </a:pPr>
            <a:r>
              <a:rPr sz="1725" b="0">
                <a:solidFill>
                  <a:srgbClr val="617066"/>
                </a:solidFill>
                <a:latin typeface="Arial"/>
                <a:ea typeface="Arial"/>
                <a:cs typeface="Arial"/>
              </a:rPr>
              <a:t>One engine demonstrates spent grounds and usable surplus roasted beans.</a:t>
            </a:r>
          </a:p>
        </p:txBody>
      </p:sp>
      <p:sp>
        <p:nvSpPr>
          <p:cNvPr id="4" name="">
            <a:extLst xmlns:a="http://schemas.openxmlformats.org/drawingml/2006/main">
              <a:ext uri="{FF2B5EF4-FFF2-40B4-BE49-F238E27FC236}">
                <a16:creationId xmlns:a16="http://schemas.microsoft.com/office/drawing/2014/main" id="{AB9CB2D9-BCB2-4930-8A39-27ED99A927F7}"/>
              </a:ext>
            </a:extLst>
          </p:cNvPr>
          <p:cNvSpPr>
            <a:spLocks xmlns:a="http://schemas.openxmlformats.org/drawingml/2006/main" noGrp="1"/>
          </p:cNvSpPr>
          <p:nvPr/>
        </p:nvSpPr>
        <p:spPr>
          <a:xfrm xmlns:a="http://schemas.openxmlformats.org/drawingml/2006/main">
            <a:off x="685800" y="6296025"/>
            <a:ext cx="10820400" cy="14288"/>
          </a:xfrm>
          <a:prstGeom xmlns:a="http://schemas.openxmlformats.org/drawingml/2006/main" prst="rect">
            <a:avLst/>
          </a:prstGeom>
          <a:solidFill xmlns:a="http://schemas.openxmlformats.org/drawingml/2006/main">
            <a:srgbClr val="CDD4C6"/>
          </a:solidFill>
          <a:ln xmlns:a="http://schemas.openxmlformats.org/drawingml/2006/main" w="0">
            <a:noFill/>
          </a:ln>
        </p:spPr>
      </p:sp>
      <p:sp>
        <p:nvSpPr>
          <p:cNvPr id="5" name="Nile • Climate Hack-tion • 4 October 2026">
            <a:extLst xmlns:a="http://schemas.openxmlformats.org/drawingml/2006/main">
              <a:ext uri="{FF2B5EF4-FFF2-40B4-BE49-F238E27FC236}">
                <a16:creationId xmlns:a16="http://schemas.microsoft.com/office/drawing/2014/main" id="{716FBA16-2033-48CA-9D4F-1DE1D8E43C63}"/>
              </a:ext>
            </a:extLst>
          </p:cNvPr>
          <p:cNvSpPr>
            <a:spLocks xmlns:a="http://schemas.openxmlformats.org/drawingml/2006/main" noGrp="1"/>
          </p:cNvSpPr>
          <p:nvPr/>
        </p:nvSpPr>
        <p:spPr>
          <a:xfrm xmlns:a="http://schemas.openxmlformats.org/drawingml/2006/main">
            <a:off x="685800" y="6448425"/>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066"/>
                </a:solidFill>
                <a:latin typeface="Arial"/>
                <a:ea typeface="Arial"/>
                <a:cs typeface="Arial"/>
              </a:defRPr>
            </a:defPPr>
          </a:lstStyle>
          <a:p xmlns:a="http://schemas.openxmlformats.org/drawingml/2006/main">
            <a:pPr algn="l">
              <a:defRPr sz="1050" b="0">
                <a:solidFill>
                  <a:srgbClr val="617066"/>
                </a:solidFill>
                <a:latin typeface="Arial"/>
                <a:ea typeface="Arial"/>
                <a:cs typeface="Arial"/>
              </a:defRPr>
            </a:pPr>
            <a:r>
              <a:rPr sz="1050" b="0">
                <a:solidFill>
                  <a:srgbClr val="617066"/>
                </a:solidFill>
                <a:latin typeface="Arial"/>
                <a:ea typeface="Arial"/>
                <a:cs typeface="Arial"/>
              </a:rPr>
              <a:t>Nile • Climate Hack-tion • 4 October 2026</a:t>
            </a:r>
          </a:p>
        </p:txBody>
      </p:sp>
      <p:sp>
        <p:nvSpPr>
          <p:cNvPr id="6" name="04">
            <a:extLst xmlns:a="http://schemas.openxmlformats.org/drawingml/2006/main">
              <a:ext uri="{FF2B5EF4-FFF2-40B4-BE49-F238E27FC236}">
                <a16:creationId xmlns:a16="http://schemas.microsoft.com/office/drawing/2014/main" id="{3A2E8C66-5A36-494F-AE32-6B86F84A1EB9}"/>
              </a:ext>
            </a:extLst>
          </p:cNvPr>
          <p:cNvSpPr>
            <a:spLocks xmlns:a="http://schemas.openxmlformats.org/drawingml/2006/main" noGrp="1"/>
          </p:cNvSpPr>
          <p:nvPr/>
        </p:nvSpPr>
        <p:spPr>
          <a:xfrm xmlns:a="http://schemas.openxmlformats.org/drawingml/2006/main">
            <a:off x="10953750" y="64293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BF7947"/>
                </a:solidFill>
                <a:latin typeface="Arial"/>
                <a:ea typeface="Arial"/>
                <a:cs typeface="Arial"/>
              </a:defRPr>
            </a:defPPr>
          </a:lstStyle>
          <a:p xmlns:a="http://schemas.openxmlformats.org/drawingml/2006/main">
            <a:pPr algn="r">
              <a:defRPr sz="1200" b="0">
                <a:solidFill>
                  <a:srgbClr val="BF7947"/>
                </a:solidFill>
                <a:latin typeface="Arial"/>
                <a:ea typeface="Arial"/>
                <a:cs typeface="Arial"/>
              </a:defRPr>
            </a:pPr>
            <a:r>
              <a:rPr sz="1200" b="0">
                <a:solidFill>
                  <a:srgbClr val="BF7947"/>
                </a:solidFill>
                <a:latin typeface="Arial"/>
                <a:ea typeface="Arial"/>
                <a:cs typeface="Arial"/>
              </a:rPr>
              <a:t>04</a:t>
            </a:r>
          </a:p>
        </p:txBody>
      </p:sp>
      <p:sp>
        <p:nvSpPr>
          <p:cNvPr id="7" name="01  Describe the batch">
            <a:extLst xmlns:a="http://schemas.openxmlformats.org/drawingml/2006/main">
              <a:ext uri="{FF2B5EF4-FFF2-40B4-BE49-F238E27FC236}">
                <a16:creationId xmlns:a16="http://schemas.microsoft.com/office/drawing/2014/main" id="{B1DCB402-6C87-426A-A4D3-1D349D1D0BA7}"/>
              </a:ext>
            </a:extLst>
          </p:cNvPr>
          <p:cNvSpPr>
            <a:spLocks xmlns:a="http://schemas.openxmlformats.org/drawingml/2006/main" noGrp="1"/>
          </p:cNvSpPr>
          <p:nvPr/>
        </p:nvSpPr>
        <p:spPr>
          <a:xfrm xmlns:a="http://schemas.openxmlformats.org/drawingml/2006/main">
            <a:off x="685800" y="2657475"/>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53D30"/>
                </a:solidFill>
                <a:latin typeface="Arial"/>
                <a:ea typeface="Arial"/>
                <a:cs typeface="Arial"/>
              </a:defRPr>
            </a:defPPr>
          </a:lstStyle>
          <a:p xmlns:a="http://schemas.openxmlformats.org/drawingml/2006/main">
            <a:pPr algn="l">
              <a:defRPr sz="1875" b="1">
                <a:solidFill>
                  <a:srgbClr val="253D30"/>
                </a:solidFill>
                <a:latin typeface="Arial"/>
                <a:ea typeface="Arial"/>
                <a:cs typeface="Arial"/>
              </a:defRPr>
            </a:pPr>
            <a:r>
              <a:rPr sz="1875" b="1">
                <a:solidFill>
                  <a:srgbClr val="253D30"/>
                </a:solidFill>
                <a:latin typeface="Arial"/>
                <a:ea typeface="Arial"/>
                <a:cs typeface="Arial"/>
              </a:rPr>
              <a:t>01  Describe the batch</a:t>
            </a:r>
          </a:p>
        </p:txBody>
      </p:sp>
      <p:sp>
        <p:nvSpPr>
          <p:cNvPr id="8" name="Type, condition, quantity, packaging and availabil">
            <a:extLst xmlns:a="http://schemas.openxmlformats.org/drawingml/2006/main">
              <a:ext uri="{FF2B5EF4-FFF2-40B4-BE49-F238E27FC236}">
                <a16:creationId xmlns:a16="http://schemas.microsoft.com/office/drawing/2014/main" id="{B974CA4C-4A01-4A19-B27C-82EB180F99D8}"/>
              </a:ext>
            </a:extLst>
          </p:cNvPr>
          <p:cNvSpPr>
            <a:spLocks xmlns:a="http://schemas.openxmlformats.org/drawingml/2006/main" noGrp="1"/>
          </p:cNvSpPr>
          <p:nvPr/>
        </p:nvSpPr>
        <p:spPr>
          <a:xfrm xmlns:a="http://schemas.openxmlformats.org/drawingml/2006/main">
            <a:off x="685800" y="3000375"/>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53D30"/>
                </a:solidFill>
                <a:latin typeface="Arial"/>
                <a:ea typeface="Arial"/>
                <a:cs typeface="Arial"/>
              </a:defRPr>
            </a:defPPr>
          </a:lstStyle>
          <a:p xmlns:a="http://schemas.openxmlformats.org/drawingml/2006/main">
            <a:pPr algn="l">
              <a:defRPr sz="1650" b="0">
                <a:solidFill>
                  <a:srgbClr val="253D30"/>
                </a:solidFill>
                <a:latin typeface="Arial"/>
                <a:ea typeface="Arial"/>
                <a:cs typeface="Arial"/>
              </a:defRPr>
            </a:pPr>
            <a:r>
              <a:rPr sz="1650" b="0">
                <a:solidFill>
                  <a:srgbClr val="253D30"/>
                </a:solidFill>
                <a:latin typeface="Arial"/>
                <a:ea typeface="Arial"/>
                <a:cs typeface="Arial"/>
              </a:rPr>
              <a:t>Type, condition, quantity, packaging and availability.</a:t>
            </a:r>
          </a:p>
        </p:txBody>
      </p:sp>
      <p:sp>
        <p:nvSpPr>
          <p:cNvPr id="9" name="02  Compare eligible matches">
            <a:extLst xmlns:a="http://schemas.openxmlformats.org/drawingml/2006/main">
              <a:ext uri="{FF2B5EF4-FFF2-40B4-BE49-F238E27FC236}">
                <a16:creationId xmlns:a16="http://schemas.microsoft.com/office/drawing/2014/main" id="{0B393487-15B6-489F-BE34-936ADEC6EC8B}"/>
              </a:ext>
            </a:extLst>
          </p:cNvPr>
          <p:cNvSpPr>
            <a:spLocks xmlns:a="http://schemas.openxmlformats.org/drawingml/2006/main" noGrp="1"/>
          </p:cNvSpPr>
          <p:nvPr/>
        </p:nvSpPr>
        <p:spPr>
          <a:xfrm xmlns:a="http://schemas.openxmlformats.org/drawingml/2006/main">
            <a:off x="685800" y="350520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53D30"/>
                </a:solidFill>
                <a:latin typeface="Arial"/>
                <a:ea typeface="Arial"/>
                <a:cs typeface="Arial"/>
              </a:defRPr>
            </a:defPPr>
          </a:lstStyle>
          <a:p xmlns:a="http://schemas.openxmlformats.org/drawingml/2006/main">
            <a:pPr algn="l">
              <a:defRPr sz="1875" b="1">
                <a:solidFill>
                  <a:srgbClr val="253D30"/>
                </a:solidFill>
                <a:latin typeface="Arial"/>
                <a:ea typeface="Arial"/>
                <a:cs typeface="Arial"/>
              </a:defRPr>
            </a:pPr>
            <a:r>
              <a:rPr sz="1875" b="1">
                <a:solidFill>
                  <a:srgbClr val="253D30"/>
                </a:solidFill>
                <a:latin typeface="Arial"/>
                <a:ea typeface="Arial"/>
                <a:cs typeface="Arial"/>
              </a:rPr>
              <a:t>02  Compare eligible matches</a:t>
            </a:r>
          </a:p>
        </p:txBody>
      </p:sp>
      <p:sp>
        <p:nvSpPr>
          <p:cNvPr id="10" name="Check acceptance rules first; compare net value, d">
            <a:extLst xmlns:a="http://schemas.openxmlformats.org/drawingml/2006/main">
              <a:ext uri="{FF2B5EF4-FFF2-40B4-BE49-F238E27FC236}">
                <a16:creationId xmlns:a16="http://schemas.microsoft.com/office/drawing/2014/main" id="{C7F427FF-0582-4F24-90AF-80A65DF235AD}"/>
              </a:ext>
            </a:extLst>
          </p:cNvPr>
          <p:cNvSpPr>
            <a:spLocks xmlns:a="http://schemas.openxmlformats.org/drawingml/2006/main" noGrp="1"/>
          </p:cNvSpPr>
          <p:nvPr/>
        </p:nvSpPr>
        <p:spPr>
          <a:xfrm xmlns:a="http://schemas.openxmlformats.org/drawingml/2006/main">
            <a:off x="685800" y="3848100"/>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53D30"/>
                </a:solidFill>
                <a:latin typeface="Arial"/>
                <a:ea typeface="Arial"/>
                <a:cs typeface="Arial"/>
              </a:defRPr>
            </a:defPPr>
          </a:lstStyle>
          <a:p xmlns:a="http://schemas.openxmlformats.org/drawingml/2006/main">
            <a:pPr algn="l">
              <a:defRPr sz="1650" b="0">
                <a:solidFill>
                  <a:srgbClr val="253D30"/>
                </a:solidFill>
                <a:latin typeface="Arial"/>
                <a:ea typeface="Arial"/>
                <a:cs typeface="Arial"/>
              </a:defRPr>
            </a:pPr>
            <a:r>
              <a:rPr sz="1650" b="0">
                <a:solidFill>
                  <a:srgbClr val="253D30"/>
                </a:solidFill>
                <a:latin typeface="Arial"/>
                <a:ea typeface="Arial"/>
                <a:cs typeface="Arial"/>
              </a:rPr>
              <a:t>Check acceptance rules first; compare net value, distance and timing.</a:t>
            </a:r>
          </a:p>
        </p:txBody>
      </p:sp>
      <p:sp>
        <p:nvSpPr>
          <p:cNvPr id="11" name="03  Agree collection">
            <a:extLst xmlns:a="http://schemas.openxmlformats.org/drawingml/2006/main">
              <a:ext uri="{FF2B5EF4-FFF2-40B4-BE49-F238E27FC236}">
                <a16:creationId xmlns:a16="http://schemas.microsoft.com/office/drawing/2014/main" id="{79588F0B-1107-4C4A-8378-1D01091CE0D2}"/>
              </a:ext>
            </a:extLst>
          </p:cNvPr>
          <p:cNvSpPr>
            <a:spLocks xmlns:a="http://schemas.openxmlformats.org/drawingml/2006/main" noGrp="1"/>
          </p:cNvSpPr>
          <p:nvPr/>
        </p:nvSpPr>
        <p:spPr>
          <a:xfrm xmlns:a="http://schemas.openxmlformats.org/drawingml/2006/main">
            <a:off x="685800" y="4352925"/>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53D30"/>
                </a:solidFill>
                <a:latin typeface="Arial"/>
                <a:ea typeface="Arial"/>
                <a:cs typeface="Arial"/>
              </a:defRPr>
            </a:defPPr>
          </a:lstStyle>
          <a:p xmlns:a="http://schemas.openxmlformats.org/drawingml/2006/main">
            <a:pPr algn="l">
              <a:defRPr sz="1875" b="1">
                <a:solidFill>
                  <a:srgbClr val="253D30"/>
                </a:solidFill>
                <a:latin typeface="Arial"/>
                <a:ea typeface="Arial"/>
                <a:cs typeface="Arial"/>
              </a:defRPr>
            </a:pPr>
            <a:r>
              <a:rPr sz="1875" b="1">
                <a:solidFill>
                  <a:srgbClr val="253D30"/>
                </a:solidFill>
                <a:latin typeface="Arial"/>
                <a:ea typeface="Arial"/>
                <a:cs typeface="Arial"/>
              </a:rPr>
              <a:t>03  Agree collection</a:t>
            </a:r>
          </a:p>
        </p:txBody>
      </p:sp>
      <p:sp>
        <p:nvSpPr>
          <p:cNvPr id="12" name="Shared preparation and pickup brief; recipient acc">
            <a:extLst xmlns:a="http://schemas.openxmlformats.org/drawingml/2006/main">
              <a:ext uri="{FF2B5EF4-FFF2-40B4-BE49-F238E27FC236}">
                <a16:creationId xmlns:a16="http://schemas.microsoft.com/office/drawing/2014/main" id="{FE71B22E-7FFC-4F5C-88B9-C0DF1522F542}"/>
              </a:ext>
            </a:extLst>
          </p:cNvPr>
          <p:cNvSpPr>
            <a:spLocks xmlns:a="http://schemas.openxmlformats.org/drawingml/2006/main" noGrp="1"/>
          </p:cNvSpPr>
          <p:nvPr/>
        </p:nvSpPr>
        <p:spPr>
          <a:xfrm xmlns:a="http://schemas.openxmlformats.org/drawingml/2006/main">
            <a:off x="685800" y="4695825"/>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53D30"/>
                </a:solidFill>
                <a:latin typeface="Arial"/>
                <a:ea typeface="Arial"/>
                <a:cs typeface="Arial"/>
              </a:defRPr>
            </a:defPPr>
          </a:lstStyle>
          <a:p xmlns:a="http://schemas.openxmlformats.org/drawingml/2006/main">
            <a:pPr algn="l">
              <a:defRPr sz="1650" b="0">
                <a:solidFill>
                  <a:srgbClr val="253D30"/>
                </a:solidFill>
                <a:latin typeface="Arial"/>
                <a:ea typeface="Arial"/>
                <a:cs typeface="Arial"/>
              </a:defRPr>
            </a:pPr>
            <a:r>
              <a:rPr sz="1650" b="0">
                <a:solidFill>
                  <a:srgbClr val="253D30"/>
                </a:solidFill>
                <a:latin typeface="Arial"/>
                <a:ea typeface="Arial"/>
                <a:cs typeface="Arial"/>
              </a:rPr>
              <a:t>Shared preparation and pickup brief; recipient accepts the current version.</a:t>
            </a:r>
          </a:p>
        </p:txBody>
      </p:sp>
      <p:sp>
        <p:nvSpPr>
          <p:cNvPr id="13" name="04  Record what happened">
            <a:extLst xmlns:a="http://schemas.openxmlformats.org/drawingml/2006/main">
              <a:ext uri="{FF2B5EF4-FFF2-40B4-BE49-F238E27FC236}">
                <a16:creationId xmlns:a16="http://schemas.microsoft.com/office/drawing/2014/main" id="{FAE2DC06-D932-4B3A-8979-32A01FAA7D74}"/>
              </a:ext>
            </a:extLst>
          </p:cNvPr>
          <p:cNvSpPr>
            <a:spLocks xmlns:a="http://schemas.openxmlformats.org/drawingml/2006/main" noGrp="1"/>
          </p:cNvSpPr>
          <p:nvPr/>
        </p:nvSpPr>
        <p:spPr>
          <a:xfrm xmlns:a="http://schemas.openxmlformats.org/drawingml/2006/main">
            <a:off x="685800" y="5200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53D30"/>
                </a:solidFill>
                <a:latin typeface="Arial"/>
                <a:ea typeface="Arial"/>
                <a:cs typeface="Arial"/>
              </a:defRPr>
            </a:defPPr>
          </a:lstStyle>
          <a:p xmlns:a="http://schemas.openxmlformats.org/drawingml/2006/main">
            <a:pPr algn="l">
              <a:defRPr sz="1875" b="1">
                <a:solidFill>
                  <a:srgbClr val="253D30"/>
                </a:solidFill>
                <a:latin typeface="Arial"/>
                <a:ea typeface="Arial"/>
                <a:cs typeface="Arial"/>
              </a:defRPr>
            </a:pPr>
            <a:r>
              <a:rPr sz="1875" b="1">
                <a:solidFill>
                  <a:srgbClr val="253D30"/>
                </a:solidFill>
                <a:latin typeface="Arial"/>
                <a:ea typeface="Arial"/>
                <a:cs typeface="Arial"/>
              </a:rPr>
              <a:t>04  Record what happened</a:t>
            </a:r>
          </a:p>
        </p:txBody>
      </p:sp>
      <p:sp>
        <p:nvSpPr>
          <p:cNvPr id="14" name="Actual accepted weight, supplier confirmation and ">
            <a:extLst xmlns:a="http://schemas.openxmlformats.org/drawingml/2006/main">
              <a:ext uri="{FF2B5EF4-FFF2-40B4-BE49-F238E27FC236}">
                <a16:creationId xmlns:a16="http://schemas.microsoft.com/office/drawing/2014/main" id="{7BFDBB5E-5969-4516-851F-D4D000996852}"/>
              </a:ext>
            </a:extLst>
          </p:cNvPr>
          <p:cNvSpPr>
            <a:spLocks xmlns:a="http://schemas.openxmlformats.org/drawingml/2006/main" noGrp="1"/>
          </p:cNvSpPr>
          <p:nvPr/>
        </p:nvSpPr>
        <p:spPr>
          <a:xfrm xmlns:a="http://schemas.openxmlformats.org/drawingml/2006/main">
            <a:off x="685800" y="5543550"/>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53D30"/>
                </a:solidFill>
                <a:latin typeface="Arial"/>
                <a:ea typeface="Arial"/>
                <a:cs typeface="Arial"/>
              </a:defRPr>
            </a:defPPr>
          </a:lstStyle>
          <a:p xmlns:a="http://schemas.openxmlformats.org/drawingml/2006/main">
            <a:pPr algn="l">
              <a:defRPr sz="1650" b="0">
                <a:solidFill>
                  <a:srgbClr val="253D30"/>
                </a:solidFill>
                <a:latin typeface="Arial"/>
                <a:ea typeface="Arial"/>
                <a:cs typeface="Arial"/>
              </a:defRPr>
            </a:pPr>
            <a:r>
              <a:rPr sz="1650" b="0">
                <a:solidFill>
                  <a:srgbClr val="253D30"/>
                </a:solidFill>
                <a:latin typeface="Arial"/>
                <a:ea typeface="Arial"/>
                <a:cs typeface="Arial"/>
              </a:rPr>
              <a:t>Actual accepted weight, supplier confirmation and separate reported use.</a:t>
            </a:r>
          </a:p>
        </p:txBody>
      </p:sp>
      <p:sp>
        <p:nvSpPr>
          <p:cNvPr id="15" name="30 kg">
            <a:extLst xmlns:a="http://schemas.openxmlformats.org/drawingml/2006/main">
              <a:ext uri="{FF2B5EF4-FFF2-40B4-BE49-F238E27FC236}">
                <a16:creationId xmlns:a16="http://schemas.microsoft.com/office/drawing/2014/main" id="{63A8E653-2551-4D94-9B82-D738746D96C5}"/>
              </a:ext>
            </a:extLst>
          </p:cNvPr>
          <p:cNvSpPr>
            <a:spLocks xmlns:a="http://schemas.openxmlformats.org/drawingml/2006/main" noGrp="1"/>
          </p:cNvSpPr>
          <p:nvPr/>
        </p:nvSpPr>
        <p:spPr>
          <a:xfrm xmlns:a="http://schemas.openxmlformats.org/drawingml/2006/main">
            <a:off x="8248650" y="27432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0">
                <a:solidFill>
                  <a:srgbClr val="BF7947"/>
                </a:solidFill>
                <a:latin typeface="Georgia"/>
                <a:ea typeface="Georgia"/>
                <a:cs typeface="Georgia"/>
              </a:defRPr>
            </a:defPPr>
          </a:lstStyle>
          <a:p xmlns:a="http://schemas.openxmlformats.org/drawingml/2006/main">
            <a:pPr algn="l">
              <a:defRPr sz="3525" b="0">
                <a:solidFill>
                  <a:srgbClr val="BF7947"/>
                </a:solidFill>
                <a:latin typeface="Georgia"/>
                <a:ea typeface="Georgia"/>
                <a:cs typeface="Georgia"/>
              </a:defRPr>
            </a:pPr>
            <a:r>
              <a:rPr sz="3525" b="0">
                <a:solidFill>
                  <a:srgbClr val="BF7947"/>
                </a:solidFill>
                <a:latin typeface="Georgia"/>
                <a:ea typeface="Georgia"/>
                <a:cs typeface="Georgia"/>
              </a:rPr>
              <a:t>30 kg</a:t>
            </a:r>
          </a:p>
        </p:txBody>
      </p:sp>
      <p:sp>
        <p:nvSpPr>
          <p:cNvPr id="16" name="proposed">
            <a:extLst xmlns:a="http://schemas.openxmlformats.org/drawingml/2006/main">
              <a:ext uri="{FF2B5EF4-FFF2-40B4-BE49-F238E27FC236}">
                <a16:creationId xmlns:a16="http://schemas.microsoft.com/office/drawing/2014/main" id="{24A4BB56-7FDD-4021-B5A6-4D1D522A0B81}"/>
              </a:ext>
            </a:extLst>
          </p:cNvPr>
          <p:cNvSpPr>
            <a:spLocks xmlns:a="http://schemas.openxmlformats.org/drawingml/2006/main" noGrp="1"/>
          </p:cNvSpPr>
          <p:nvPr/>
        </p:nvSpPr>
        <p:spPr>
          <a:xfrm xmlns:a="http://schemas.openxmlformats.org/drawingml/2006/main">
            <a:off x="8286750" y="33813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53D30"/>
                </a:solidFill>
                <a:latin typeface="Arial"/>
                <a:ea typeface="Arial"/>
                <a:cs typeface="Arial"/>
              </a:defRPr>
            </a:defPPr>
          </a:lstStyle>
          <a:p xmlns:a="http://schemas.openxmlformats.org/drawingml/2006/main">
            <a:pPr algn="l">
              <a:defRPr sz="1650" b="0">
                <a:solidFill>
                  <a:srgbClr val="253D30"/>
                </a:solidFill>
                <a:latin typeface="Arial"/>
                <a:ea typeface="Arial"/>
                <a:cs typeface="Arial"/>
              </a:defRPr>
            </a:pPr>
            <a:r>
              <a:rPr sz="1650" b="0">
                <a:solidFill>
                  <a:srgbClr val="253D30"/>
                </a:solidFill>
                <a:latin typeface="Arial"/>
                <a:ea typeface="Arial"/>
                <a:cs typeface="Arial"/>
              </a:rPr>
              <a:t>proposed</a:t>
            </a:r>
          </a:p>
        </p:txBody>
      </p:sp>
      <p:sp>
        <p:nvSpPr>
          <p:cNvPr id="17" name="27 kg">
            <a:extLst xmlns:a="http://schemas.openxmlformats.org/drawingml/2006/main">
              <a:ext uri="{FF2B5EF4-FFF2-40B4-BE49-F238E27FC236}">
                <a16:creationId xmlns:a16="http://schemas.microsoft.com/office/drawing/2014/main" id="{A6ED3B5D-5C81-4268-B27F-BAD3E18CC672}"/>
              </a:ext>
            </a:extLst>
          </p:cNvPr>
          <p:cNvSpPr>
            <a:spLocks xmlns:a="http://schemas.openxmlformats.org/drawingml/2006/main" noGrp="1"/>
          </p:cNvSpPr>
          <p:nvPr/>
        </p:nvSpPr>
        <p:spPr>
          <a:xfrm xmlns:a="http://schemas.openxmlformats.org/drawingml/2006/main">
            <a:off x="8248650" y="382905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0">
                <a:solidFill>
                  <a:srgbClr val="BF7947"/>
                </a:solidFill>
                <a:latin typeface="Georgia"/>
                <a:ea typeface="Georgia"/>
                <a:cs typeface="Georgia"/>
              </a:defRPr>
            </a:defPPr>
          </a:lstStyle>
          <a:p xmlns:a="http://schemas.openxmlformats.org/drawingml/2006/main">
            <a:pPr algn="l">
              <a:defRPr sz="3525" b="0">
                <a:solidFill>
                  <a:srgbClr val="BF7947"/>
                </a:solidFill>
                <a:latin typeface="Georgia"/>
                <a:ea typeface="Georgia"/>
                <a:cs typeface="Georgia"/>
              </a:defRPr>
            </a:pPr>
            <a:r>
              <a:rPr sz="3525" b="0">
                <a:solidFill>
                  <a:srgbClr val="BF7947"/>
                </a:solidFill>
                <a:latin typeface="Georgia"/>
                <a:ea typeface="Georgia"/>
                <a:cs typeface="Georgia"/>
              </a:rPr>
              <a:t>27 kg</a:t>
            </a:r>
          </a:p>
        </p:txBody>
      </p:sp>
      <p:sp>
        <p:nvSpPr>
          <p:cNvPr id="18" name="accepted">
            <a:extLst xmlns:a="http://schemas.openxmlformats.org/drawingml/2006/main">
              <a:ext uri="{FF2B5EF4-FFF2-40B4-BE49-F238E27FC236}">
                <a16:creationId xmlns:a16="http://schemas.microsoft.com/office/drawing/2014/main" id="{74E70BBC-9F22-4267-B21C-7E55BC2A06CC}"/>
              </a:ext>
            </a:extLst>
          </p:cNvPr>
          <p:cNvSpPr>
            <a:spLocks xmlns:a="http://schemas.openxmlformats.org/drawingml/2006/main" noGrp="1"/>
          </p:cNvSpPr>
          <p:nvPr/>
        </p:nvSpPr>
        <p:spPr>
          <a:xfrm xmlns:a="http://schemas.openxmlformats.org/drawingml/2006/main">
            <a:off x="8286750" y="44672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53D30"/>
                </a:solidFill>
                <a:latin typeface="Arial"/>
                <a:ea typeface="Arial"/>
                <a:cs typeface="Arial"/>
              </a:defRPr>
            </a:defPPr>
          </a:lstStyle>
          <a:p xmlns:a="http://schemas.openxmlformats.org/drawingml/2006/main">
            <a:pPr algn="l">
              <a:defRPr sz="1650" b="0">
                <a:solidFill>
                  <a:srgbClr val="253D30"/>
                </a:solidFill>
                <a:latin typeface="Arial"/>
                <a:ea typeface="Arial"/>
                <a:cs typeface="Arial"/>
              </a:defRPr>
            </a:pPr>
            <a:r>
              <a:rPr sz="1650" b="0">
                <a:solidFill>
                  <a:srgbClr val="253D30"/>
                </a:solidFill>
                <a:latin typeface="Arial"/>
                <a:ea typeface="Arial"/>
                <a:cs typeface="Arial"/>
              </a:rPr>
              <a:t>accepted</a:t>
            </a:r>
          </a:p>
        </p:txBody>
      </p:sp>
      <p:sp>
        <p:nvSpPr>
          <p:cNvPr id="19" name="25 kg">
            <a:extLst xmlns:a="http://schemas.openxmlformats.org/drawingml/2006/main">
              <a:ext uri="{FF2B5EF4-FFF2-40B4-BE49-F238E27FC236}">
                <a16:creationId xmlns:a16="http://schemas.microsoft.com/office/drawing/2014/main" id="{43179F8C-6D41-4230-9105-8C5E3992E2CE}"/>
              </a:ext>
            </a:extLst>
          </p:cNvPr>
          <p:cNvSpPr>
            <a:spLocks xmlns:a="http://schemas.openxmlformats.org/drawingml/2006/main" noGrp="1"/>
          </p:cNvSpPr>
          <p:nvPr/>
        </p:nvSpPr>
        <p:spPr>
          <a:xfrm xmlns:a="http://schemas.openxmlformats.org/drawingml/2006/main">
            <a:off x="8248650" y="49149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0">
                <a:solidFill>
                  <a:srgbClr val="BF7947"/>
                </a:solidFill>
                <a:latin typeface="Georgia"/>
                <a:ea typeface="Georgia"/>
                <a:cs typeface="Georgia"/>
              </a:defRPr>
            </a:defPPr>
          </a:lstStyle>
          <a:p xmlns:a="http://schemas.openxmlformats.org/drawingml/2006/main">
            <a:pPr algn="l">
              <a:defRPr sz="3525" b="0">
                <a:solidFill>
                  <a:srgbClr val="BF7947"/>
                </a:solidFill>
                <a:latin typeface="Georgia"/>
                <a:ea typeface="Georgia"/>
                <a:cs typeface="Georgia"/>
              </a:defRPr>
            </a:pPr>
            <a:r>
              <a:rPr sz="3525" b="0">
                <a:solidFill>
                  <a:srgbClr val="BF7947"/>
                </a:solidFill>
                <a:latin typeface="Georgia"/>
                <a:ea typeface="Georgia"/>
                <a:cs typeface="Georgia"/>
              </a:rPr>
              <a:t>25 kg</a:t>
            </a:r>
          </a:p>
        </p:txBody>
      </p:sp>
      <p:sp>
        <p:nvSpPr>
          <p:cNvPr id="20" name="reported used">
            <a:extLst xmlns:a="http://schemas.openxmlformats.org/drawingml/2006/main">
              <a:ext uri="{FF2B5EF4-FFF2-40B4-BE49-F238E27FC236}">
                <a16:creationId xmlns:a16="http://schemas.microsoft.com/office/drawing/2014/main" id="{B9BC758A-2628-41E8-B177-8F96D302E4C1}"/>
              </a:ext>
            </a:extLst>
          </p:cNvPr>
          <p:cNvSpPr>
            <a:spLocks xmlns:a="http://schemas.openxmlformats.org/drawingml/2006/main" noGrp="1"/>
          </p:cNvSpPr>
          <p:nvPr/>
        </p:nvSpPr>
        <p:spPr>
          <a:xfrm xmlns:a="http://schemas.openxmlformats.org/drawingml/2006/main">
            <a:off x="8286750" y="55530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53D30"/>
                </a:solidFill>
                <a:latin typeface="Arial"/>
                <a:ea typeface="Arial"/>
                <a:cs typeface="Arial"/>
              </a:defRPr>
            </a:defPPr>
          </a:lstStyle>
          <a:p xmlns:a="http://schemas.openxmlformats.org/drawingml/2006/main">
            <a:pPr algn="l">
              <a:defRPr sz="1650" b="0">
                <a:solidFill>
                  <a:srgbClr val="253D30"/>
                </a:solidFill>
                <a:latin typeface="Arial"/>
                <a:ea typeface="Arial"/>
                <a:cs typeface="Arial"/>
              </a:defRPr>
            </a:pPr>
            <a:r>
              <a:rPr sz="1650" b="0">
                <a:solidFill>
                  <a:srgbClr val="253D30"/>
                </a:solidFill>
                <a:latin typeface="Arial"/>
                <a:ea typeface="Arial"/>
                <a:cs typeface="Arial"/>
              </a:rPr>
              <a:t>reported used</a:t>
            </a:r>
          </a:p>
        </p:txBody>
      </p:sp>
      <p:sp>
        <p:nvSpPr>
          <p:cNvPr id="21" name="Demo example • separate evidence states">
            <a:extLst xmlns:a="http://schemas.openxmlformats.org/drawingml/2006/main">
              <a:ext uri="{FF2B5EF4-FFF2-40B4-BE49-F238E27FC236}">
                <a16:creationId xmlns:a16="http://schemas.microsoft.com/office/drawing/2014/main" id="{374A799C-538F-462C-9B22-0FD8A89622EE}"/>
              </a:ext>
            </a:extLst>
          </p:cNvPr>
          <p:cNvSpPr>
            <a:spLocks xmlns:a="http://schemas.openxmlformats.org/drawingml/2006/main" noGrp="1"/>
          </p:cNvSpPr>
          <p:nvPr/>
        </p:nvSpPr>
        <p:spPr>
          <a:xfrm xmlns:a="http://schemas.openxmlformats.org/drawingml/2006/main">
            <a:off x="8058150" y="6000750"/>
            <a:ext cx="3448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17066"/>
                </a:solidFill>
                <a:latin typeface="Arial"/>
                <a:ea typeface="Arial"/>
                <a:cs typeface="Arial"/>
              </a:defRPr>
            </a:defPPr>
          </a:lstStyle>
          <a:p xmlns:a="http://schemas.openxmlformats.org/drawingml/2006/main">
            <a:pPr algn="l">
              <a:defRPr sz="1200" b="0">
                <a:solidFill>
                  <a:srgbClr val="617066"/>
                </a:solidFill>
                <a:latin typeface="Arial"/>
                <a:ea typeface="Arial"/>
                <a:cs typeface="Arial"/>
              </a:defRPr>
            </a:pPr>
            <a:r>
              <a:rPr sz="1200" b="0">
                <a:solidFill>
                  <a:srgbClr val="617066"/>
                </a:solidFill>
                <a:latin typeface="Arial"/>
                <a:ea typeface="Arial"/>
                <a:cs typeface="Arial"/>
              </a:rPr>
              <a:t>Demo example • separate evidence states</a:t>
            </a:r>
          </a:p>
        </p:txBody>
      </p:sp>
    </p:spTree>
    <p:extLst>
      <p:ext uri="{BB962C8B-B14F-4D97-AF65-F5344CB8AC3E}">
        <p14:creationId xmlns:p14="http://schemas.microsoft.com/office/powerpoint/2010/main" val="1797072347"/>
      </p:ext>
    </p:extLst>
  </p:cSld>
</p:sld>
</file>

<file path=ppt/slides/slide5.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6" name="NILE  /  WHY PEOPLE WOULD USE IT">
            <a:extLst xmlns:a="http://schemas.openxmlformats.org/drawingml/2006/main">
              <a:ext uri="{FF2B5EF4-FFF2-40B4-BE49-F238E27FC236}">
                <a16:creationId xmlns:a16="http://schemas.microsoft.com/office/drawing/2014/main" id="{ECECEC8E-892B-4F06-8600-682F06DFD766}"/>
              </a:ext>
            </a:extLst>
          </p:cNvPr>
          <p:cNvSpPr>
            <a:spLocks xmlns:a="http://schemas.openxmlformats.org/drawingml/2006/main" noGrp="1"/>
          </p:cNvSpPr>
          <p:nvPr/>
        </p:nvSpPr>
        <p:spPr>
          <a:xfrm xmlns:a="http://schemas.openxmlformats.org/drawingml/2006/main">
            <a:off x="685800" y="381000"/>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BF7947"/>
                </a:solidFill>
                <a:latin typeface="Arial"/>
                <a:ea typeface="Arial"/>
                <a:cs typeface="Arial"/>
              </a:defRPr>
            </a:defPPr>
          </a:lstStyle>
          <a:p xmlns:a="http://schemas.openxmlformats.org/drawingml/2006/main">
            <a:pPr algn="l">
              <a:defRPr sz="1200" b="1">
                <a:solidFill>
                  <a:srgbClr val="BF7947"/>
                </a:solidFill>
                <a:latin typeface="Arial"/>
                <a:ea typeface="Arial"/>
                <a:cs typeface="Arial"/>
              </a:defRPr>
            </a:pPr>
            <a:r>
              <a:rPr sz="1200" b="1">
                <a:solidFill>
                  <a:srgbClr val="BF7947"/>
                </a:solidFill>
                <a:latin typeface="Arial"/>
                <a:ea typeface="Arial"/>
                <a:cs typeface="Arial"/>
              </a:rPr>
              <a:t>NILE  /  WHY PEOPLE WOULD USE IT</a:t>
            </a:r>
          </a:p>
        </p:txBody>
      </p:sp>
      <p:sp>
        <p:nvSpPr>
          <p:cNvPr id="2" name="Less uncertainty. Clearer value.">
            <a:extLst xmlns:a="http://schemas.openxmlformats.org/drawingml/2006/main">
              <a:ext uri="{FF2B5EF4-FFF2-40B4-BE49-F238E27FC236}">
                <a16:creationId xmlns:a16="http://schemas.microsoft.com/office/drawing/2014/main" id="{AD10FD37-BE7C-41F1-BA95-C22074466D53}"/>
              </a:ext>
            </a:extLst>
          </p:cNvPr>
          <p:cNvSpPr>
            <a:spLocks xmlns:a="http://schemas.openxmlformats.org/drawingml/2006/main" noGrp="1"/>
          </p:cNvSpPr>
          <p:nvPr/>
        </p:nvSpPr>
        <p:spPr>
          <a:xfrm xmlns:a="http://schemas.openxmlformats.org/drawingml/2006/main">
            <a:off x="685800" y="809625"/>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0">
                <a:solidFill>
                  <a:srgbClr val="253D30"/>
                </a:solidFill>
                <a:latin typeface="Georgia"/>
                <a:ea typeface="Georgia"/>
                <a:cs typeface="Georgia"/>
              </a:defRPr>
            </a:defPPr>
          </a:lstStyle>
          <a:p xmlns:a="http://schemas.openxmlformats.org/drawingml/2006/main">
            <a:pPr algn="l">
              <a:defRPr sz="3375" b="0">
                <a:solidFill>
                  <a:srgbClr val="253D30"/>
                </a:solidFill>
                <a:latin typeface="Georgia"/>
                <a:ea typeface="Georgia"/>
                <a:cs typeface="Georgia"/>
              </a:defRPr>
            </a:pPr>
            <a:r>
              <a:rPr sz="3375" b="0">
                <a:solidFill>
                  <a:srgbClr val="253D30"/>
                </a:solidFill>
                <a:latin typeface="Georgia"/>
                <a:ea typeface="Georgia"/>
                <a:cs typeface="Georgia"/>
              </a:rPr>
              <a:t>Less uncertainty. Clearer value.</a:t>
            </a:r>
          </a:p>
        </p:txBody>
      </p:sp>
      <p:sp>
        <p:nvSpPr>
          <p:cNvPr id="3" name="The adoption hypothesis: reduce coordination effor">
            <a:extLst xmlns:a="http://schemas.openxmlformats.org/drawingml/2006/main">
              <a:ext uri="{FF2B5EF4-FFF2-40B4-BE49-F238E27FC236}">
                <a16:creationId xmlns:a16="http://schemas.microsoft.com/office/drawing/2014/main" id="{DEAA0049-ECAE-4A33-A0C9-9830D1D456AF}"/>
              </a:ext>
            </a:extLst>
          </p:cNvPr>
          <p:cNvSpPr>
            <a:spLocks xmlns:a="http://schemas.openxmlformats.org/drawingml/2006/main" noGrp="1"/>
          </p:cNvSpPr>
          <p:nvPr/>
        </p:nvSpPr>
        <p:spPr>
          <a:xfrm xmlns:a="http://schemas.openxmlformats.org/drawingml/2006/main">
            <a:off x="685800" y="185737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17066"/>
                </a:solidFill>
                <a:latin typeface="Arial"/>
                <a:ea typeface="Arial"/>
                <a:cs typeface="Arial"/>
              </a:defRPr>
            </a:defPPr>
          </a:lstStyle>
          <a:p xmlns:a="http://schemas.openxmlformats.org/drawingml/2006/main">
            <a:pPr algn="l">
              <a:defRPr sz="1725" b="0">
                <a:solidFill>
                  <a:srgbClr val="617066"/>
                </a:solidFill>
                <a:latin typeface="Arial"/>
                <a:ea typeface="Arial"/>
                <a:cs typeface="Arial"/>
              </a:defRPr>
            </a:pPr>
            <a:r>
              <a:rPr sz="1725" b="0">
                <a:solidFill>
                  <a:srgbClr val="617066"/>
                </a:solidFill>
                <a:latin typeface="Arial"/>
                <a:ea typeface="Arial"/>
                <a:cs typeface="Arial"/>
              </a:rPr>
              <a:t>The adoption hypothesis: reduce coordination effort without hiding handling or collection costs.</a:t>
            </a:r>
          </a:p>
        </p:txBody>
      </p:sp>
      <p:sp>
        <p:nvSpPr>
          <p:cNvPr id="4" name="">
            <a:extLst xmlns:a="http://schemas.openxmlformats.org/drawingml/2006/main">
              <a:ext uri="{FF2B5EF4-FFF2-40B4-BE49-F238E27FC236}">
                <a16:creationId xmlns:a16="http://schemas.microsoft.com/office/drawing/2014/main" id="{0C084346-0BEF-45F3-AE77-3D314AE15346}"/>
              </a:ext>
            </a:extLst>
          </p:cNvPr>
          <p:cNvSpPr>
            <a:spLocks xmlns:a="http://schemas.openxmlformats.org/drawingml/2006/main" noGrp="1"/>
          </p:cNvSpPr>
          <p:nvPr/>
        </p:nvSpPr>
        <p:spPr>
          <a:xfrm xmlns:a="http://schemas.openxmlformats.org/drawingml/2006/main">
            <a:off x="685800" y="6296025"/>
            <a:ext cx="10820400" cy="14288"/>
          </a:xfrm>
          <a:prstGeom xmlns:a="http://schemas.openxmlformats.org/drawingml/2006/main" prst="rect">
            <a:avLst/>
          </a:prstGeom>
          <a:solidFill xmlns:a="http://schemas.openxmlformats.org/drawingml/2006/main">
            <a:srgbClr val="CDD4C6"/>
          </a:solidFill>
          <a:ln xmlns:a="http://schemas.openxmlformats.org/drawingml/2006/main" w="0">
            <a:noFill/>
          </a:ln>
        </p:spPr>
      </p:sp>
      <p:sp>
        <p:nvSpPr>
          <p:cNvPr id="5" name="Nile • Climate Hack-tion • 4 October 2026">
            <a:extLst xmlns:a="http://schemas.openxmlformats.org/drawingml/2006/main">
              <a:ext uri="{FF2B5EF4-FFF2-40B4-BE49-F238E27FC236}">
                <a16:creationId xmlns:a16="http://schemas.microsoft.com/office/drawing/2014/main" id="{32EA3872-ED58-4CD2-82C9-6E8D0D4F492E}"/>
              </a:ext>
            </a:extLst>
          </p:cNvPr>
          <p:cNvSpPr>
            <a:spLocks xmlns:a="http://schemas.openxmlformats.org/drawingml/2006/main" noGrp="1"/>
          </p:cNvSpPr>
          <p:nvPr/>
        </p:nvSpPr>
        <p:spPr>
          <a:xfrm xmlns:a="http://schemas.openxmlformats.org/drawingml/2006/main">
            <a:off x="685800" y="6448425"/>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066"/>
                </a:solidFill>
                <a:latin typeface="Arial"/>
                <a:ea typeface="Arial"/>
                <a:cs typeface="Arial"/>
              </a:defRPr>
            </a:defPPr>
          </a:lstStyle>
          <a:p xmlns:a="http://schemas.openxmlformats.org/drawingml/2006/main">
            <a:pPr algn="l">
              <a:defRPr sz="1050" b="0">
                <a:solidFill>
                  <a:srgbClr val="617066"/>
                </a:solidFill>
                <a:latin typeface="Arial"/>
                <a:ea typeface="Arial"/>
                <a:cs typeface="Arial"/>
              </a:defRPr>
            </a:pPr>
            <a:r>
              <a:rPr sz="1050" b="0">
                <a:solidFill>
                  <a:srgbClr val="617066"/>
                </a:solidFill>
                <a:latin typeface="Arial"/>
                <a:ea typeface="Arial"/>
                <a:cs typeface="Arial"/>
              </a:rPr>
              <a:t>Nile • Climate Hack-tion • 4 October 2026</a:t>
            </a:r>
          </a:p>
        </p:txBody>
      </p:sp>
      <p:sp>
        <p:nvSpPr>
          <p:cNvPr id="6" name="05">
            <a:extLst xmlns:a="http://schemas.openxmlformats.org/drawingml/2006/main">
              <a:ext uri="{FF2B5EF4-FFF2-40B4-BE49-F238E27FC236}">
                <a16:creationId xmlns:a16="http://schemas.microsoft.com/office/drawing/2014/main" id="{BD4BA081-0FE6-45DD-83D7-7629B5770A21}"/>
              </a:ext>
            </a:extLst>
          </p:cNvPr>
          <p:cNvSpPr>
            <a:spLocks xmlns:a="http://schemas.openxmlformats.org/drawingml/2006/main" noGrp="1"/>
          </p:cNvSpPr>
          <p:nvPr/>
        </p:nvSpPr>
        <p:spPr>
          <a:xfrm xmlns:a="http://schemas.openxmlformats.org/drawingml/2006/main">
            <a:off x="10953750" y="64293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BF7947"/>
                </a:solidFill>
                <a:latin typeface="Arial"/>
                <a:ea typeface="Arial"/>
                <a:cs typeface="Arial"/>
              </a:defRPr>
            </a:defPPr>
          </a:lstStyle>
          <a:p xmlns:a="http://schemas.openxmlformats.org/drawingml/2006/main">
            <a:pPr algn="r">
              <a:defRPr sz="1200" b="0">
                <a:solidFill>
                  <a:srgbClr val="BF7947"/>
                </a:solidFill>
                <a:latin typeface="Arial"/>
                <a:ea typeface="Arial"/>
                <a:cs typeface="Arial"/>
              </a:defRPr>
            </a:pPr>
            <a:r>
              <a:rPr sz="1200" b="0">
                <a:solidFill>
                  <a:srgbClr val="BF7947"/>
                </a:solidFill>
                <a:latin typeface="Arial"/>
                <a:ea typeface="Arial"/>
                <a:cs typeface="Arial"/>
              </a:rPr>
              <a:t>05</a:t>
            </a:r>
          </a:p>
        </p:txBody>
      </p:sp>
      <p:sp>
        <p:nvSpPr>
          <p:cNvPr id="7" name="For the cafe">
            <a:extLst xmlns:a="http://schemas.openxmlformats.org/drawingml/2006/main">
              <a:ext uri="{FF2B5EF4-FFF2-40B4-BE49-F238E27FC236}">
                <a16:creationId xmlns:a16="http://schemas.microsoft.com/office/drawing/2014/main" id="{DCD5E98B-3116-47A6-86B8-0D0165700337}"/>
              </a:ext>
            </a:extLst>
          </p:cNvPr>
          <p:cNvSpPr>
            <a:spLocks xmlns:a="http://schemas.openxmlformats.org/drawingml/2006/main" noGrp="1"/>
          </p:cNvSpPr>
          <p:nvPr/>
        </p:nvSpPr>
        <p:spPr>
          <a:xfrm xmlns:a="http://schemas.openxmlformats.org/drawingml/2006/main">
            <a:off x="685800" y="2819400"/>
            <a:ext cx="331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53D30"/>
                </a:solidFill>
                <a:latin typeface="Georgia"/>
                <a:ea typeface="Georgia"/>
                <a:cs typeface="Georgia"/>
              </a:defRPr>
            </a:defPPr>
          </a:lstStyle>
          <a:p xmlns:a="http://schemas.openxmlformats.org/drawingml/2006/main">
            <a:pPr algn="l">
              <a:defRPr sz="2250" b="0">
                <a:solidFill>
                  <a:srgbClr val="253D30"/>
                </a:solidFill>
                <a:latin typeface="Georgia"/>
                <a:ea typeface="Georgia"/>
                <a:cs typeface="Georgia"/>
              </a:defRPr>
            </a:pPr>
            <a:r>
              <a:rPr sz="2250" b="0">
                <a:solidFill>
                  <a:srgbClr val="253D30"/>
                </a:solidFill>
                <a:latin typeface="Georgia"/>
                <a:ea typeface="Georgia"/>
                <a:cs typeface="Georgia"/>
              </a:rPr>
              <a:t>For the cafe</a:t>
            </a:r>
          </a:p>
        </p:txBody>
      </p:sp>
      <p:sp>
        <p:nvSpPr>
          <p:cNvPr id="8" name="Repeat listings, understandable net value and a cl">
            <a:extLst xmlns:a="http://schemas.openxmlformats.org/drawingml/2006/main">
              <a:ext uri="{FF2B5EF4-FFF2-40B4-BE49-F238E27FC236}">
                <a16:creationId xmlns:a16="http://schemas.microsoft.com/office/drawing/2014/main" id="{8DAE9323-03A4-4A25-BEE1-AAB885D1EC36}"/>
              </a:ext>
            </a:extLst>
          </p:cNvPr>
          <p:cNvSpPr>
            <a:spLocks xmlns:a="http://schemas.openxmlformats.org/drawingml/2006/main" noGrp="1"/>
          </p:cNvSpPr>
          <p:nvPr/>
        </p:nvSpPr>
        <p:spPr>
          <a:xfrm xmlns:a="http://schemas.openxmlformats.org/drawingml/2006/main">
            <a:off x="685800" y="3705225"/>
            <a:ext cx="33147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53D30"/>
                </a:solidFill>
                <a:latin typeface="Arial"/>
                <a:ea typeface="Arial"/>
                <a:cs typeface="Arial"/>
              </a:defRPr>
            </a:defPPr>
          </a:lstStyle>
          <a:p xmlns:a="http://schemas.openxmlformats.org/drawingml/2006/main">
            <a:pPr algn="l">
              <a:defRPr sz="1800" b="0">
                <a:solidFill>
                  <a:srgbClr val="253D30"/>
                </a:solidFill>
                <a:latin typeface="Arial"/>
                <a:ea typeface="Arial"/>
                <a:cs typeface="Arial"/>
              </a:defRPr>
            </a:pPr>
            <a:r>
              <a:rPr sz="1800" b="0">
                <a:solidFill>
                  <a:srgbClr val="253D30"/>
                </a:solidFill>
                <a:latin typeface="Arial"/>
                <a:ea typeface="Arial"/>
                <a:cs typeface="Arial"/>
              </a:rPr>
              <a:t>Repeat listings, understandable net value and a clear preparation checklist.</a:t>
            </a:r>
          </a:p>
        </p:txBody>
      </p:sp>
      <p:sp>
        <p:nvSpPr>
          <p:cNvPr id="9" name="For recipients / collectors">
            <a:extLst xmlns:a="http://schemas.openxmlformats.org/drawingml/2006/main">
              <a:ext uri="{FF2B5EF4-FFF2-40B4-BE49-F238E27FC236}">
                <a16:creationId xmlns:a16="http://schemas.microsoft.com/office/drawing/2014/main" id="{4ADA0391-7BE0-4B3C-B55E-72A0E63803FB}"/>
              </a:ext>
            </a:extLst>
          </p:cNvPr>
          <p:cNvSpPr>
            <a:spLocks xmlns:a="http://schemas.openxmlformats.org/drawingml/2006/main" noGrp="1"/>
          </p:cNvSpPr>
          <p:nvPr/>
        </p:nvSpPr>
        <p:spPr>
          <a:xfrm xmlns:a="http://schemas.openxmlformats.org/drawingml/2006/main">
            <a:off x="4419600" y="2819400"/>
            <a:ext cx="331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53D30"/>
                </a:solidFill>
                <a:latin typeface="Georgia"/>
                <a:ea typeface="Georgia"/>
                <a:cs typeface="Georgia"/>
              </a:defRPr>
            </a:defPPr>
          </a:lstStyle>
          <a:p xmlns:a="http://schemas.openxmlformats.org/drawingml/2006/main">
            <a:pPr algn="l">
              <a:defRPr sz="2250" b="0">
                <a:solidFill>
                  <a:srgbClr val="253D30"/>
                </a:solidFill>
                <a:latin typeface="Georgia"/>
                <a:ea typeface="Georgia"/>
                <a:cs typeface="Georgia"/>
              </a:defRPr>
            </a:pPr>
            <a:r>
              <a:rPr sz="2250" b="0">
                <a:solidFill>
                  <a:srgbClr val="253D30"/>
                </a:solidFill>
                <a:latin typeface="Georgia"/>
                <a:ea typeface="Georgia"/>
                <a:cs typeface="Georgia"/>
              </a:rPr>
              <a:t>For recipients / collectors</a:t>
            </a:r>
          </a:p>
        </p:txBody>
      </p:sp>
      <p:sp>
        <p:nvSpPr>
          <p:cNvPr id="10" name="Agree material, container, access, time and collec">
            <a:extLst xmlns:a="http://schemas.openxmlformats.org/drawingml/2006/main">
              <a:ext uri="{FF2B5EF4-FFF2-40B4-BE49-F238E27FC236}">
                <a16:creationId xmlns:a16="http://schemas.microsoft.com/office/drawing/2014/main" id="{44F5B53D-56A8-4DE1-ADD5-2B531769A543}"/>
              </a:ext>
            </a:extLst>
          </p:cNvPr>
          <p:cNvSpPr>
            <a:spLocks xmlns:a="http://schemas.openxmlformats.org/drawingml/2006/main" noGrp="1"/>
          </p:cNvSpPr>
          <p:nvPr/>
        </p:nvSpPr>
        <p:spPr>
          <a:xfrm xmlns:a="http://schemas.openxmlformats.org/drawingml/2006/main">
            <a:off x="4419600" y="3705225"/>
            <a:ext cx="33147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53D30"/>
                </a:solidFill>
                <a:latin typeface="Arial"/>
                <a:ea typeface="Arial"/>
                <a:cs typeface="Arial"/>
              </a:defRPr>
            </a:defPPr>
          </a:lstStyle>
          <a:p xmlns:a="http://schemas.openxmlformats.org/drawingml/2006/main">
            <a:pPr algn="l">
              <a:defRPr sz="1800" b="0">
                <a:solidFill>
                  <a:srgbClr val="253D30"/>
                </a:solidFill>
                <a:latin typeface="Arial"/>
                <a:ea typeface="Arial"/>
                <a:cs typeface="Arial"/>
              </a:defRPr>
            </a:pPr>
            <a:r>
              <a:rPr sz="1800" b="0">
                <a:solidFill>
                  <a:srgbClr val="253D30"/>
                </a:solidFill>
                <a:latin typeface="Arial"/>
                <a:ea typeface="Arial"/>
                <a:cs typeface="Arial"/>
              </a:rPr>
              <a:t>Agree material, container, access, time and collection responsibility before pickup.</a:t>
            </a:r>
          </a:p>
        </p:txBody>
      </p:sp>
      <p:sp>
        <p:nvSpPr>
          <p:cNvPr id="11" name="A reason to return">
            <a:extLst xmlns:a="http://schemas.openxmlformats.org/drawingml/2006/main">
              <a:ext uri="{FF2B5EF4-FFF2-40B4-BE49-F238E27FC236}">
                <a16:creationId xmlns:a16="http://schemas.microsoft.com/office/drawing/2014/main" id="{2612396F-9C9A-46E6-AE85-28964DD77C8E}"/>
              </a:ext>
            </a:extLst>
          </p:cNvPr>
          <p:cNvSpPr>
            <a:spLocks xmlns:a="http://schemas.openxmlformats.org/drawingml/2006/main" noGrp="1"/>
          </p:cNvSpPr>
          <p:nvPr/>
        </p:nvSpPr>
        <p:spPr>
          <a:xfrm xmlns:a="http://schemas.openxmlformats.org/drawingml/2006/main">
            <a:off x="8153400" y="2819400"/>
            <a:ext cx="331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53D30"/>
                </a:solidFill>
                <a:latin typeface="Georgia"/>
                <a:ea typeface="Georgia"/>
                <a:cs typeface="Georgia"/>
              </a:defRPr>
            </a:defPPr>
          </a:lstStyle>
          <a:p xmlns:a="http://schemas.openxmlformats.org/drawingml/2006/main">
            <a:pPr algn="l">
              <a:defRPr sz="2250" b="0">
                <a:solidFill>
                  <a:srgbClr val="253D30"/>
                </a:solidFill>
                <a:latin typeface="Georgia"/>
                <a:ea typeface="Georgia"/>
                <a:cs typeface="Georgia"/>
              </a:defRPr>
            </a:pPr>
            <a:r>
              <a:rPr sz="2250" b="0">
                <a:solidFill>
                  <a:srgbClr val="253D30"/>
                </a:solidFill>
                <a:latin typeface="Georgia"/>
                <a:ea typeface="Georgia"/>
                <a:cs typeface="Georgia"/>
              </a:rPr>
              <a:t>A reason to return</a:t>
            </a:r>
          </a:p>
        </p:txBody>
      </p:sp>
      <p:sp>
        <p:nvSpPr>
          <p:cNvPr id="12" name="Usage / sales CSVs help plan bean purchases agains">
            <a:extLst xmlns:a="http://schemas.openxmlformats.org/drawingml/2006/main">
              <a:ext uri="{FF2B5EF4-FFF2-40B4-BE49-F238E27FC236}">
                <a16:creationId xmlns:a16="http://schemas.microsoft.com/office/drawing/2014/main" id="{951E81C4-7CD2-4F84-82BE-57E5E179427E}"/>
              </a:ext>
            </a:extLst>
          </p:cNvPr>
          <p:cNvSpPr>
            <a:spLocks xmlns:a="http://schemas.openxmlformats.org/drawingml/2006/main" noGrp="1"/>
          </p:cNvSpPr>
          <p:nvPr/>
        </p:nvSpPr>
        <p:spPr>
          <a:xfrm xmlns:a="http://schemas.openxmlformats.org/drawingml/2006/main">
            <a:off x="8153400" y="3705225"/>
            <a:ext cx="33147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53D30"/>
                </a:solidFill>
                <a:latin typeface="Arial"/>
                <a:ea typeface="Arial"/>
                <a:cs typeface="Arial"/>
              </a:defRPr>
            </a:defPPr>
          </a:lstStyle>
          <a:p xmlns:a="http://schemas.openxmlformats.org/drawingml/2006/main">
            <a:pPr algn="l">
              <a:defRPr sz="1800" b="0">
                <a:solidFill>
                  <a:srgbClr val="253D30"/>
                </a:solidFill>
                <a:latin typeface="Arial"/>
                <a:ea typeface="Arial"/>
                <a:cs typeface="Arial"/>
              </a:defRPr>
            </a:pPr>
            <a:r>
              <a:rPr sz="1800" b="0">
                <a:solidFill>
                  <a:srgbClr val="253D30"/>
                </a:solidFill>
                <a:latin typeface="Arial"/>
                <a:ea typeface="Arial"/>
                <a:cs typeface="Arial"/>
              </a:rPr>
              <a:t>Usage / sales CSVs help plan bean purchases against stock, goals and budget.</a:t>
            </a:r>
          </a:p>
        </p:txBody>
      </p:sp>
      <p:sp>
        <p:nvSpPr>
          <p:cNvPr id="13" name="">
            <a:extLst xmlns:a="http://schemas.openxmlformats.org/drawingml/2006/main">
              <a:ext uri="{FF2B5EF4-FFF2-40B4-BE49-F238E27FC236}">
                <a16:creationId xmlns:a16="http://schemas.microsoft.com/office/drawing/2014/main" id="{A89852CF-E339-48CA-9D4E-D6E76664B66B}"/>
              </a:ext>
            </a:extLst>
          </p:cNvPr>
          <p:cNvSpPr>
            <a:spLocks xmlns:a="http://schemas.openxmlformats.org/drawingml/2006/main" noGrp="1"/>
          </p:cNvSpPr>
          <p:nvPr/>
        </p:nvSpPr>
        <p:spPr>
          <a:xfrm xmlns:a="http://schemas.openxmlformats.org/drawingml/2006/main">
            <a:off x="685800" y="5229225"/>
            <a:ext cx="10820400" cy="14288"/>
          </a:xfrm>
          <a:prstGeom xmlns:a="http://schemas.openxmlformats.org/drawingml/2006/main" prst="rect">
            <a:avLst/>
          </a:prstGeom>
          <a:solidFill xmlns:a="http://schemas.openxmlformats.org/drawingml/2006/main">
            <a:srgbClr val="CDD4C6"/>
          </a:solidFill>
          <a:ln xmlns:a="http://schemas.openxmlformats.org/drawingml/2006/main" w="0">
            <a:noFill/>
          </a:ln>
        </p:spPr>
      </p:sp>
      <p:sp>
        <p:nvSpPr>
          <p:cNvPr id="14" name="Net benefit = sale revenue + documented avoided co">
            <a:extLst xmlns:a="http://schemas.openxmlformats.org/drawingml/2006/main">
              <a:ext uri="{FF2B5EF4-FFF2-40B4-BE49-F238E27FC236}">
                <a16:creationId xmlns:a16="http://schemas.microsoft.com/office/drawing/2014/main" id="{EC200F0A-E563-4C5C-B001-CD6E49413385}"/>
              </a:ext>
            </a:extLst>
          </p:cNvPr>
          <p:cNvSpPr>
            <a:spLocks xmlns:a="http://schemas.openxmlformats.org/drawingml/2006/main" noGrp="1"/>
          </p:cNvSpPr>
          <p:nvPr/>
        </p:nvSpPr>
        <p:spPr>
          <a:xfrm xmlns:a="http://schemas.openxmlformats.org/drawingml/2006/main">
            <a:off x="685800" y="5524500"/>
            <a:ext cx="1082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53D30"/>
                </a:solidFill>
                <a:latin typeface="Arial"/>
                <a:ea typeface="Arial"/>
                <a:cs typeface="Arial"/>
              </a:defRPr>
            </a:defPPr>
          </a:lstStyle>
          <a:p xmlns:a="http://schemas.openxmlformats.org/drawingml/2006/main">
            <a:pPr algn="l">
              <a:defRPr sz="2025" b="1">
                <a:solidFill>
                  <a:srgbClr val="253D30"/>
                </a:solidFill>
                <a:latin typeface="Arial"/>
                <a:ea typeface="Arial"/>
                <a:cs typeface="Arial"/>
              </a:defRPr>
            </a:pPr>
            <a:r>
              <a:rPr sz="2025" b="1">
                <a:solidFill>
                  <a:srgbClr val="253D30"/>
                </a:solidFill>
                <a:latin typeface="Arial"/>
                <a:ea typeface="Arial"/>
                <a:cs typeface="Arial"/>
              </a:rPr>
              <a:t>Net benefit = sale revenue + documented avoided costs</a:t>
            </a:r>
          </a:p>
        </p:txBody>
      </p:sp>
      <p:sp>
        <p:nvSpPr>
          <p:cNvPr id="15" name="− extra handling, collection and platform costs.">
            <a:extLst xmlns:a="http://schemas.openxmlformats.org/drawingml/2006/main">
              <a:ext uri="{FF2B5EF4-FFF2-40B4-BE49-F238E27FC236}">
                <a16:creationId xmlns:a16="http://schemas.microsoft.com/office/drawing/2014/main" id="{A3249FEA-3AAC-428C-A76E-B01E2A6150A9}"/>
              </a:ext>
            </a:extLst>
          </p:cNvPr>
          <p:cNvSpPr>
            <a:spLocks xmlns:a="http://schemas.openxmlformats.org/drawingml/2006/main" noGrp="1"/>
          </p:cNvSpPr>
          <p:nvPr/>
        </p:nvSpPr>
        <p:spPr>
          <a:xfrm xmlns:a="http://schemas.openxmlformats.org/drawingml/2006/main">
            <a:off x="685800" y="58864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53D30"/>
                </a:solidFill>
                <a:latin typeface="Arial"/>
                <a:ea typeface="Arial"/>
                <a:cs typeface="Arial"/>
              </a:defRPr>
            </a:defPPr>
          </a:lstStyle>
          <a:p xmlns:a="http://schemas.openxmlformats.org/drawingml/2006/main">
            <a:pPr algn="l">
              <a:defRPr sz="1875" b="0">
                <a:solidFill>
                  <a:srgbClr val="253D30"/>
                </a:solidFill>
                <a:latin typeface="Arial"/>
                <a:ea typeface="Arial"/>
                <a:cs typeface="Arial"/>
              </a:defRPr>
            </a:pPr>
            <a:r>
              <a:rPr sz="1875" b="0">
                <a:solidFill>
                  <a:srgbClr val="253D30"/>
                </a:solidFill>
                <a:latin typeface="Arial"/>
                <a:ea typeface="Arial"/>
                <a:cs typeface="Arial"/>
              </a:rPr>
              <a:t>− extra handling, collection and platform costs.</a:t>
            </a:r>
          </a:p>
        </p:txBody>
      </p:sp>
    </p:spTree>
    <p:extLst>
      <p:ext uri="{BB962C8B-B14F-4D97-AF65-F5344CB8AC3E}">
        <p14:creationId xmlns:p14="http://schemas.microsoft.com/office/powerpoint/2010/main" val="1588572489"/>
      </p:ext>
    </p:extLst>
  </p:cSld>
</p:sld>
</file>

<file path=ppt/slides/slide6.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0" name="NILE  /  ALTERNATIVES &amp; DIFFERENTIATION">
            <a:extLst xmlns:a="http://schemas.openxmlformats.org/drawingml/2006/main">
              <a:ext uri="{FF2B5EF4-FFF2-40B4-BE49-F238E27FC236}">
                <a16:creationId xmlns:a16="http://schemas.microsoft.com/office/drawing/2014/main" id="{D621CDB2-5839-4CFF-8989-9674ECC66F74}"/>
              </a:ext>
            </a:extLst>
          </p:cNvPr>
          <p:cNvSpPr>
            <a:spLocks xmlns:a="http://schemas.openxmlformats.org/drawingml/2006/main" noGrp="1"/>
          </p:cNvSpPr>
          <p:nvPr/>
        </p:nvSpPr>
        <p:spPr>
          <a:xfrm xmlns:a="http://schemas.openxmlformats.org/drawingml/2006/main">
            <a:off x="685800" y="381000"/>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BF7947"/>
                </a:solidFill>
                <a:latin typeface="Arial"/>
                <a:ea typeface="Arial"/>
                <a:cs typeface="Arial"/>
              </a:defRPr>
            </a:defPPr>
          </a:lstStyle>
          <a:p xmlns:a="http://schemas.openxmlformats.org/drawingml/2006/main">
            <a:pPr algn="l">
              <a:defRPr sz="1200" b="1">
                <a:solidFill>
                  <a:srgbClr val="BF7947"/>
                </a:solidFill>
                <a:latin typeface="Arial"/>
                <a:ea typeface="Arial"/>
                <a:cs typeface="Arial"/>
              </a:defRPr>
            </a:pPr>
            <a:r>
              <a:rPr sz="1200" b="1">
                <a:solidFill>
                  <a:srgbClr val="BF7947"/>
                </a:solidFill>
                <a:latin typeface="Arial"/>
                <a:ea typeface="Arial"/>
                <a:cs typeface="Arial"/>
              </a:rPr>
              <a:t>NILE  /  ALTERNATIVES &amp; DIFFERENTIATION</a:t>
            </a:r>
          </a:p>
        </p:txBody>
      </p:sp>
      <p:sp>
        <p:nvSpPr>
          <p:cNvPr id="2" name="Reground proves collection is valuable.">
            <a:extLst xmlns:a="http://schemas.openxmlformats.org/drawingml/2006/main">
              <a:ext uri="{FF2B5EF4-FFF2-40B4-BE49-F238E27FC236}">
                <a16:creationId xmlns:a16="http://schemas.microsoft.com/office/drawing/2014/main" id="{4481B266-B3E1-4228-B33F-0D20DF33C1F4}"/>
              </a:ext>
            </a:extLst>
          </p:cNvPr>
          <p:cNvSpPr>
            <a:spLocks xmlns:a="http://schemas.openxmlformats.org/drawingml/2006/main" noGrp="1"/>
          </p:cNvSpPr>
          <p:nvPr/>
        </p:nvSpPr>
        <p:spPr>
          <a:xfrm xmlns:a="http://schemas.openxmlformats.org/drawingml/2006/main">
            <a:off x="685800" y="809625"/>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0">
                <a:solidFill>
                  <a:srgbClr val="253D30"/>
                </a:solidFill>
                <a:latin typeface="Georgia"/>
                <a:ea typeface="Georgia"/>
                <a:cs typeface="Georgia"/>
              </a:defRPr>
            </a:defPPr>
          </a:lstStyle>
          <a:p xmlns:a="http://schemas.openxmlformats.org/drawingml/2006/main">
            <a:pPr algn="l">
              <a:defRPr sz="3375" b="0">
                <a:solidFill>
                  <a:srgbClr val="253D30"/>
                </a:solidFill>
                <a:latin typeface="Georgia"/>
                <a:ea typeface="Georgia"/>
                <a:cs typeface="Georgia"/>
              </a:defRPr>
            </a:pPr>
            <a:r>
              <a:rPr sz="3375" b="0">
                <a:solidFill>
                  <a:srgbClr val="253D30"/>
                </a:solidFill>
                <a:latin typeface="Georgia"/>
                <a:ea typeface="Georgia"/>
                <a:cs typeface="Georgia"/>
              </a:rPr>
              <a:t>Reground proves collection is valuable.</a:t>
            </a:r>
          </a:p>
        </p:txBody>
      </p:sp>
      <p:sp>
        <p:nvSpPr>
          <p:cNvPr id="3" name="Nile proposes batch-level choice, usable-bean matc">
            <a:extLst xmlns:a="http://schemas.openxmlformats.org/drawingml/2006/main">
              <a:ext uri="{FF2B5EF4-FFF2-40B4-BE49-F238E27FC236}">
                <a16:creationId xmlns:a16="http://schemas.microsoft.com/office/drawing/2014/main" id="{9E4BB1C6-39D4-4CDF-AD7E-D44DEEF9C5AB}"/>
              </a:ext>
            </a:extLst>
          </p:cNvPr>
          <p:cNvSpPr>
            <a:spLocks xmlns:a="http://schemas.openxmlformats.org/drawingml/2006/main" noGrp="1"/>
          </p:cNvSpPr>
          <p:nvPr/>
        </p:nvSpPr>
        <p:spPr>
          <a:xfrm xmlns:a="http://schemas.openxmlformats.org/drawingml/2006/main">
            <a:off x="685800" y="185737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17066"/>
                </a:solidFill>
                <a:latin typeface="Arial"/>
                <a:ea typeface="Arial"/>
                <a:cs typeface="Arial"/>
              </a:defRPr>
            </a:defPPr>
          </a:lstStyle>
          <a:p xmlns:a="http://schemas.openxmlformats.org/drawingml/2006/main">
            <a:pPr algn="l">
              <a:defRPr sz="1725" b="0">
                <a:solidFill>
                  <a:srgbClr val="617066"/>
                </a:solidFill>
                <a:latin typeface="Arial"/>
                <a:ea typeface="Arial"/>
                <a:cs typeface="Arial"/>
              </a:defRPr>
            </a:pPr>
            <a:r>
              <a:rPr sz="1725" b="0">
                <a:solidFill>
                  <a:srgbClr val="617066"/>
                </a:solidFill>
                <a:latin typeface="Arial"/>
                <a:ea typeface="Arial"/>
                <a:cs typeface="Arial"/>
              </a:rPr>
              <a:t>Nile proposes batch-level choice, usable-bean matching and coordination; the commercial advantage needs testing.</a:t>
            </a:r>
          </a:p>
        </p:txBody>
      </p:sp>
      <p:sp>
        <p:nvSpPr>
          <p:cNvPr id="4" name="">
            <a:extLst xmlns:a="http://schemas.openxmlformats.org/drawingml/2006/main">
              <a:ext uri="{FF2B5EF4-FFF2-40B4-BE49-F238E27FC236}">
                <a16:creationId xmlns:a16="http://schemas.microsoft.com/office/drawing/2014/main" id="{C5BDDF28-B47C-48A4-8A65-385FAA26D494}"/>
              </a:ext>
            </a:extLst>
          </p:cNvPr>
          <p:cNvSpPr>
            <a:spLocks xmlns:a="http://schemas.openxmlformats.org/drawingml/2006/main" noGrp="1"/>
          </p:cNvSpPr>
          <p:nvPr/>
        </p:nvSpPr>
        <p:spPr>
          <a:xfrm xmlns:a="http://schemas.openxmlformats.org/drawingml/2006/main">
            <a:off x="685800" y="6296025"/>
            <a:ext cx="10820400" cy="14288"/>
          </a:xfrm>
          <a:prstGeom xmlns:a="http://schemas.openxmlformats.org/drawingml/2006/main" prst="rect">
            <a:avLst/>
          </a:prstGeom>
          <a:solidFill xmlns:a="http://schemas.openxmlformats.org/drawingml/2006/main">
            <a:srgbClr val="CDD4C6"/>
          </a:solidFill>
          <a:ln xmlns:a="http://schemas.openxmlformats.org/drawingml/2006/main" w="0">
            <a:noFill/>
          </a:ln>
        </p:spPr>
      </p:sp>
      <p:sp>
        <p:nvSpPr>
          <p:cNvPr id="5" name="Nile • Climate Hack-tion • 4 October 2026">
            <a:extLst xmlns:a="http://schemas.openxmlformats.org/drawingml/2006/main">
              <a:ext uri="{FF2B5EF4-FFF2-40B4-BE49-F238E27FC236}">
                <a16:creationId xmlns:a16="http://schemas.microsoft.com/office/drawing/2014/main" id="{D2114274-1267-4EA7-9571-9FEDD8B96499}"/>
              </a:ext>
            </a:extLst>
          </p:cNvPr>
          <p:cNvSpPr>
            <a:spLocks xmlns:a="http://schemas.openxmlformats.org/drawingml/2006/main" noGrp="1"/>
          </p:cNvSpPr>
          <p:nvPr/>
        </p:nvSpPr>
        <p:spPr>
          <a:xfrm xmlns:a="http://schemas.openxmlformats.org/drawingml/2006/main">
            <a:off x="685800" y="6448425"/>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066"/>
                </a:solidFill>
                <a:latin typeface="Arial"/>
                <a:ea typeface="Arial"/>
                <a:cs typeface="Arial"/>
              </a:defRPr>
            </a:defPPr>
          </a:lstStyle>
          <a:p xmlns:a="http://schemas.openxmlformats.org/drawingml/2006/main">
            <a:pPr algn="l">
              <a:defRPr sz="1050" b="0">
                <a:solidFill>
                  <a:srgbClr val="617066"/>
                </a:solidFill>
                <a:latin typeface="Arial"/>
                <a:ea typeface="Arial"/>
                <a:cs typeface="Arial"/>
              </a:defRPr>
            </a:pPr>
            <a:r>
              <a:rPr sz="1050" b="0">
                <a:solidFill>
                  <a:srgbClr val="617066"/>
                </a:solidFill>
                <a:latin typeface="Arial"/>
                <a:ea typeface="Arial"/>
                <a:cs typeface="Arial"/>
              </a:rPr>
              <a:t>Nile • Climate Hack-tion • 4 October 2026</a:t>
            </a:r>
          </a:p>
        </p:txBody>
      </p:sp>
      <p:sp>
        <p:nvSpPr>
          <p:cNvPr id="6" name="06">
            <a:extLst xmlns:a="http://schemas.openxmlformats.org/drawingml/2006/main">
              <a:ext uri="{FF2B5EF4-FFF2-40B4-BE49-F238E27FC236}">
                <a16:creationId xmlns:a16="http://schemas.microsoft.com/office/drawing/2014/main" id="{26F11219-8C58-4196-B055-C799D9EB60CC}"/>
              </a:ext>
            </a:extLst>
          </p:cNvPr>
          <p:cNvSpPr>
            <a:spLocks xmlns:a="http://schemas.openxmlformats.org/drawingml/2006/main" noGrp="1"/>
          </p:cNvSpPr>
          <p:nvPr/>
        </p:nvSpPr>
        <p:spPr>
          <a:xfrm xmlns:a="http://schemas.openxmlformats.org/drawingml/2006/main">
            <a:off x="10953750" y="64293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BF7947"/>
                </a:solidFill>
                <a:latin typeface="Arial"/>
                <a:ea typeface="Arial"/>
                <a:cs typeface="Arial"/>
              </a:defRPr>
            </a:defPPr>
          </a:lstStyle>
          <a:p xmlns:a="http://schemas.openxmlformats.org/drawingml/2006/main">
            <a:pPr algn="r">
              <a:defRPr sz="1200" b="0">
                <a:solidFill>
                  <a:srgbClr val="BF7947"/>
                </a:solidFill>
                <a:latin typeface="Arial"/>
                <a:ea typeface="Arial"/>
                <a:cs typeface="Arial"/>
              </a:defRPr>
            </a:pPr>
            <a:r>
              <a:rPr sz="1200" b="0">
                <a:solidFill>
                  <a:srgbClr val="BF7947"/>
                </a:solidFill>
                <a:latin typeface="Arial"/>
                <a:ea typeface="Arial"/>
                <a:cs typeface="Arial"/>
              </a:rPr>
              <a:t>06</a:t>
            </a:r>
          </a:p>
        </p:txBody>
      </p:sp>
      <p:graphicFrame>
        <p:nvGraphicFramePr>
          <p:cNvPr id="7" name="">
            <a:extLst xmlns:a="http://schemas.openxmlformats.org/drawingml/2006/main">
              <a:ext uri="{FF2B5EF4-FFF2-40B4-BE49-F238E27FC236}">
                <a16:creationId xmlns:a16="http://schemas.microsoft.com/office/drawing/2014/main" id="{AFE084BB-B7FF-4604-9E07-B0066D9B590E}"/>
              </a:ext>
            </a:extLst>
          </p:cNvPr>
          <p:cNvGraphicFramePr/>
          <p:nvPr/>
        </p:nvGraphicFramePr>
        <p:xfrm>
          <a:off xmlns:a="http://schemas.openxmlformats.org/drawingml/2006/main" x="685800" y="2571750"/>
          <a:ext xmlns:a="http://schemas.openxmlformats.org/drawingml/2006/main" cx="10820400" cy="3143250"/>
        </p:xfrm>
        <a:graphic xmlns:a="http://schemas.openxmlformats.org/drawingml/2006/main">
          <a:graphicData uri="http://schemas.openxmlformats.org/drawingml/2006/table">
            <a:tbl>
              <a:tblPr firstRow="0" bandRow="0"/>
              <a:tblGrid>
                <a:gridCol w="2057400"/>
                <a:gridCol w="4267200"/>
                <a:gridCol w="4495800"/>
              </a:tblGrid>
              <a:tr h="628650">
                <a:tc>
                  <a:txBody>
                    <a:bodyPr/>
                    <a:lstStyle/>
                    <a:p>
                      <a:r>
                        <a:rPr sz="1425" b="1">
                          <a:solidFill>
                            <a:srgbClr val="FFFFFF"/>
                          </a:solidFill>
                          <a:latin typeface="Arial"/>
                          <a:ea typeface="Arial"/>
                          <a:cs typeface="Arial"/>
                        </a:rPr>
                        <a:t>Dimension</a:t>
                      </a:r>
                    </a:p>
                  </a:txBody>
                  <a:tcPr marL="133350" marR="133350" marT="76200" marB="76200" anchor="ctr">
                    <a:solidFill>
                      <a:srgbClr val="214535"/>
                    </a:solidFill>
                  </a:tcPr>
                </a:tc>
                <a:tc>
                  <a:txBody>
                    <a:bodyPr/>
                    <a:lstStyle/>
                    <a:p>
                      <a:r>
                        <a:rPr sz="1425" b="1">
                          <a:solidFill>
                            <a:srgbClr val="FFFFFF"/>
                          </a:solidFill>
                          <a:latin typeface="Arial"/>
                          <a:ea typeface="Arial"/>
                          <a:cs typeface="Arial"/>
                        </a:rPr>
                        <a:t>Reground: documented service</a:t>
                      </a:r>
                    </a:p>
                  </a:txBody>
                  <a:tcPr marL="133350" marR="133350" marT="76200" marB="76200" anchor="ctr">
                    <a:solidFill>
                      <a:srgbClr val="214535"/>
                    </a:solidFill>
                  </a:tcPr>
                </a:tc>
                <a:tc>
                  <a:txBody>
                    <a:bodyPr/>
                    <a:lstStyle/>
                    <a:p>
                      <a:r>
                        <a:rPr sz="1425" b="1">
                          <a:solidFill>
                            <a:srgbClr val="FFFFFF"/>
                          </a:solidFill>
                          <a:latin typeface="Arial"/>
                          <a:ea typeface="Arial"/>
                          <a:cs typeface="Arial"/>
                        </a:rPr>
                        <a:t>Nile: local prototype</a:t>
                      </a:r>
                    </a:p>
                  </a:txBody>
                  <a:tcPr marL="133350" marR="133350" marT="76200" marB="76200" anchor="ctr">
                    <a:solidFill>
                      <a:srgbClr val="214535"/>
                    </a:solidFill>
                  </a:tcPr>
                </a:tc>
              </a:tr>
              <a:tr h="628650">
                <a:tc>
                  <a:txBody>
                    <a:bodyPr/>
                    <a:lstStyle/>
                    <a:p>
                      <a:r>
                        <a:rPr sz="1425">
                          <a:solidFill>
                            <a:srgbClr val="253D30"/>
                          </a:solidFill>
                          <a:latin typeface="Arial"/>
                          <a:ea typeface="Arial"/>
                          <a:cs typeface="Arial"/>
                        </a:rPr>
                        <a:t>Material routes</a:t>
                      </a:r>
                    </a:p>
                  </a:txBody>
                  <a:tcPr marL="133350" marR="133350" marT="76200" marB="76200" anchor="ctr">
                    <a:solidFill>
                      <a:srgbClr val="F4EFE5"/>
                    </a:solidFill>
                  </a:tcPr>
                </a:tc>
                <a:tc>
                  <a:txBody>
                    <a:bodyPr/>
                    <a:lstStyle/>
                    <a:p>
                      <a:r>
                        <a:rPr sz="1425">
                          <a:solidFill>
                            <a:srgbClr val="253D30"/>
                          </a:solidFill>
                          <a:latin typeface="Arial"/>
                          <a:ea typeface="Arial"/>
                          <a:cs typeface="Arial"/>
                        </a:rPr>
                        <a:t>Grounds and chaff collection; wider circular projects.</a:t>
                      </a:r>
                    </a:p>
                  </a:txBody>
                  <a:tcPr marL="133350" marR="133350" marT="76200" marB="76200" anchor="ctr">
                    <a:solidFill>
                      <a:srgbClr val="F4EFE5"/>
                    </a:solidFill>
                  </a:tcPr>
                </a:tc>
                <a:tc>
                  <a:txBody>
                    <a:bodyPr/>
                    <a:lstStyle/>
                    <a:p>
                      <a:r>
                        <a:rPr sz="1425">
                          <a:solidFill>
                            <a:srgbClr val="253D30"/>
                          </a:solidFill>
                          <a:latin typeface="Arial"/>
                          <a:ea typeface="Arial"/>
                          <a:cs typeface="Arial"/>
                        </a:rPr>
                        <a:t>Grounds + usable beans to sample cafes; wider catalogue unvalidated.</a:t>
                      </a:r>
                    </a:p>
                  </a:txBody>
                  <a:tcPr marL="133350" marR="133350" marT="76200" marB="76200" anchor="ctr">
                    <a:solidFill>
                      <a:srgbClr val="F4EFE5"/>
                    </a:solidFill>
                  </a:tcPr>
                </a:tc>
              </a:tr>
              <a:tr h="628650">
                <a:tc>
                  <a:txBody>
                    <a:bodyPr/>
                    <a:lstStyle/>
                    <a:p>
                      <a:r>
                        <a:rPr sz="1425">
                          <a:solidFill>
                            <a:srgbClr val="253D30"/>
                          </a:solidFill>
                          <a:latin typeface="Arial"/>
                          <a:ea typeface="Arial"/>
                          <a:cs typeface="Arial"/>
                        </a:rPr>
                        <a:t>Collection</a:t>
                      </a:r>
                    </a:p>
                  </a:txBody>
                  <a:tcPr marL="133350" marR="133350" marT="76200" marB="76200" anchor="ctr">
                    <a:solidFill>
                      <a:srgbClr val="F4EFE5"/>
                    </a:solidFill>
                  </a:tcPr>
                </a:tc>
                <a:tc>
                  <a:txBody>
                    <a:bodyPr/>
                    <a:lstStyle/>
                    <a:p>
                      <a:r>
                        <a:rPr sz="1425">
                          <a:solidFill>
                            <a:srgbClr val="253D30"/>
                          </a:solidFill>
                          <a:latin typeface="Arial"/>
                          <a:ea typeface="Arial"/>
                          <a:cs typeface="Arial"/>
                        </a:rPr>
                        <a:t>Bins and physical pickups.</a:t>
                      </a:r>
                    </a:p>
                  </a:txBody>
                  <a:tcPr marL="133350" marR="133350" marT="76200" marB="76200" anchor="ctr">
                    <a:solidFill>
                      <a:srgbClr val="F4EFE5"/>
                    </a:solidFill>
                  </a:tcPr>
                </a:tc>
                <a:tc>
                  <a:txBody>
                    <a:bodyPr/>
                    <a:lstStyle/>
                    <a:p>
                      <a:r>
                        <a:rPr sz="1425">
                          <a:solidFill>
                            <a:srgbClr val="253D30"/>
                          </a:solidFill>
                          <a:latin typeface="Arial"/>
                          <a:ea typeface="Arial"/>
                          <a:cs typeface="Arial"/>
                        </a:rPr>
                        <a:t>Compatibility, cost comparison and shared collection brief; no fleet.</a:t>
                      </a:r>
                    </a:p>
                  </a:txBody>
                  <a:tcPr marL="133350" marR="133350" marT="76200" marB="76200" anchor="ctr">
                    <a:solidFill>
                      <a:srgbClr val="F4EFE5"/>
                    </a:solidFill>
                  </a:tcPr>
                </a:tc>
              </a:tr>
              <a:tr h="628650">
                <a:tc>
                  <a:txBody>
                    <a:bodyPr/>
                    <a:lstStyle/>
                    <a:p>
                      <a:r>
                        <a:rPr sz="1425">
                          <a:solidFill>
                            <a:srgbClr val="253D30"/>
                          </a:solidFill>
                          <a:latin typeface="Arial"/>
                          <a:ea typeface="Arial"/>
                          <a:cs typeface="Arial"/>
                        </a:rPr>
                        <a:t>Evidence</a:t>
                      </a:r>
                    </a:p>
                  </a:txBody>
                  <a:tcPr marL="133350" marR="133350" marT="76200" marB="76200" anchor="ctr">
                    <a:solidFill>
                      <a:srgbClr val="F4EFE5"/>
                    </a:solidFill>
                  </a:tcPr>
                </a:tc>
                <a:tc>
                  <a:txBody>
                    <a:bodyPr/>
                    <a:lstStyle/>
                    <a:p>
                      <a:r>
                        <a:rPr sz="1425">
                          <a:solidFill>
                            <a:srgbClr val="253D30"/>
                          </a:solidFill>
                          <a:latin typeface="Arial"/>
                          <a:ea typeface="Arial"/>
                          <a:cs typeface="Arial"/>
                        </a:rPr>
                        <a:t>Pickup/destination tracking, online reporting and updates.</a:t>
                      </a:r>
                    </a:p>
                  </a:txBody>
                  <a:tcPr marL="133350" marR="133350" marT="76200" marB="76200" anchor="ctr">
                    <a:solidFill>
                      <a:srgbClr val="F4EFE5"/>
                    </a:solidFill>
                  </a:tcPr>
                </a:tc>
                <a:tc>
                  <a:txBody>
                    <a:bodyPr/>
                    <a:lstStyle/>
                    <a:p>
                      <a:r>
                        <a:rPr sz="1425">
                          <a:solidFill>
                            <a:srgbClr val="253D30"/>
                          </a:solidFill>
                          <a:latin typeface="Arial"/>
                          <a:ea typeface="Arial"/>
                          <a:cs typeface="Arial"/>
                        </a:rPr>
                        <a:t>Accepted weights, two-party receipts and separate reported use.</a:t>
                      </a:r>
                    </a:p>
                  </a:txBody>
                  <a:tcPr marL="133350" marR="133350" marT="76200" marB="76200" anchor="ctr">
                    <a:solidFill>
                      <a:srgbClr val="F4EFE5"/>
                    </a:solidFill>
                  </a:tcPr>
                </a:tc>
              </a:tr>
              <a:tr h="628650">
                <a:tc>
                  <a:txBody>
                    <a:bodyPr/>
                    <a:lstStyle/>
                    <a:p>
                      <a:r>
                        <a:rPr sz="1425">
                          <a:solidFill>
                            <a:srgbClr val="253D30"/>
                          </a:solidFill>
                          <a:latin typeface="Arial"/>
                          <a:ea typeface="Arial"/>
                          <a:cs typeface="Arial"/>
                        </a:rPr>
                        <a:t>Business adoption</a:t>
                      </a:r>
                    </a:p>
                  </a:txBody>
                  <a:tcPr marL="133350" marR="133350" marT="76200" marB="76200" anchor="ctr">
                    <a:solidFill>
                      <a:srgbClr val="F4EFE5"/>
                    </a:solidFill>
                  </a:tcPr>
                </a:tc>
                <a:tc>
                  <a:txBody>
                    <a:bodyPr/>
                    <a:lstStyle/>
                    <a:p>
                      <a:r>
                        <a:rPr sz="1425">
                          <a:solidFill>
                            <a:srgbClr val="253D30"/>
                          </a:solidFill>
                          <a:latin typeface="Arial"/>
                          <a:ea typeface="Arial"/>
                          <a:cs typeface="Arial"/>
                        </a:rPr>
                        <a:t>Education, consultancy and Circular Coffee ESG/certification.</a:t>
                      </a:r>
                    </a:p>
                  </a:txBody>
                  <a:tcPr marL="133350" marR="133350" marT="76200" marB="76200" anchor="ctr">
                    <a:solidFill>
                      <a:srgbClr val="F4EFE5"/>
                    </a:solidFill>
                  </a:tcPr>
                </a:tc>
                <a:tc>
                  <a:txBody>
                    <a:bodyPr/>
                    <a:lstStyle/>
                    <a:p>
                      <a:r>
                        <a:rPr sz="1425">
                          <a:solidFill>
                            <a:srgbClr val="253D30"/>
                          </a:solidFill>
                          <a:latin typeface="Arial"/>
                          <a:ea typeface="Arial"/>
                          <a:cs typeface="Arial"/>
                        </a:rPr>
                        <a:t>Repeat listings, batch economics and CSV purchase planning.</a:t>
                      </a:r>
                    </a:p>
                  </a:txBody>
                  <a:tcPr marL="133350" marR="133350" marT="76200" marB="76200" anchor="ctr">
                    <a:solidFill>
                      <a:srgbClr val="F4EFE5"/>
                    </a:solidFill>
                  </a:tcPr>
                </a:tc>
              </a:tr>
            </a:tbl>
          </a:graphicData>
        </a:graphic>
      </p:graphicFrame>
      <p:sp>
        <p:nvSpPr>
          <p:cNvPr id="8" name="Potential collector partner only; no agreement or ">
            <a:extLst xmlns:a="http://schemas.openxmlformats.org/drawingml/2006/main">
              <a:ext uri="{FF2B5EF4-FFF2-40B4-BE49-F238E27FC236}">
                <a16:creationId xmlns:a16="http://schemas.microsoft.com/office/drawing/2014/main" id="{43262D5F-7CC2-4FD5-9E5F-BDF247E2E4B6}"/>
              </a:ext>
            </a:extLst>
          </p:cNvPr>
          <p:cNvSpPr>
            <a:spLocks xmlns:a="http://schemas.openxmlformats.org/drawingml/2006/main" noGrp="1"/>
          </p:cNvSpPr>
          <p:nvPr/>
        </p:nvSpPr>
        <p:spPr>
          <a:xfrm xmlns:a="http://schemas.openxmlformats.org/drawingml/2006/main">
            <a:off x="685800" y="586740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17066"/>
                </a:solidFill>
                <a:latin typeface="Arial"/>
                <a:ea typeface="Arial"/>
                <a:cs typeface="Arial"/>
              </a:defRPr>
            </a:defPPr>
          </a:lstStyle>
          <a:p xmlns:a="http://schemas.openxmlformats.org/drawingml/2006/main">
            <a:pPr algn="l">
              <a:defRPr sz="1425" b="0">
                <a:solidFill>
                  <a:srgbClr val="617066"/>
                </a:solidFill>
                <a:latin typeface="Arial"/>
                <a:ea typeface="Arial"/>
                <a:cs typeface="Arial"/>
              </a:defRPr>
            </a:pPr>
            <a:r>
              <a:rPr sz="1425" b="0">
                <a:solidFill>
                  <a:srgbClr val="617066"/>
                </a:solidFill>
                <a:latin typeface="Arial"/>
                <a:ea typeface="Arial"/>
                <a:cs typeface="Arial"/>
              </a:rPr>
              <a:t>Potential collector partner only; no agreement or proven price/climate advantage.</a:t>
            </a:r>
          </a:p>
        </p:txBody>
      </p:sp>
      <p:sp>
        <p:nvSpPr>
          <p:cNvPr id="9" name="Sources: reground.com.au/collection/ground-coffee/">
            <a:extLst xmlns:a="http://schemas.openxmlformats.org/drawingml/2006/main">
              <a:ext uri="{FF2B5EF4-FFF2-40B4-BE49-F238E27FC236}">
                <a16:creationId xmlns:a16="http://schemas.microsoft.com/office/drawing/2014/main" id="{3872FDF4-02F3-48E2-A920-57D1BC18278A}"/>
              </a:ext>
            </a:extLst>
          </p:cNvPr>
          <p:cNvSpPr>
            <a:spLocks xmlns:a="http://schemas.openxmlformats.org/drawingml/2006/main" noGrp="1"/>
          </p:cNvSpPr>
          <p:nvPr/>
        </p:nvSpPr>
        <p:spPr>
          <a:xfrm xmlns:a="http://schemas.openxmlformats.org/drawingml/2006/main">
            <a:off x="685800" y="6153150"/>
            <a:ext cx="108204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617066"/>
                </a:solidFill>
                <a:latin typeface="Arial"/>
                <a:ea typeface="Arial"/>
                <a:cs typeface="Arial"/>
              </a:defRPr>
            </a:defPPr>
          </a:lstStyle>
          <a:p xmlns:a="http://schemas.openxmlformats.org/drawingml/2006/main">
            <a:pPr algn="l">
              <a:defRPr sz="900" b="0">
                <a:solidFill>
                  <a:srgbClr val="617066"/>
                </a:solidFill>
                <a:latin typeface="Arial"/>
                <a:ea typeface="Arial"/>
                <a:cs typeface="Arial"/>
              </a:defRPr>
            </a:pPr>
            <a:r>
              <a:rPr sz="900" b="0">
                <a:solidFill>
                  <a:srgbClr val="617066"/>
                </a:solidFill>
                <a:latin typeface="Arial"/>
                <a:ea typeface="Arial"/>
                <a:cs typeface="Arial"/>
              </a:rPr>
              <a:t>Sources: reground.com.au/collection/ground-coffee/ • /collection/chaff/ • /collection/circular-coffee/ • /consultancy/</a:t>
            </a:r>
          </a:p>
        </p:txBody>
      </p:sp>
    </p:spTree>
    <p:extLst>
      <p:ext uri="{BB962C8B-B14F-4D97-AF65-F5344CB8AC3E}">
        <p14:creationId xmlns:p14="http://schemas.microsoft.com/office/powerpoint/2010/main" val="404047451"/>
      </p:ext>
    </p:extLst>
  </p:cSld>
</p:sld>
</file>

<file path=ppt/slides/slide7.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8" name="NILE  /  ILLUSTRATIVE POTENTIAL — NOT ACHIEVED">
            <a:extLst xmlns:a="http://schemas.openxmlformats.org/drawingml/2006/main">
              <a:ext uri="{FF2B5EF4-FFF2-40B4-BE49-F238E27FC236}">
                <a16:creationId xmlns:a16="http://schemas.microsoft.com/office/drawing/2014/main" id="{63B99374-291B-445A-B951-897F41CDD659}"/>
              </a:ext>
            </a:extLst>
          </p:cNvPr>
          <p:cNvSpPr>
            <a:spLocks xmlns:a="http://schemas.openxmlformats.org/drawingml/2006/main" noGrp="1"/>
          </p:cNvSpPr>
          <p:nvPr/>
        </p:nvSpPr>
        <p:spPr>
          <a:xfrm xmlns:a="http://schemas.openxmlformats.org/drawingml/2006/main">
            <a:off x="685800" y="381000"/>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BF7947"/>
                </a:solidFill>
                <a:latin typeface="Arial"/>
                <a:ea typeface="Arial"/>
                <a:cs typeface="Arial"/>
              </a:defRPr>
            </a:defPPr>
          </a:lstStyle>
          <a:p xmlns:a="http://schemas.openxmlformats.org/drawingml/2006/main">
            <a:pPr algn="l">
              <a:defRPr sz="1200" b="1">
                <a:solidFill>
                  <a:srgbClr val="BF7947"/>
                </a:solidFill>
                <a:latin typeface="Arial"/>
                <a:ea typeface="Arial"/>
                <a:cs typeface="Arial"/>
              </a:defRPr>
            </a:pPr>
            <a:r>
              <a:rPr sz="1200" b="1">
                <a:solidFill>
                  <a:srgbClr val="BF7947"/>
                </a:solidFill>
                <a:latin typeface="Arial"/>
                <a:ea typeface="Arial"/>
                <a:cs typeface="Arial"/>
              </a:rPr>
              <a:t>NILE  /  ILLUSTRATIVE POTENTIAL — NOT ACHIEVED</a:t>
            </a:r>
          </a:p>
        </p:txBody>
      </p:sp>
      <p:sp>
        <p:nvSpPr>
          <p:cNvPr id="2" name="What could 100 cafes contribute?">
            <a:extLst xmlns:a="http://schemas.openxmlformats.org/drawingml/2006/main">
              <a:ext uri="{FF2B5EF4-FFF2-40B4-BE49-F238E27FC236}">
                <a16:creationId xmlns:a16="http://schemas.microsoft.com/office/drawing/2014/main" id="{CE2F2392-64F2-4299-8486-9C2118F8F09A}"/>
              </a:ext>
            </a:extLst>
          </p:cNvPr>
          <p:cNvSpPr>
            <a:spLocks xmlns:a="http://schemas.openxmlformats.org/drawingml/2006/main" noGrp="1"/>
          </p:cNvSpPr>
          <p:nvPr/>
        </p:nvSpPr>
        <p:spPr>
          <a:xfrm xmlns:a="http://schemas.openxmlformats.org/drawingml/2006/main">
            <a:off x="685800" y="809625"/>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0">
                <a:solidFill>
                  <a:srgbClr val="253D30"/>
                </a:solidFill>
                <a:latin typeface="Georgia"/>
                <a:ea typeface="Georgia"/>
                <a:cs typeface="Georgia"/>
              </a:defRPr>
            </a:defPPr>
          </a:lstStyle>
          <a:p xmlns:a="http://schemas.openxmlformats.org/drawingml/2006/main">
            <a:pPr algn="l">
              <a:defRPr sz="3375" b="0">
                <a:solidFill>
                  <a:srgbClr val="253D30"/>
                </a:solidFill>
                <a:latin typeface="Georgia"/>
                <a:ea typeface="Georgia"/>
                <a:cs typeface="Georgia"/>
              </a:defRPr>
            </a:pPr>
            <a:r>
              <a:rPr sz="3375" b="0">
                <a:solidFill>
                  <a:srgbClr val="253D30"/>
                </a:solidFill>
                <a:latin typeface="Georgia"/>
                <a:ea typeface="Georgia"/>
                <a:cs typeface="Georgia"/>
              </a:rPr>
              <a:t>What could 100 cafes contribute?</a:t>
            </a:r>
          </a:p>
        </p:txBody>
      </p:sp>
      <p:sp>
        <p:nvSpPr>
          <p:cNvPr id="3" name="Assumed one-year cohort; only materials that would">
            <a:extLst xmlns:a="http://schemas.openxmlformats.org/drawingml/2006/main">
              <a:ext uri="{FF2B5EF4-FFF2-40B4-BE49-F238E27FC236}">
                <a16:creationId xmlns:a16="http://schemas.microsoft.com/office/drawing/2014/main" id="{53ED9571-B9ED-4A05-BA44-F5207CFCE813}"/>
              </a:ext>
            </a:extLst>
          </p:cNvPr>
          <p:cNvSpPr>
            <a:spLocks xmlns:a="http://schemas.openxmlformats.org/drawingml/2006/main" noGrp="1"/>
          </p:cNvSpPr>
          <p:nvPr/>
        </p:nvSpPr>
        <p:spPr>
          <a:xfrm xmlns:a="http://schemas.openxmlformats.org/drawingml/2006/main">
            <a:off x="685800" y="185737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17066"/>
                </a:solidFill>
                <a:latin typeface="Arial"/>
                <a:ea typeface="Arial"/>
                <a:cs typeface="Arial"/>
              </a:defRPr>
            </a:defPPr>
          </a:lstStyle>
          <a:p xmlns:a="http://schemas.openxmlformats.org/drawingml/2006/main">
            <a:pPr algn="l">
              <a:defRPr sz="1725" b="0">
                <a:solidFill>
                  <a:srgbClr val="617066"/>
                </a:solidFill>
                <a:latin typeface="Arial"/>
                <a:ea typeface="Arial"/>
                <a:cs typeface="Arial"/>
              </a:defRPr>
            </a:pPr>
            <a:r>
              <a:rPr sz="1725" b="0">
                <a:solidFill>
                  <a:srgbClr val="617066"/>
                </a:solidFill>
                <a:latin typeface="Arial"/>
                <a:ea typeface="Arial"/>
                <a:cs typeface="Arial"/>
              </a:rPr>
              <a:t>Assumed one-year cohort; only materials that would otherwise go to landfill are eligible.</a:t>
            </a:r>
          </a:p>
        </p:txBody>
      </p:sp>
      <p:sp>
        <p:nvSpPr>
          <p:cNvPr id="4" name="">
            <a:extLst xmlns:a="http://schemas.openxmlformats.org/drawingml/2006/main">
              <a:ext uri="{FF2B5EF4-FFF2-40B4-BE49-F238E27FC236}">
                <a16:creationId xmlns:a16="http://schemas.microsoft.com/office/drawing/2014/main" id="{9394A5A2-7685-492F-900D-69811659A320}"/>
              </a:ext>
            </a:extLst>
          </p:cNvPr>
          <p:cNvSpPr>
            <a:spLocks xmlns:a="http://schemas.openxmlformats.org/drawingml/2006/main" noGrp="1"/>
          </p:cNvSpPr>
          <p:nvPr/>
        </p:nvSpPr>
        <p:spPr>
          <a:xfrm xmlns:a="http://schemas.openxmlformats.org/drawingml/2006/main">
            <a:off x="685800" y="6296025"/>
            <a:ext cx="10820400" cy="14288"/>
          </a:xfrm>
          <a:prstGeom xmlns:a="http://schemas.openxmlformats.org/drawingml/2006/main" prst="rect">
            <a:avLst/>
          </a:prstGeom>
          <a:solidFill xmlns:a="http://schemas.openxmlformats.org/drawingml/2006/main">
            <a:srgbClr val="CDD4C6"/>
          </a:solidFill>
          <a:ln xmlns:a="http://schemas.openxmlformats.org/drawingml/2006/main" w="0">
            <a:noFill/>
          </a:ln>
        </p:spPr>
      </p:sp>
      <p:sp>
        <p:nvSpPr>
          <p:cNvPr id="5" name="Nile • Climate Hack-tion • 4 October 2026">
            <a:extLst xmlns:a="http://schemas.openxmlformats.org/drawingml/2006/main">
              <a:ext uri="{FF2B5EF4-FFF2-40B4-BE49-F238E27FC236}">
                <a16:creationId xmlns:a16="http://schemas.microsoft.com/office/drawing/2014/main" id="{4665E251-7392-4E9A-A097-C43DDABD3DCA}"/>
              </a:ext>
            </a:extLst>
          </p:cNvPr>
          <p:cNvSpPr>
            <a:spLocks xmlns:a="http://schemas.openxmlformats.org/drawingml/2006/main" noGrp="1"/>
          </p:cNvSpPr>
          <p:nvPr/>
        </p:nvSpPr>
        <p:spPr>
          <a:xfrm xmlns:a="http://schemas.openxmlformats.org/drawingml/2006/main">
            <a:off x="685800" y="6448425"/>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066"/>
                </a:solidFill>
                <a:latin typeface="Arial"/>
                <a:ea typeface="Arial"/>
                <a:cs typeface="Arial"/>
              </a:defRPr>
            </a:defPPr>
          </a:lstStyle>
          <a:p xmlns:a="http://schemas.openxmlformats.org/drawingml/2006/main">
            <a:pPr algn="l">
              <a:defRPr sz="1050" b="0">
                <a:solidFill>
                  <a:srgbClr val="617066"/>
                </a:solidFill>
                <a:latin typeface="Arial"/>
                <a:ea typeface="Arial"/>
                <a:cs typeface="Arial"/>
              </a:defRPr>
            </a:pPr>
            <a:r>
              <a:rPr sz="1050" b="0">
                <a:solidFill>
                  <a:srgbClr val="617066"/>
                </a:solidFill>
                <a:latin typeface="Arial"/>
                <a:ea typeface="Arial"/>
                <a:cs typeface="Arial"/>
              </a:rPr>
              <a:t>Nile • Climate Hack-tion • 4 October 2026</a:t>
            </a:r>
          </a:p>
        </p:txBody>
      </p:sp>
      <p:sp>
        <p:nvSpPr>
          <p:cNvPr id="6" name="07">
            <a:extLst xmlns:a="http://schemas.openxmlformats.org/drawingml/2006/main">
              <a:ext uri="{FF2B5EF4-FFF2-40B4-BE49-F238E27FC236}">
                <a16:creationId xmlns:a16="http://schemas.microsoft.com/office/drawing/2014/main" id="{98C8D0F6-A3EE-46AC-8693-56B69FAB6D6B}"/>
              </a:ext>
            </a:extLst>
          </p:cNvPr>
          <p:cNvSpPr>
            <a:spLocks xmlns:a="http://schemas.openxmlformats.org/drawingml/2006/main" noGrp="1"/>
          </p:cNvSpPr>
          <p:nvPr/>
        </p:nvSpPr>
        <p:spPr>
          <a:xfrm xmlns:a="http://schemas.openxmlformats.org/drawingml/2006/main">
            <a:off x="10953750" y="64293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BF7947"/>
                </a:solidFill>
                <a:latin typeface="Arial"/>
                <a:ea typeface="Arial"/>
                <a:cs typeface="Arial"/>
              </a:defRPr>
            </a:defPPr>
          </a:lstStyle>
          <a:p xmlns:a="http://schemas.openxmlformats.org/drawingml/2006/main">
            <a:pPr algn="r">
              <a:defRPr sz="1200" b="0">
                <a:solidFill>
                  <a:srgbClr val="BF7947"/>
                </a:solidFill>
                <a:latin typeface="Arial"/>
                <a:ea typeface="Arial"/>
                <a:cs typeface="Arial"/>
              </a:defRPr>
            </a:pPr>
            <a:r>
              <a:rPr sz="1200" b="0">
                <a:solidFill>
                  <a:srgbClr val="BF7947"/>
                </a:solidFill>
                <a:latin typeface="Arial"/>
                <a:ea typeface="Arial"/>
                <a:cs typeface="Arial"/>
              </a:rPr>
              <a:t>07</a:t>
            </a:r>
          </a:p>
        </p:txBody>
      </p:sp>
      <p:sp>
        <p:nvSpPr>
          <p:cNvPr id="7" name="83.2">
            <a:extLst xmlns:a="http://schemas.openxmlformats.org/drawingml/2006/main">
              <a:ext uri="{FF2B5EF4-FFF2-40B4-BE49-F238E27FC236}">
                <a16:creationId xmlns:a16="http://schemas.microsoft.com/office/drawing/2014/main" id="{1898431F-629F-4701-B20C-97263CCE95F2}"/>
              </a:ext>
            </a:extLst>
          </p:cNvPr>
          <p:cNvSpPr>
            <a:spLocks xmlns:a="http://schemas.openxmlformats.org/drawingml/2006/main" noGrp="1"/>
          </p:cNvSpPr>
          <p:nvPr/>
        </p:nvSpPr>
        <p:spPr>
          <a:xfrm xmlns:a="http://schemas.openxmlformats.org/drawingml/2006/main">
            <a:off x="685800" y="2790825"/>
            <a:ext cx="32766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925" b="0">
                <a:solidFill>
                  <a:srgbClr val="BF7947"/>
                </a:solidFill>
                <a:latin typeface="Georgia"/>
                <a:ea typeface="Georgia"/>
                <a:cs typeface="Georgia"/>
              </a:defRPr>
            </a:defPPr>
          </a:lstStyle>
          <a:p xmlns:a="http://schemas.openxmlformats.org/drawingml/2006/main">
            <a:pPr algn="l">
              <a:defRPr sz="5925" b="0">
                <a:solidFill>
                  <a:srgbClr val="BF7947"/>
                </a:solidFill>
                <a:latin typeface="Georgia"/>
                <a:ea typeface="Georgia"/>
                <a:cs typeface="Georgia"/>
              </a:defRPr>
            </a:pPr>
            <a:r>
              <a:rPr sz="5925" b="0">
                <a:solidFill>
                  <a:srgbClr val="BF7947"/>
                </a:solidFill>
                <a:latin typeface="Georgia"/>
                <a:ea typeface="Georgia"/>
                <a:cs typeface="Georgia"/>
              </a:rPr>
              <a:t>83.2</a:t>
            </a:r>
          </a:p>
        </p:txBody>
      </p:sp>
      <p:sp>
        <p:nvSpPr>
          <p:cNvPr id="8" name="tonnes of grounds">
            <a:extLst xmlns:a="http://schemas.openxmlformats.org/drawingml/2006/main">
              <a:ext uri="{FF2B5EF4-FFF2-40B4-BE49-F238E27FC236}">
                <a16:creationId xmlns:a16="http://schemas.microsoft.com/office/drawing/2014/main" id="{CA676BF5-3A5C-434E-8ED3-36D197D72084}"/>
              </a:ext>
            </a:extLst>
          </p:cNvPr>
          <p:cNvSpPr>
            <a:spLocks xmlns:a="http://schemas.openxmlformats.org/drawingml/2006/main" noGrp="1"/>
          </p:cNvSpPr>
          <p:nvPr/>
        </p:nvSpPr>
        <p:spPr>
          <a:xfrm xmlns:a="http://schemas.openxmlformats.org/drawingml/2006/main">
            <a:off x="685800" y="3990975"/>
            <a:ext cx="331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53D30"/>
                </a:solidFill>
                <a:latin typeface="Arial"/>
                <a:ea typeface="Arial"/>
                <a:cs typeface="Arial"/>
              </a:defRPr>
            </a:defPPr>
          </a:lstStyle>
          <a:p xmlns:a="http://schemas.openxmlformats.org/drawingml/2006/main">
            <a:pPr algn="l">
              <a:defRPr sz="2100" b="1">
                <a:solidFill>
                  <a:srgbClr val="253D30"/>
                </a:solidFill>
                <a:latin typeface="Arial"/>
                <a:ea typeface="Arial"/>
                <a:cs typeface="Arial"/>
              </a:defRPr>
            </a:pPr>
            <a:r>
              <a:rPr sz="2100" b="1">
                <a:solidFill>
                  <a:srgbClr val="253D30"/>
                </a:solidFill>
                <a:latin typeface="Arial"/>
                <a:ea typeface="Arial"/>
                <a:cs typeface="Arial"/>
              </a:rPr>
              <a:t>tonnes of grounds</a:t>
            </a:r>
          </a:p>
        </p:txBody>
      </p:sp>
      <p:sp>
        <p:nvSpPr>
          <p:cNvPr id="9" name="diverted per year">
            <a:extLst xmlns:a="http://schemas.openxmlformats.org/drawingml/2006/main">
              <a:ext uri="{FF2B5EF4-FFF2-40B4-BE49-F238E27FC236}">
                <a16:creationId xmlns:a16="http://schemas.microsoft.com/office/drawing/2014/main" id="{E537B3C0-54DF-4E79-B3C4-BCF28B45F8FD}"/>
              </a:ext>
            </a:extLst>
          </p:cNvPr>
          <p:cNvSpPr>
            <a:spLocks xmlns:a="http://schemas.openxmlformats.org/drawingml/2006/main" noGrp="1"/>
          </p:cNvSpPr>
          <p:nvPr/>
        </p:nvSpPr>
        <p:spPr>
          <a:xfrm xmlns:a="http://schemas.openxmlformats.org/drawingml/2006/main">
            <a:off x="685800" y="4695825"/>
            <a:ext cx="33147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53D30"/>
                </a:solidFill>
                <a:latin typeface="Arial"/>
                <a:ea typeface="Arial"/>
                <a:cs typeface="Arial"/>
              </a:defRPr>
            </a:defPPr>
          </a:lstStyle>
          <a:p xmlns:a="http://schemas.openxmlformats.org/drawingml/2006/main">
            <a:pPr algn="l">
              <a:defRPr sz="1725" b="0">
                <a:solidFill>
                  <a:srgbClr val="253D30"/>
                </a:solidFill>
                <a:latin typeface="Arial"/>
                <a:ea typeface="Arial"/>
                <a:cs typeface="Arial"/>
              </a:defRPr>
            </a:pPr>
            <a:r>
              <a:rPr sz="1725" b="0">
                <a:solidFill>
                  <a:srgbClr val="253D30"/>
                </a:solidFill>
                <a:latin typeface="Arial"/>
                <a:ea typeface="Arial"/>
                <a:cs typeface="Arial"/>
              </a:rPr>
              <a:t>diverted per year</a:t>
            </a:r>
          </a:p>
        </p:txBody>
      </p:sp>
      <p:sp>
        <p:nvSpPr>
          <p:cNvPr id="10" name="4.16">
            <a:extLst xmlns:a="http://schemas.openxmlformats.org/drawingml/2006/main">
              <a:ext uri="{FF2B5EF4-FFF2-40B4-BE49-F238E27FC236}">
                <a16:creationId xmlns:a16="http://schemas.microsoft.com/office/drawing/2014/main" id="{234984AB-3D75-45E3-8951-8E044FA42237}"/>
              </a:ext>
            </a:extLst>
          </p:cNvPr>
          <p:cNvSpPr>
            <a:spLocks xmlns:a="http://schemas.openxmlformats.org/drawingml/2006/main" noGrp="1"/>
          </p:cNvSpPr>
          <p:nvPr/>
        </p:nvSpPr>
        <p:spPr>
          <a:xfrm xmlns:a="http://schemas.openxmlformats.org/drawingml/2006/main">
            <a:off x="4419600" y="2790825"/>
            <a:ext cx="32766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925" b="0">
                <a:solidFill>
                  <a:srgbClr val="BF7947"/>
                </a:solidFill>
                <a:latin typeface="Georgia"/>
                <a:ea typeface="Georgia"/>
                <a:cs typeface="Georgia"/>
              </a:defRPr>
            </a:defPPr>
          </a:lstStyle>
          <a:p xmlns:a="http://schemas.openxmlformats.org/drawingml/2006/main">
            <a:pPr algn="l">
              <a:defRPr sz="5925" b="0">
                <a:solidFill>
                  <a:srgbClr val="BF7947"/>
                </a:solidFill>
                <a:latin typeface="Georgia"/>
                <a:ea typeface="Georgia"/>
                <a:cs typeface="Georgia"/>
              </a:defRPr>
            </a:pPr>
            <a:r>
              <a:rPr sz="5925" b="0">
                <a:solidFill>
                  <a:srgbClr val="BF7947"/>
                </a:solidFill>
                <a:latin typeface="Georgia"/>
                <a:ea typeface="Georgia"/>
                <a:cs typeface="Georgia"/>
              </a:rPr>
              <a:t>4.16</a:t>
            </a:r>
          </a:p>
        </p:txBody>
      </p:sp>
      <p:sp>
        <p:nvSpPr>
          <p:cNvPr id="11" name="tonnes of usable beans">
            <a:extLst xmlns:a="http://schemas.openxmlformats.org/drawingml/2006/main">
              <a:ext uri="{FF2B5EF4-FFF2-40B4-BE49-F238E27FC236}">
                <a16:creationId xmlns:a16="http://schemas.microsoft.com/office/drawing/2014/main" id="{0780A963-E153-46CE-94D2-17F125ABE92B}"/>
              </a:ext>
            </a:extLst>
          </p:cNvPr>
          <p:cNvSpPr>
            <a:spLocks xmlns:a="http://schemas.openxmlformats.org/drawingml/2006/main" noGrp="1"/>
          </p:cNvSpPr>
          <p:nvPr/>
        </p:nvSpPr>
        <p:spPr>
          <a:xfrm xmlns:a="http://schemas.openxmlformats.org/drawingml/2006/main">
            <a:off x="4419600" y="3990975"/>
            <a:ext cx="331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53D30"/>
                </a:solidFill>
                <a:latin typeface="Arial"/>
                <a:ea typeface="Arial"/>
                <a:cs typeface="Arial"/>
              </a:defRPr>
            </a:defPPr>
          </a:lstStyle>
          <a:p xmlns:a="http://schemas.openxmlformats.org/drawingml/2006/main">
            <a:pPr algn="l">
              <a:defRPr sz="2100" b="1">
                <a:solidFill>
                  <a:srgbClr val="253D30"/>
                </a:solidFill>
                <a:latin typeface="Arial"/>
                <a:ea typeface="Arial"/>
                <a:cs typeface="Arial"/>
              </a:defRPr>
            </a:pPr>
            <a:r>
              <a:rPr sz="2100" b="1">
                <a:solidFill>
                  <a:srgbClr val="253D30"/>
                </a:solidFill>
                <a:latin typeface="Arial"/>
                <a:ea typeface="Arial"/>
                <a:cs typeface="Arial"/>
              </a:rPr>
              <a:t>tonnes of usable beans</a:t>
            </a:r>
          </a:p>
        </p:txBody>
      </p:sp>
      <p:sp>
        <p:nvSpPr>
          <p:cNvPr id="12" name="redirected per year">
            <a:extLst xmlns:a="http://schemas.openxmlformats.org/drawingml/2006/main">
              <a:ext uri="{FF2B5EF4-FFF2-40B4-BE49-F238E27FC236}">
                <a16:creationId xmlns:a16="http://schemas.microsoft.com/office/drawing/2014/main" id="{33E0D310-4635-430F-AAFF-A4D540ABCD77}"/>
              </a:ext>
            </a:extLst>
          </p:cNvPr>
          <p:cNvSpPr>
            <a:spLocks xmlns:a="http://schemas.openxmlformats.org/drawingml/2006/main" noGrp="1"/>
          </p:cNvSpPr>
          <p:nvPr/>
        </p:nvSpPr>
        <p:spPr>
          <a:xfrm xmlns:a="http://schemas.openxmlformats.org/drawingml/2006/main">
            <a:off x="4419600" y="4695825"/>
            <a:ext cx="33147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53D30"/>
                </a:solidFill>
                <a:latin typeface="Arial"/>
                <a:ea typeface="Arial"/>
                <a:cs typeface="Arial"/>
              </a:defRPr>
            </a:defPPr>
          </a:lstStyle>
          <a:p xmlns:a="http://schemas.openxmlformats.org/drawingml/2006/main">
            <a:pPr algn="l">
              <a:defRPr sz="1725" b="0">
                <a:solidFill>
                  <a:srgbClr val="253D30"/>
                </a:solidFill>
                <a:latin typeface="Arial"/>
                <a:ea typeface="Arial"/>
                <a:cs typeface="Arial"/>
              </a:defRPr>
            </a:pPr>
            <a:r>
              <a:rPr sz="1725" b="0">
                <a:solidFill>
                  <a:srgbClr val="253D30"/>
                </a:solidFill>
                <a:latin typeface="Arial"/>
                <a:ea typeface="Arial"/>
                <a:cs typeface="Arial"/>
              </a:rPr>
              <a:t>redirected per year</a:t>
            </a:r>
          </a:p>
        </p:txBody>
      </p:sp>
      <p:sp>
        <p:nvSpPr>
          <p:cNvPr id="13" name="~6.2">
            <a:extLst xmlns:a="http://schemas.openxmlformats.org/drawingml/2006/main">
              <a:ext uri="{FF2B5EF4-FFF2-40B4-BE49-F238E27FC236}">
                <a16:creationId xmlns:a16="http://schemas.microsoft.com/office/drawing/2014/main" id="{1AF370CB-50D1-468F-BF7C-EDAB7842D8A5}"/>
              </a:ext>
            </a:extLst>
          </p:cNvPr>
          <p:cNvSpPr>
            <a:spLocks xmlns:a="http://schemas.openxmlformats.org/drawingml/2006/main" noGrp="1"/>
          </p:cNvSpPr>
          <p:nvPr/>
        </p:nvSpPr>
        <p:spPr>
          <a:xfrm xmlns:a="http://schemas.openxmlformats.org/drawingml/2006/main">
            <a:off x="8153400" y="2790825"/>
            <a:ext cx="32766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925" b="0">
                <a:solidFill>
                  <a:srgbClr val="BF7947"/>
                </a:solidFill>
                <a:latin typeface="Georgia"/>
                <a:ea typeface="Georgia"/>
                <a:cs typeface="Georgia"/>
              </a:defRPr>
            </a:defPPr>
          </a:lstStyle>
          <a:p xmlns:a="http://schemas.openxmlformats.org/drawingml/2006/main">
            <a:pPr algn="l">
              <a:defRPr sz="5925" b="0">
                <a:solidFill>
                  <a:srgbClr val="BF7947"/>
                </a:solidFill>
                <a:latin typeface="Georgia"/>
                <a:ea typeface="Georgia"/>
                <a:cs typeface="Georgia"/>
              </a:defRPr>
            </a:pPr>
            <a:r>
              <a:rPr sz="5925" b="0">
                <a:solidFill>
                  <a:srgbClr val="BF7947"/>
                </a:solidFill>
                <a:latin typeface="Georgia"/>
                <a:ea typeface="Georgia"/>
                <a:cs typeface="Georgia"/>
              </a:rPr>
              <a:t>~6.2</a:t>
            </a:r>
          </a:p>
        </p:txBody>
      </p:sp>
      <p:sp>
        <p:nvSpPr>
          <p:cNvPr id="14" name="tonnes of methane">
            <a:extLst xmlns:a="http://schemas.openxmlformats.org/drawingml/2006/main">
              <a:ext uri="{FF2B5EF4-FFF2-40B4-BE49-F238E27FC236}">
                <a16:creationId xmlns:a16="http://schemas.microsoft.com/office/drawing/2014/main" id="{FF51B81B-87CC-40FE-8498-1E655A3C8667}"/>
              </a:ext>
            </a:extLst>
          </p:cNvPr>
          <p:cNvSpPr>
            <a:spLocks xmlns:a="http://schemas.openxmlformats.org/drawingml/2006/main" noGrp="1"/>
          </p:cNvSpPr>
          <p:nvPr/>
        </p:nvSpPr>
        <p:spPr>
          <a:xfrm xmlns:a="http://schemas.openxmlformats.org/drawingml/2006/main">
            <a:off x="8153400" y="3990975"/>
            <a:ext cx="331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53D30"/>
                </a:solidFill>
                <a:latin typeface="Arial"/>
                <a:ea typeface="Arial"/>
                <a:cs typeface="Arial"/>
              </a:defRPr>
            </a:defPPr>
          </a:lstStyle>
          <a:p xmlns:a="http://schemas.openxmlformats.org/drawingml/2006/main">
            <a:pPr algn="l">
              <a:defRPr sz="2100" b="1">
                <a:solidFill>
                  <a:srgbClr val="253D30"/>
                </a:solidFill>
                <a:latin typeface="Arial"/>
                <a:ea typeface="Arial"/>
                <a:cs typeface="Arial"/>
              </a:defRPr>
            </a:pPr>
            <a:r>
              <a:rPr sz="2100" b="1">
                <a:solidFill>
                  <a:srgbClr val="253D30"/>
                </a:solidFill>
                <a:latin typeface="Arial"/>
                <a:ea typeface="Arial"/>
                <a:cs typeface="Arial"/>
              </a:rPr>
              <a:t>tonnes of methane</a:t>
            </a:r>
          </a:p>
        </p:txBody>
      </p:sp>
      <p:sp>
        <p:nvSpPr>
          <p:cNvPr id="15" name="lifetime avoidance from&#10;that year’s grounds">
            <a:extLst xmlns:a="http://schemas.openxmlformats.org/drawingml/2006/main">
              <a:ext uri="{FF2B5EF4-FFF2-40B4-BE49-F238E27FC236}">
                <a16:creationId xmlns:a16="http://schemas.microsoft.com/office/drawing/2014/main" id="{8944B82B-5A75-4F90-9F1D-E78FE2EEBC79}"/>
              </a:ext>
            </a:extLst>
          </p:cNvPr>
          <p:cNvSpPr>
            <a:spLocks xmlns:a="http://schemas.openxmlformats.org/drawingml/2006/main" noGrp="1"/>
          </p:cNvSpPr>
          <p:nvPr/>
        </p:nvSpPr>
        <p:spPr>
          <a:xfrm xmlns:a="http://schemas.openxmlformats.org/drawingml/2006/main">
            <a:off x="8153400" y="4695825"/>
            <a:ext cx="33147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53D30"/>
                </a:solidFill>
                <a:latin typeface="Arial"/>
                <a:ea typeface="Arial"/>
                <a:cs typeface="Arial"/>
              </a:defRPr>
            </a:defPPr>
          </a:lstStyle>
          <a:p xmlns:a="http://schemas.openxmlformats.org/drawingml/2006/main">
            <a:pPr algn="l">
              <a:defRPr sz="1725" b="0">
                <a:solidFill>
                  <a:srgbClr val="253D30"/>
                </a:solidFill>
                <a:latin typeface="Arial"/>
                <a:ea typeface="Arial"/>
                <a:cs typeface="Arial"/>
              </a:defRPr>
            </a:pPr>
            <a:r>
              <a:rPr sz="1725" b="0">
                <a:solidFill>
                  <a:srgbClr val="253D30"/>
                </a:solidFill>
                <a:latin typeface="Arial"/>
                <a:ea typeface="Arial"/>
                <a:cs typeface="Arial"/>
              </a:rPr>
              <a:t>lifetime avoidance from</a:t>
            </a:r>
          </a:p>
          <a:p xmlns:a="http://schemas.openxmlformats.org/drawingml/2006/main">
            <a:pPr algn="l">
              <a:defRPr sz="1725" b="0">
                <a:solidFill>
                  <a:srgbClr val="253D30"/>
                </a:solidFill>
                <a:latin typeface="Arial"/>
                <a:ea typeface="Arial"/>
                <a:cs typeface="Arial"/>
              </a:defRPr>
            </a:pPr>
            <a:r>
              <a:rPr sz="1725" b="0">
                <a:solidFill>
                  <a:srgbClr val="253D30"/>
                </a:solidFill>
                <a:latin typeface="Arial"/>
                <a:ea typeface="Arial"/>
                <a:cs typeface="Arial"/>
              </a:rPr>
              <a:t>that year’s grounds</a:t>
            </a:r>
          </a:p>
        </p:txBody>
      </p:sp>
      <p:sp>
        <p:nvSpPr>
          <p:cNvPr id="16" name="Assumptions: 20 kg grounds + 1 kg beans/cafe/week ">
            <a:extLst xmlns:a="http://schemas.openxmlformats.org/drawingml/2006/main">
              <a:ext uri="{FF2B5EF4-FFF2-40B4-BE49-F238E27FC236}">
                <a16:creationId xmlns:a16="http://schemas.microsoft.com/office/drawing/2014/main" id="{2E5AAA86-CA1F-4E51-A4CB-44183B3762AD}"/>
              </a:ext>
            </a:extLst>
          </p:cNvPr>
          <p:cNvSpPr>
            <a:spLocks xmlns:a="http://schemas.openxmlformats.org/drawingml/2006/main" noGrp="1"/>
          </p:cNvSpPr>
          <p:nvPr/>
        </p:nvSpPr>
        <p:spPr>
          <a:xfrm xmlns:a="http://schemas.openxmlformats.org/drawingml/2006/main">
            <a:off x="685800" y="55530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17066"/>
                </a:solidFill>
                <a:latin typeface="Arial"/>
                <a:ea typeface="Arial"/>
                <a:cs typeface="Arial"/>
              </a:defRPr>
            </a:defPPr>
          </a:lstStyle>
          <a:p xmlns:a="http://schemas.openxmlformats.org/drawingml/2006/main">
            <a:pPr algn="l">
              <a:defRPr sz="1425" b="0">
                <a:solidFill>
                  <a:srgbClr val="617066"/>
                </a:solidFill>
                <a:latin typeface="Arial"/>
                <a:ea typeface="Arial"/>
                <a:cs typeface="Arial"/>
              </a:defRPr>
            </a:pPr>
            <a:r>
              <a:rPr sz="1425" b="0">
                <a:solidFill>
                  <a:srgbClr val="617066"/>
                </a:solidFill>
                <a:latin typeface="Arial"/>
                <a:ea typeface="Arial"/>
                <a:cs typeface="Arial"/>
              </a:rPr>
              <a:t>Assumptions: 20 kg grounds + 1 kg beans/cafe/week • 52 weeks • 80% additional diversion • compost route • no landfill gas capture.</a:t>
            </a:r>
          </a:p>
        </p:txBody>
      </p:sp>
      <p:sp>
        <p:nvSpPr>
          <p:cNvPr id="17" name="Generic food-waste methane proxy; no bean methane ">
            <a:extLst xmlns:a="http://schemas.openxmlformats.org/drawingml/2006/main">
              <a:ext uri="{FF2B5EF4-FFF2-40B4-BE49-F238E27FC236}">
                <a16:creationId xmlns:a16="http://schemas.microsoft.com/office/drawing/2014/main" id="{64FFEE4D-14BE-4615-B21F-F3C1F8910F32}"/>
              </a:ext>
            </a:extLst>
          </p:cNvPr>
          <p:cNvSpPr>
            <a:spLocks xmlns:a="http://schemas.openxmlformats.org/drawingml/2006/main" noGrp="1"/>
          </p:cNvSpPr>
          <p:nvPr/>
        </p:nvSpPr>
        <p:spPr>
          <a:xfrm xmlns:a="http://schemas.openxmlformats.org/drawingml/2006/main">
            <a:off x="685800" y="6038850"/>
            <a:ext cx="10820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17066"/>
                </a:solidFill>
                <a:latin typeface="Arial"/>
                <a:ea typeface="Arial"/>
                <a:cs typeface="Arial"/>
              </a:defRPr>
            </a:defPPr>
          </a:lstStyle>
          <a:p xmlns:a="http://schemas.openxmlformats.org/drawingml/2006/main">
            <a:pPr algn="l">
              <a:defRPr sz="1200" b="0">
                <a:solidFill>
                  <a:srgbClr val="617066"/>
                </a:solidFill>
                <a:latin typeface="Arial"/>
                <a:ea typeface="Arial"/>
                <a:cs typeface="Arial"/>
              </a:defRPr>
            </a:pPr>
            <a:r>
              <a:rPr sz="1200" b="0">
                <a:solidFill>
                  <a:srgbClr val="617066"/>
                </a:solidFill>
                <a:latin typeface="Arial"/>
                <a:ea typeface="Arial"/>
                <a:cs typeface="Arial"/>
              </a:rPr>
              <a:t>Generic food-waste methane proxy; no bean methane credit. Source: DCCEEW, NGA Factors 2026, Tables 15, 44 and 38.</a:t>
            </a:r>
          </a:p>
        </p:txBody>
      </p:sp>
    </p:spTree>
    <p:extLst>
      <p:ext uri="{BB962C8B-B14F-4D97-AF65-F5344CB8AC3E}">
        <p14:creationId xmlns:p14="http://schemas.microsoft.com/office/powerpoint/2010/main" val="1247823641"/>
      </p:ext>
    </p:extLst>
  </p:cSld>
</p:sld>
</file>

<file path=ppt/slides/slide8.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22" name="NILE  /  BUILD &amp; DEPLOYMENT">
            <a:extLst xmlns:a="http://schemas.openxmlformats.org/drawingml/2006/main">
              <a:ext uri="{FF2B5EF4-FFF2-40B4-BE49-F238E27FC236}">
                <a16:creationId xmlns:a16="http://schemas.microsoft.com/office/drawing/2014/main" id="{C5DDFC01-6943-4AAB-8F6E-FED573795507}"/>
              </a:ext>
            </a:extLst>
          </p:cNvPr>
          <p:cNvSpPr>
            <a:spLocks xmlns:a="http://schemas.openxmlformats.org/drawingml/2006/main" noGrp="1"/>
          </p:cNvSpPr>
          <p:nvPr/>
        </p:nvSpPr>
        <p:spPr>
          <a:xfrm xmlns:a="http://schemas.openxmlformats.org/drawingml/2006/main">
            <a:off x="685800" y="381000"/>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BF7947"/>
                </a:solidFill>
                <a:latin typeface="Arial"/>
                <a:ea typeface="Arial"/>
                <a:cs typeface="Arial"/>
              </a:defRPr>
            </a:defPPr>
          </a:lstStyle>
          <a:p xmlns:a="http://schemas.openxmlformats.org/drawingml/2006/main">
            <a:pPr algn="l">
              <a:defRPr sz="1200" b="1">
                <a:solidFill>
                  <a:srgbClr val="BF7947"/>
                </a:solidFill>
                <a:latin typeface="Arial"/>
                <a:ea typeface="Arial"/>
                <a:cs typeface="Arial"/>
              </a:defRPr>
            </a:pPr>
            <a:r>
              <a:rPr sz="1200" b="1">
                <a:solidFill>
                  <a:srgbClr val="BF7947"/>
                </a:solidFill>
                <a:latin typeface="Arial"/>
                <a:ea typeface="Arial"/>
                <a:cs typeface="Arial"/>
              </a:rPr>
              <a:t>NILE  /  BUILD &amp; DEPLOYMENT</a:t>
            </a:r>
          </a:p>
        </p:txBody>
      </p:sp>
      <p:sp>
        <p:nvSpPr>
          <p:cNvPr id="2" name="Working locally. Cloud setup comes next.">
            <a:extLst xmlns:a="http://schemas.openxmlformats.org/drawingml/2006/main">
              <a:ext uri="{FF2B5EF4-FFF2-40B4-BE49-F238E27FC236}">
                <a16:creationId xmlns:a16="http://schemas.microsoft.com/office/drawing/2014/main" id="{F7D1D74D-C461-463A-895C-C5A4B5F8BE77}"/>
              </a:ext>
            </a:extLst>
          </p:cNvPr>
          <p:cNvSpPr>
            <a:spLocks xmlns:a="http://schemas.openxmlformats.org/drawingml/2006/main" noGrp="1"/>
          </p:cNvSpPr>
          <p:nvPr/>
        </p:nvSpPr>
        <p:spPr>
          <a:xfrm xmlns:a="http://schemas.openxmlformats.org/drawingml/2006/main">
            <a:off x="685800" y="809625"/>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0">
                <a:solidFill>
                  <a:srgbClr val="253D30"/>
                </a:solidFill>
                <a:latin typeface="Georgia"/>
                <a:ea typeface="Georgia"/>
                <a:cs typeface="Georgia"/>
              </a:defRPr>
            </a:defPPr>
          </a:lstStyle>
          <a:p xmlns:a="http://schemas.openxmlformats.org/drawingml/2006/main">
            <a:pPr algn="l">
              <a:defRPr sz="3375" b="0">
                <a:solidFill>
                  <a:srgbClr val="253D30"/>
                </a:solidFill>
                <a:latin typeface="Georgia"/>
                <a:ea typeface="Georgia"/>
                <a:cs typeface="Georgia"/>
              </a:defRPr>
            </a:pPr>
            <a:r>
              <a:rPr sz="3375" b="0">
                <a:solidFill>
                  <a:srgbClr val="253D30"/>
                </a:solidFill>
                <a:latin typeface="Georgia"/>
                <a:ea typeface="Georgia"/>
                <a:cs typeface="Georgia"/>
              </a:rPr>
              <a:t>Working locally. Cloud setup comes next.</a:t>
            </a:r>
          </a:p>
        </p:txBody>
      </p:sp>
      <p:sp>
        <p:nvSpPr>
          <p:cNvPr id="3" name="GCP is not configured. Intended route: Next.js on ">
            <a:extLst xmlns:a="http://schemas.openxmlformats.org/drawingml/2006/main">
              <a:ext uri="{FF2B5EF4-FFF2-40B4-BE49-F238E27FC236}">
                <a16:creationId xmlns:a16="http://schemas.microsoft.com/office/drawing/2014/main" id="{4DA909BA-B24F-4415-811B-43C9A4C8B127}"/>
              </a:ext>
            </a:extLst>
          </p:cNvPr>
          <p:cNvSpPr>
            <a:spLocks xmlns:a="http://schemas.openxmlformats.org/drawingml/2006/main" noGrp="1"/>
          </p:cNvSpPr>
          <p:nvPr/>
        </p:nvSpPr>
        <p:spPr>
          <a:xfrm xmlns:a="http://schemas.openxmlformats.org/drawingml/2006/main">
            <a:off x="685800" y="185737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17066"/>
                </a:solidFill>
                <a:latin typeface="Arial"/>
                <a:ea typeface="Arial"/>
                <a:cs typeface="Arial"/>
              </a:defRPr>
            </a:defPPr>
          </a:lstStyle>
          <a:p xmlns:a="http://schemas.openxmlformats.org/drawingml/2006/main">
            <a:pPr algn="l">
              <a:defRPr sz="1725" b="0">
                <a:solidFill>
                  <a:srgbClr val="617066"/>
                </a:solidFill>
                <a:latin typeface="Arial"/>
                <a:ea typeface="Arial"/>
                <a:cs typeface="Arial"/>
              </a:defRPr>
            </a:pPr>
            <a:r>
              <a:rPr sz="1725" b="0">
                <a:solidFill>
                  <a:srgbClr val="617066"/>
                </a:solidFill>
                <a:latin typeface="Arial"/>
                <a:ea typeface="Arial"/>
                <a:cs typeface="Arial"/>
              </a:rPr>
              <a:t>GCP is not configured. Intended route: Next.js on Vercel + Supabase; neither is deployed.</a:t>
            </a:r>
          </a:p>
        </p:txBody>
      </p:sp>
      <p:sp>
        <p:nvSpPr>
          <p:cNvPr id="4" name="">
            <a:extLst xmlns:a="http://schemas.openxmlformats.org/drawingml/2006/main">
              <a:ext uri="{FF2B5EF4-FFF2-40B4-BE49-F238E27FC236}">
                <a16:creationId xmlns:a16="http://schemas.microsoft.com/office/drawing/2014/main" id="{A535A298-2742-424C-9220-E6DE0585196B}"/>
              </a:ext>
            </a:extLst>
          </p:cNvPr>
          <p:cNvSpPr>
            <a:spLocks xmlns:a="http://schemas.openxmlformats.org/drawingml/2006/main" noGrp="1"/>
          </p:cNvSpPr>
          <p:nvPr/>
        </p:nvSpPr>
        <p:spPr>
          <a:xfrm xmlns:a="http://schemas.openxmlformats.org/drawingml/2006/main">
            <a:off x="685800" y="6296025"/>
            <a:ext cx="10820400" cy="14288"/>
          </a:xfrm>
          <a:prstGeom xmlns:a="http://schemas.openxmlformats.org/drawingml/2006/main" prst="rect">
            <a:avLst/>
          </a:prstGeom>
          <a:solidFill xmlns:a="http://schemas.openxmlformats.org/drawingml/2006/main">
            <a:srgbClr val="CDD4C6"/>
          </a:solidFill>
          <a:ln xmlns:a="http://schemas.openxmlformats.org/drawingml/2006/main" w="0">
            <a:noFill/>
          </a:ln>
        </p:spPr>
      </p:sp>
      <p:sp>
        <p:nvSpPr>
          <p:cNvPr id="5" name="Nile • Climate Hack-tion • 4 October 2026">
            <a:extLst xmlns:a="http://schemas.openxmlformats.org/drawingml/2006/main">
              <a:ext uri="{FF2B5EF4-FFF2-40B4-BE49-F238E27FC236}">
                <a16:creationId xmlns:a16="http://schemas.microsoft.com/office/drawing/2014/main" id="{3468E347-C70C-473D-B0AC-79F22EF5A8FC}"/>
              </a:ext>
            </a:extLst>
          </p:cNvPr>
          <p:cNvSpPr>
            <a:spLocks xmlns:a="http://schemas.openxmlformats.org/drawingml/2006/main" noGrp="1"/>
          </p:cNvSpPr>
          <p:nvPr/>
        </p:nvSpPr>
        <p:spPr>
          <a:xfrm xmlns:a="http://schemas.openxmlformats.org/drawingml/2006/main">
            <a:off x="685800" y="6448425"/>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066"/>
                </a:solidFill>
                <a:latin typeface="Arial"/>
                <a:ea typeface="Arial"/>
                <a:cs typeface="Arial"/>
              </a:defRPr>
            </a:defPPr>
          </a:lstStyle>
          <a:p xmlns:a="http://schemas.openxmlformats.org/drawingml/2006/main">
            <a:pPr algn="l">
              <a:defRPr sz="1050" b="0">
                <a:solidFill>
                  <a:srgbClr val="617066"/>
                </a:solidFill>
                <a:latin typeface="Arial"/>
                <a:ea typeface="Arial"/>
                <a:cs typeface="Arial"/>
              </a:defRPr>
            </a:pPr>
            <a:r>
              <a:rPr sz="1050" b="0">
                <a:solidFill>
                  <a:srgbClr val="617066"/>
                </a:solidFill>
                <a:latin typeface="Arial"/>
                <a:ea typeface="Arial"/>
                <a:cs typeface="Arial"/>
              </a:rPr>
              <a:t>Nile • Climate Hack-tion • 4 October 2026</a:t>
            </a:r>
          </a:p>
        </p:txBody>
      </p:sp>
      <p:sp>
        <p:nvSpPr>
          <p:cNvPr id="6" name="08">
            <a:extLst xmlns:a="http://schemas.openxmlformats.org/drawingml/2006/main">
              <a:ext uri="{FF2B5EF4-FFF2-40B4-BE49-F238E27FC236}">
                <a16:creationId xmlns:a16="http://schemas.microsoft.com/office/drawing/2014/main" id="{414D8304-DF60-417C-A52E-3DEE67F06C18}"/>
              </a:ext>
            </a:extLst>
          </p:cNvPr>
          <p:cNvSpPr>
            <a:spLocks xmlns:a="http://schemas.openxmlformats.org/drawingml/2006/main" noGrp="1"/>
          </p:cNvSpPr>
          <p:nvPr/>
        </p:nvSpPr>
        <p:spPr>
          <a:xfrm xmlns:a="http://schemas.openxmlformats.org/drawingml/2006/main">
            <a:off x="10953750" y="64293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BF7947"/>
                </a:solidFill>
                <a:latin typeface="Arial"/>
                <a:ea typeface="Arial"/>
                <a:cs typeface="Arial"/>
              </a:defRPr>
            </a:defPPr>
          </a:lstStyle>
          <a:p xmlns:a="http://schemas.openxmlformats.org/drawingml/2006/main">
            <a:pPr algn="r">
              <a:defRPr sz="1200" b="0">
                <a:solidFill>
                  <a:srgbClr val="BF7947"/>
                </a:solidFill>
                <a:latin typeface="Arial"/>
                <a:ea typeface="Arial"/>
                <a:cs typeface="Arial"/>
              </a:defRPr>
            </a:pPr>
            <a:r>
              <a:rPr sz="1200" b="0">
                <a:solidFill>
                  <a:srgbClr val="BF7947"/>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6C89DF61-8D6A-45FD-81C6-69C065FD399B}"/>
              </a:ext>
            </a:extLst>
          </p:cNvPr>
          <p:cNvSpPr>
            <a:spLocks xmlns:a="http://schemas.openxmlformats.org/drawingml/2006/main" noGrp="1"/>
          </p:cNvSpPr>
          <p:nvPr/>
        </p:nvSpPr>
        <p:spPr>
          <a:xfrm xmlns:a="http://schemas.openxmlformats.org/drawingml/2006/main">
            <a:off x="685800" y="2667000"/>
            <a:ext cx="3352800" cy="2457450"/>
          </a:xfrm>
          <a:prstGeom xmlns:a="http://schemas.openxmlformats.org/drawingml/2006/main" prst="rect">
            <a:avLst/>
          </a:prstGeom>
          <a:solidFill xmlns:a="http://schemas.openxmlformats.org/drawingml/2006/main">
            <a:srgbClr val="E7ECDD"/>
          </a:solidFill>
          <a:ln xmlns:a="http://schemas.openxmlformats.org/drawingml/2006/main" w="0">
            <a:noFill/>
          </a:ln>
        </p:spPr>
      </p:sp>
      <p:sp>
        <p:nvSpPr>
          <p:cNvPr id="8" name="Experience">
            <a:extLst xmlns:a="http://schemas.openxmlformats.org/drawingml/2006/main">
              <a:ext uri="{FF2B5EF4-FFF2-40B4-BE49-F238E27FC236}">
                <a16:creationId xmlns:a16="http://schemas.microsoft.com/office/drawing/2014/main" id="{2549132C-6FA0-450A-B312-B21817EFFB59}"/>
              </a:ext>
            </a:extLst>
          </p:cNvPr>
          <p:cNvSpPr>
            <a:spLocks xmlns:a="http://schemas.openxmlformats.org/drawingml/2006/main" noGrp="1"/>
          </p:cNvSpPr>
          <p:nvPr/>
        </p:nvSpPr>
        <p:spPr>
          <a:xfrm xmlns:a="http://schemas.openxmlformats.org/drawingml/2006/main">
            <a:off x="895350" y="2876550"/>
            <a:ext cx="2933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53D30"/>
                </a:solidFill>
                <a:latin typeface="Arial"/>
                <a:ea typeface="Arial"/>
                <a:cs typeface="Arial"/>
              </a:defRPr>
            </a:defPPr>
          </a:lstStyle>
          <a:p xmlns:a="http://schemas.openxmlformats.org/drawingml/2006/main">
            <a:pPr algn="l">
              <a:defRPr sz="2025" b="1">
                <a:solidFill>
                  <a:srgbClr val="253D30"/>
                </a:solidFill>
                <a:latin typeface="Arial"/>
                <a:ea typeface="Arial"/>
                <a:cs typeface="Arial"/>
              </a:defRPr>
            </a:pPr>
            <a:r>
              <a:rPr sz="2025" b="1">
                <a:solidFill>
                  <a:srgbClr val="253D30"/>
                </a:solidFill>
                <a:latin typeface="Arial"/>
                <a:ea typeface="Arial"/>
                <a:cs typeface="Arial"/>
              </a:rPr>
              <a:t>Experience</a:t>
            </a:r>
          </a:p>
        </p:txBody>
      </p:sp>
      <p:sp>
        <p:nvSpPr>
          <p:cNvPr id="9" name="Cafe workspace&#10;Recipient workspace&#10;Network view">
            <a:extLst xmlns:a="http://schemas.openxmlformats.org/drawingml/2006/main">
              <a:ext uri="{FF2B5EF4-FFF2-40B4-BE49-F238E27FC236}">
                <a16:creationId xmlns:a16="http://schemas.microsoft.com/office/drawing/2014/main" id="{55EDA1F7-C5F9-41A3-889A-3857572CE04C}"/>
              </a:ext>
            </a:extLst>
          </p:cNvPr>
          <p:cNvSpPr>
            <a:spLocks xmlns:a="http://schemas.openxmlformats.org/drawingml/2006/main" noGrp="1"/>
          </p:cNvSpPr>
          <p:nvPr/>
        </p:nvSpPr>
        <p:spPr>
          <a:xfrm xmlns:a="http://schemas.openxmlformats.org/drawingml/2006/main">
            <a:off x="895350" y="3448050"/>
            <a:ext cx="2933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53D30"/>
                </a:solidFill>
                <a:latin typeface="Arial"/>
                <a:ea typeface="Arial"/>
                <a:cs typeface="Arial"/>
              </a:defRPr>
            </a:defPPr>
          </a:lstStyle>
          <a:p xmlns:a="http://schemas.openxmlformats.org/drawingml/2006/main">
            <a:pPr algn="l">
              <a:defRPr sz="1875" b="0">
                <a:solidFill>
                  <a:srgbClr val="253D30"/>
                </a:solidFill>
                <a:latin typeface="Arial"/>
                <a:ea typeface="Arial"/>
                <a:cs typeface="Arial"/>
              </a:defRPr>
            </a:pPr>
            <a:r>
              <a:rPr sz="1875" b="0">
                <a:solidFill>
                  <a:srgbClr val="253D30"/>
                </a:solidFill>
                <a:latin typeface="Arial"/>
                <a:ea typeface="Arial"/>
                <a:cs typeface="Arial"/>
              </a:rPr>
              <a:t>Cafe workspace</a:t>
            </a:r>
          </a:p>
          <a:p xmlns:a="http://schemas.openxmlformats.org/drawingml/2006/main">
            <a:pPr algn="l">
              <a:defRPr sz="1875" b="0">
                <a:solidFill>
                  <a:srgbClr val="253D30"/>
                </a:solidFill>
                <a:latin typeface="Arial"/>
                <a:ea typeface="Arial"/>
                <a:cs typeface="Arial"/>
              </a:defRPr>
            </a:pPr>
            <a:r>
              <a:rPr sz="1875" b="0">
                <a:solidFill>
                  <a:srgbClr val="253D30"/>
                </a:solidFill>
                <a:latin typeface="Arial"/>
                <a:ea typeface="Arial"/>
                <a:cs typeface="Arial"/>
              </a:rPr>
              <a:t>Recipient workspace</a:t>
            </a:r>
          </a:p>
          <a:p xmlns:a="http://schemas.openxmlformats.org/drawingml/2006/main">
            <a:pPr algn="l">
              <a:defRPr sz="1875" b="0">
                <a:solidFill>
                  <a:srgbClr val="253D30"/>
                </a:solidFill>
                <a:latin typeface="Arial"/>
                <a:ea typeface="Arial"/>
                <a:cs typeface="Arial"/>
              </a:defRPr>
            </a:pPr>
            <a:r>
              <a:rPr sz="1875" b="0">
                <a:solidFill>
                  <a:srgbClr val="253D30"/>
                </a:solidFill>
                <a:latin typeface="Arial"/>
                <a:ea typeface="Arial"/>
                <a:cs typeface="Arial"/>
              </a:rPr>
              <a:t>Network view</a:t>
            </a:r>
          </a:p>
        </p:txBody>
      </p:sp>
      <p:sp>
        <p:nvSpPr>
          <p:cNvPr id="10" name="Next.js • React • TypeScript">
            <a:extLst xmlns:a="http://schemas.openxmlformats.org/drawingml/2006/main">
              <a:ext uri="{FF2B5EF4-FFF2-40B4-BE49-F238E27FC236}">
                <a16:creationId xmlns:a16="http://schemas.microsoft.com/office/drawing/2014/main" id="{1F377932-AF57-4888-A041-E92ED9774ABB}"/>
              </a:ext>
            </a:extLst>
          </p:cNvPr>
          <p:cNvSpPr>
            <a:spLocks xmlns:a="http://schemas.openxmlformats.org/drawingml/2006/main" noGrp="1"/>
          </p:cNvSpPr>
          <p:nvPr/>
        </p:nvSpPr>
        <p:spPr>
          <a:xfrm xmlns:a="http://schemas.openxmlformats.org/drawingml/2006/main">
            <a:off x="685800" y="5324475"/>
            <a:ext cx="335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17066"/>
                </a:solidFill>
                <a:latin typeface="Arial"/>
                <a:ea typeface="Arial"/>
                <a:cs typeface="Arial"/>
              </a:defRPr>
            </a:defPPr>
          </a:lstStyle>
          <a:p xmlns:a="http://schemas.openxmlformats.org/drawingml/2006/main">
            <a:pPr algn="l">
              <a:defRPr sz="1500" b="0">
                <a:solidFill>
                  <a:srgbClr val="617066"/>
                </a:solidFill>
                <a:latin typeface="Arial"/>
                <a:ea typeface="Arial"/>
                <a:cs typeface="Arial"/>
              </a:defRPr>
            </a:pPr>
            <a:r>
              <a:rPr sz="1500" b="0">
                <a:solidFill>
                  <a:srgbClr val="617066"/>
                </a:solidFill>
                <a:latin typeface="Arial"/>
                <a:ea typeface="Arial"/>
                <a:cs typeface="Arial"/>
              </a:rPr>
              <a:t>Next.js • React • TypeScript</a:t>
            </a:r>
          </a:p>
        </p:txBody>
      </p:sp>
      <p:sp>
        <p:nvSpPr>
          <p:cNvPr id="11" name="→">
            <a:extLst xmlns:a="http://schemas.openxmlformats.org/drawingml/2006/main">
              <a:ext uri="{FF2B5EF4-FFF2-40B4-BE49-F238E27FC236}">
                <a16:creationId xmlns:a16="http://schemas.microsoft.com/office/drawing/2014/main" id="{F2A4D8CC-0C10-4001-9742-857CAC893572}"/>
              </a:ext>
            </a:extLst>
          </p:cNvPr>
          <p:cNvSpPr>
            <a:spLocks xmlns:a="http://schemas.openxmlformats.org/drawingml/2006/main" noGrp="1"/>
          </p:cNvSpPr>
          <p:nvPr/>
        </p:nvSpPr>
        <p:spPr>
          <a:xfrm xmlns:a="http://schemas.openxmlformats.org/drawingml/2006/main">
            <a:off x="4105275" y="3657600"/>
            <a:ext cx="28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BF7947"/>
                </a:solidFill>
                <a:latin typeface="Arial"/>
                <a:ea typeface="Arial"/>
                <a:cs typeface="Arial"/>
              </a:defRPr>
            </a:defPPr>
          </a:lstStyle>
          <a:p xmlns:a="http://schemas.openxmlformats.org/drawingml/2006/main">
            <a:pPr algn="l">
              <a:defRPr sz="2250" b="0">
                <a:solidFill>
                  <a:srgbClr val="BF7947"/>
                </a:solidFill>
                <a:latin typeface="Arial"/>
                <a:ea typeface="Arial"/>
                <a:cs typeface="Arial"/>
              </a:defRPr>
            </a:pPr>
            <a:r>
              <a:rPr sz="2250" b="0">
                <a:solidFill>
                  <a:srgbClr val="BF7947"/>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C049F3ED-390D-4ADB-AC5D-219FE7087AD0}"/>
              </a:ext>
            </a:extLst>
          </p:cNvPr>
          <p:cNvSpPr>
            <a:spLocks xmlns:a="http://schemas.openxmlformats.org/drawingml/2006/main" noGrp="1"/>
          </p:cNvSpPr>
          <p:nvPr/>
        </p:nvSpPr>
        <p:spPr>
          <a:xfrm xmlns:a="http://schemas.openxmlformats.org/drawingml/2006/main">
            <a:off x="4419600" y="2667000"/>
            <a:ext cx="3352800" cy="2457450"/>
          </a:xfrm>
          <a:prstGeom xmlns:a="http://schemas.openxmlformats.org/drawingml/2006/main" prst="rect">
            <a:avLst/>
          </a:prstGeom>
          <a:solidFill xmlns:a="http://schemas.openxmlformats.org/drawingml/2006/main">
            <a:srgbClr val="E7ECDD"/>
          </a:solidFill>
          <a:ln xmlns:a="http://schemas.openxmlformats.org/drawingml/2006/main" w="0">
            <a:noFill/>
          </a:ln>
        </p:spPr>
      </p:sp>
      <p:sp>
        <p:nvSpPr>
          <p:cNvPr id="13" name="API &amp; decisions">
            <a:extLst xmlns:a="http://schemas.openxmlformats.org/drawingml/2006/main">
              <a:ext uri="{FF2B5EF4-FFF2-40B4-BE49-F238E27FC236}">
                <a16:creationId xmlns:a16="http://schemas.microsoft.com/office/drawing/2014/main" id="{FB3D1BCB-0E60-4740-AB9F-C8AFC16968C0}"/>
              </a:ext>
            </a:extLst>
          </p:cNvPr>
          <p:cNvSpPr>
            <a:spLocks xmlns:a="http://schemas.openxmlformats.org/drawingml/2006/main" noGrp="1"/>
          </p:cNvSpPr>
          <p:nvPr/>
        </p:nvSpPr>
        <p:spPr>
          <a:xfrm xmlns:a="http://schemas.openxmlformats.org/drawingml/2006/main">
            <a:off x="4629150" y="2876550"/>
            <a:ext cx="2933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53D30"/>
                </a:solidFill>
                <a:latin typeface="Arial"/>
                <a:ea typeface="Arial"/>
                <a:cs typeface="Arial"/>
              </a:defRPr>
            </a:defPPr>
          </a:lstStyle>
          <a:p xmlns:a="http://schemas.openxmlformats.org/drawingml/2006/main">
            <a:pPr algn="l">
              <a:defRPr sz="2025" b="1">
                <a:solidFill>
                  <a:srgbClr val="253D30"/>
                </a:solidFill>
                <a:latin typeface="Arial"/>
                <a:ea typeface="Arial"/>
                <a:cs typeface="Arial"/>
              </a:defRPr>
            </a:pPr>
            <a:r>
              <a:rPr sz="2025" b="1">
                <a:solidFill>
                  <a:srgbClr val="253D30"/>
                </a:solidFill>
                <a:latin typeface="Arial"/>
                <a:ea typeface="Arial"/>
                <a:cs typeface="Arial"/>
              </a:rPr>
              <a:t>API &amp; decisions</a:t>
            </a:r>
          </a:p>
        </p:txBody>
      </p:sp>
      <p:sp>
        <p:nvSpPr>
          <p:cNvPr id="14" name="Zod validation&#10;Eligibility + ranking&#10;Collection + ">
            <a:extLst xmlns:a="http://schemas.openxmlformats.org/drawingml/2006/main">
              <a:ext uri="{FF2B5EF4-FFF2-40B4-BE49-F238E27FC236}">
                <a16:creationId xmlns:a16="http://schemas.microsoft.com/office/drawing/2014/main" id="{B755625F-9DCE-4F38-85DC-33857D1D5CE9}"/>
              </a:ext>
            </a:extLst>
          </p:cNvPr>
          <p:cNvSpPr>
            <a:spLocks xmlns:a="http://schemas.openxmlformats.org/drawingml/2006/main" noGrp="1"/>
          </p:cNvSpPr>
          <p:nvPr/>
        </p:nvSpPr>
        <p:spPr>
          <a:xfrm xmlns:a="http://schemas.openxmlformats.org/drawingml/2006/main">
            <a:off x="4629150" y="3448050"/>
            <a:ext cx="2933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53D30"/>
                </a:solidFill>
                <a:latin typeface="Arial"/>
                <a:ea typeface="Arial"/>
                <a:cs typeface="Arial"/>
              </a:defRPr>
            </a:defPPr>
          </a:lstStyle>
          <a:p xmlns:a="http://schemas.openxmlformats.org/drawingml/2006/main">
            <a:pPr algn="l">
              <a:defRPr sz="1875" b="0">
                <a:solidFill>
                  <a:srgbClr val="253D30"/>
                </a:solidFill>
                <a:latin typeface="Arial"/>
                <a:ea typeface="Arial"/>
                <a:cs typeface="Arial"/>
              </a:defRPr>
            </a:pPr>
            <a:r>
              <a:rPr sz="1875" b="0">
                <a:solidFill>
                  <a:srgbClr val="253D30"/>
                </a:solidFill>
                <a:latin typeface="Arial"/>
                <a:ea typeface="Arial"/>
                <a:cs typeface="Arial"/>
              </a:rPr>
              <a:t>Zod validation</a:t>
            </a:r>
          </a:p>
          <a:p xmlns:a="http://schemas.openxmlformats.org/drawingml/2006/main">
            <a:pPr algn="l">
              <a:defRPr sz="1875" b="0">
                <a:solidFill>
                  <a:srgbClr val="253D30"/>
                </a:solidFill>
                <a:latin typeface="Arial"/>
                <a:ea typeface="Arial"/>
                <a:cs typeface="Arial"/>
              </a:defRPr>
            </a:pPr>
            <a:r>
              <a:rPr sz="1875" b="0">
                <a:solidFill>
                  <a:srgbClr val="253D30"/>
                </a:solidFill>
                <a:latin typeface="Arial"/>
                <a:ea typeface="Arial"/>
                <a:cs typeface="Arial"/>
              </a:rPr>
              <a:t>Eligibility + ranking</a:t>
            </a:r>
          </a:p>
          <a:p xmlns:a="http://schemas.openxmlformats.org/drawingml/2006/main">
            <a:pPr algn="l">
              <a:defRPr sz="1875" b="0">
                <a:solidFill>
                  <a:srgbClr val="253D30"/>
                </a:solidFill>
                <a:latin typeface="Arial"/>
                <a:ea typeface="Arial"/>
                <a:cs typeface="Arial"/>
              </a:defRPr>
            </a:pPr>
            <a:r>
              <a:rPr sz="1875" b="0">
                <a:solidFill>
                  <a:srgbClr val="253D30"/>
                </a:solidFill>
                <a:latin typeface="Arial"/>
                <a:ea typeface="Arial"/>
                <a:cs typeface="Arial"/>
              </a:rPr>
              <a:t>Collection + receipts</a:t>
            </a:r>
          </a:p>
        </p:txBody>
      </p:sp>
      <p:sp>
        <p:nvSpPr>
          <p:cNvPr id="15" name="Rules control bookings and maths">
            <a:extLst xmlns:a="http://schemas.openxmlformats.org/drawingml/2006/main">
              <a:ext uri="{FF2B5EF4-FFF2-40B4-BE49-F238E27FC236}">
                <a16:creationId xmlns:a16="http://schemas.microsoft.com/office/drawing/2014/main" id="{772A71BA-BAD2-43F4-97A9-17298A40CD43}"/>
              </a:ext>
            </a:extLst>
          </p:cNvPr>
          <p:cNvSpPr>
            <a:spLocks xmlns:a="http://schemas.openxmlformats.org/drawingml/2006/main" noGrp="1"/>
          </p:cNvSpPr>
          <p:nvPr/>
        </p:nvSpPr>
        <p:spPr>
          <a:xfrm xmlns:a="http://schemas.openxmlformats.org/drawingml/2006/main">
            <a:off x="4419600" y="5324475"/>
            <a:ext cx="335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17066"/>
                </a:solidFill>
                <a:latin typeface="Arial"/>
                <a:ea typeface="Arial"/>
                <a:cs typeface="Arial"/>
              </a:defRPr>
            </a:defPPr>
          </a:lstStyle>
          <a:p xmlns:a="http://schemas.openxmlformats.org/drawingml/2006/main">
            <a:pPr algn="l">
              <a:defRPr sz="1500" b="0">
                <a:solidFill>
                  <a:srgbClr val="617066"/>
                </a:solidFill>
                <a:latin typeface="Arial"/>
                <a:ea typeface="Arial"/>
                <a:cs typeface="Arial"/>
              </a:defRPr>
            </a:pPr>
            <a:r>
              <a:rPr sz="1500" b="0">
                <a:solidFill>
                  <a:srgbClr val="617066"/>
                </a:solidFill>
                <a:latin typeface="Arial"/>
                <a:ea typeface="Arial"/>
                <a:cs typeface="Arial"/>
              </a:rPr>
              <a:t>Rules control bookings and maths</a:t>
            </a:r>
          </a:p>
        </p:txBody>
      </p:sp>
      <p:sp>
        <p:nvSpPr>
          <p:cNvPr id="16" name="→">
            <a:extLst xmlns:a="http://schemas.openxmlformats.org/drawingml/2006/main">
              <a:ext uri="{FF2B5EF4-FFF2-40B4-BE49-F238E27FC236}">
                <a16:creationId xmlns:a16="http://schemas.microsoft.com/office/drawing/2014/main" id="{46956D54-BEE8-477F-8B82-BE63618008F5}"/>
              </a:ext>
            </a:extLst>
          </p:cNvPr>
          <p:cNvSpPr>
            <a:spLocks xmlns:a="http://schemas.openxmlformats.org/drawingml/2006/main" noGrp="1"/>
          </p:cNvSpPr>
          <p:nvPr/>
        </p:nvSpPr>
        <p:spPr>
          <a:xfrm xmlns:a="http://schemas.openxmlformats.org/drawingml/2006/main">
            <a:off x="7839075" y="3657600"/>
            <a:ext cx="28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BF7947"/>
                </a:solidFill>
                <a:latin typeface="Arial"/>
                <a:ea typeface="Arial"/>
                <a:cs typeface="Arial"/>
              </a:defRPr>
            </a:defPPr>
          </a:lstStyle>
          <a:p xmlns:a="http://schemas.openxmlformats.org/drawingml/2006/main">
            <a:pPr algn="l">
              <a:defRPr sz="2250" b="0">
                <a:solidFill>
                  <a:srgbClr val="BF7947"/>
                </a:solidFill>
                <a:latin typeface="Arial"/>
                <a:ea typeface="Arial"/>
                <a:cs typeface="Arial"/>
              </a:defRPr>
            </a:pPr>
            <a:r>
              <a:rPr sz="2250" b="0">
                <a:solidFill>
                  <a:srgbClr val="BF7947"/>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6230B46D-1F37-40E6-A52C-B0BDCB5866DC}"/>
              </a:ext>
            </a:extLst>
          </p:cNvPr>
          <p:cNvSpPr>
            <a:spLocks xmlns:a="http://schemas.openxmlformats.org/drawingml/2006/main" noGrp="1"/>
          </p:cNvSpPr>
          <p:nvPr/>
        </p:nvSpPr>
        <p:spPr>
          <a:xfrm xmlns:a="http://schemas.openxmlformats.org/drawingml/2006/main">
            <a:off x="8153400" y="2667000"/>
            <a:ext cx="3352800" cy="2457450"/>
          </a:xfrm>
          <a:prstGeom xmlns:a="http://schemas.openxmlformats.org/drawingml/2006/main" prst="rect">
            <a:avLst/>
          </a:prstGeom>
          <a:solidFill xmlns:a="http://schemas.openxmlformats.org/drawingml/2006/main">
            <a:srgbClr val="E7ECDD"/>
          </a:solidFill>
          <a:ln xmlns:a="http://schemas.openxmlformats.org/drawingml/2006/main" w="0">
            <a:noFill/>
          </a:ln>
        </p:spPr>
      </p:sp>
      <p:sp>
        <p:nvSpPr>
          <p:cNvPr id="18" name="Data &amp; explanations">
            <a:extLst xmlns:a="http://schemas.openxmlformats.org/drawingml/2006/main">
              <a:ext uri="{FF2B5EF4-FFF2-40B4-BE49-F238E27FC236}">
                <a16:creationId xmlns:a16="http://schemas.microsoft.com/office/drawing/2014/main" id="{7EF10FD9-2B3A-477A-AC25-21AB5C825E5C}"/>
              </a:ext>
            </a:extLst>
          </p:cNvPr>
          <p:cNvSpPr>
            <a:spLocks xmlns:a="http://schemas.openxmlformats.org/drawingml/2006/main" noGrp="1"/>
          </p:cNvSpPr>
          <p:nvPr/>
        </p:nvSpPr>
        <p:spPr>
          <a:xfrm xmlns:a="http://schemas.openxmlformats.org/drawingml/2006/main">
            <a:off x="8362950" y="2876550"/>
            <a:ext cx="2933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53D30"/>
                </a:solidFill>
                <a:latin typeface="Arial"/>
                <a:ea typeface="Arial"/>
                <a:cs typeface="Arial"/>
              </a:defRPr>
            </a:defPPr>
          </a:lstStyle>
          <a:p xmlns:a="http://schemas.openxmlformats.org/drawingml/2006/main">
            <a:pPr algn="l">
              <a:defRPr sz="2025" b="1">
                <a:solidFill>
                  <a:srgbClr val="253D30"/>
                </a:solidFill>
                <a:latin typeface="Arial"/>
                <a:ea typeface="Arial"/>
                <a:cs typeface="Arial"/>
              </a:defRPr>
            </a:pPr>
            <a:r>
              <a:rPr sz="2025" b="1">
                <a:solidFill>
                  <a:srgbClr val="253D30"/>
                </a:solidFill>
                <a:latin typeface="Arial"/>
                <a:ea typeface="Arial"/>
                <a:cs typeface="Arial"/>
              </a:rPr>
              <a:t>Data &amp; explanations</a:t>
            </a:r>
          </a:p>
        </p:txBody>
      </p:sp>
      <p:sp>
        <p:nvSpPr>
          <p:cNvPr id="19" name="SQLite transactions&#10;Optional OpenAI adapter&#10;Supaba">
            <a:extLst xmlns:a="http://schemas.openxmlformats.org/drawingml/2006/main">
              <a:ext uri="{FF2B5EF4-FFF2-40B4-BE49-F238E27FC236}">
                <a16:creationId xmlns:a16="http://schemas.microsoft.com/office/drawing/2014/main" id="{531ADD7F-1847-4564-B7E2-249D78B1A7DB}"/>
              </a:ext>
            </a:extLst>
          </p:cNvPr>
          <p:cNvSpPr>
            <a:spLocks xmlns:a="http://schemas.openxmlformats.org/drawingml/2006/main" noGrp="1"/>
          </p:cNvSpPr>
          <p:nvPr/>
        </p:nvSpPr>
        <p:spPr>
          <a:xfrm xmlns:a="http://schemas.openxmlformats.org/drawingml/2006/main">
            <a:off x="8362950" y="3448050"/>
            <a:ext cx="2933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53D30"/>
                </a:solidFill>
                <a:latin typeface="Arial"/>
                <a:ea typeface="Arial"/>
                <a:cs typeface="Arial"/>
              </a:defRPr>
            </a:defPPr>
          </a:lstStyle>
          <a:p xmlns:a="http://schemas.openxmlformats.org/drawingml/2006/main">
            <a:pPr algn="l">
              <a:defRPr sz="1875" b="0">
                <a:solidFill>
                  <a:srgbClr val="253D30"/>
                </a:solidFill>
                <a:latin typeface="Arial"/>
                <a:ea typeface="Arial"/>
                <a:cs typeface="Arial"/>
              </a:defRPr>
            </a:pPr>
            <a:r>
              <a:rPr sz="1875" b="0">
                <a:solidFill>
                  <a:srgbClr val="253D30"/>
                </a:solidFill>
                <a:latin typeface="Arial"/>
                <a:ea typeface="Arial"/>
                <a:cs typeface="Arial"/>
              </a:rPr>
              <a:t>SQLite transactions</a:t>
            </a:r>
          </a:p>
          <a:p xmlns:a="http://schemas.openxmlformats.org/drawingml/2006/main">
            <a:pPr algn="l">
              <a:defRPr sz="1875" b="0">
                <a:solidFill>
                  <a:srgbClr val="253D30"/>
                </a:solidFill>
                <a:latin typeface="Arial"/>
                <a:ea typeface="Arial"/>
                <a:cs typeface="Arial"/>
              </a:defRPr>
            </a:pPr>
            <a:r>
              <a:rPr sz="1875" b="0">
                <a:solidFill>
                  <a:srgbClr val="253D30"/>
                </a:solidFill>
                <a:latin typeface="Arial"/>
                <a:ea typeface="Arial"/>
                <a:cs typeface="Arial"/>
              </a:rPr>
              <a:t>Optional OpenAI adapter</a:t>
            </a:r>
          </a:p>
          <a:p xmlns:a="http://schemas.openxmlformats.org/drawingml/2006/main">
            <a:pPr algn="l">
              <a:defRPr sz="1875" b="0">
                <a:solidFill>
                  <a:srgbClr val="253D30"/>
                </a:solidFill>
                <a:latin typeface="Arial"/>
                <a:ea typeface="Arial"/>
                <a:cs typeface="Arial"/>
              </a:defRPr>
            </a:pPr>
            <a:r>
              <a:rPr sz="1875" b="0">
                <a:solidFill>
                  <a:srgbClr val="253D30"/>
                </a:solidFill>
                <a:latin typeface="Arial"/>
                <a:ea typeface="Arial"/>
                <a:cs typeface="Arial"/>
              </a:rPr>
              <a:t>Supabase SQL prepared</a:t>
            </a:r>
          </a:p>
        </p:txBody>
      </p:sp>
      <p:sp>
        <p:nvSpPr>
          <p:cNvPr id="20" name="Live OpenAI access unverified">
            <a:extLst xmlns:a="http://schemas.openxmlformats.org/drawingml/2006/main">
              <a:ext uri="{FF2B5EF4-FFF2-40B4-BE49-F238E27FC236}">
                <a16:creationId xmlns:a16="http://schemas.microsoft.com/office/drawing/2014/main" id="{3A9D39FB-85EC-4674-9B8C-AD57F4C5E4B7}"/>
              </a:ext>
            </a:extLst>
          </p:cNvPr>
          <p:cNvSpPr>
            <a:spLocks xmlns:a="http://schemas.openxmlformats.org/drawingml/2006/main" noGrp="1"/>
          </p:cNvSpPr>
          <p:nvPr/>
        </p:nvSpPr>
        <p:spPr>
          <a:xfrm xmlns:a="http://schemas.openxmlformats.org/drawingml/2006/main">
            <a:off x="8153400" y="5324475"/>
            <a:ext cx="335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17066"/>
                </a:solidFill>
                <a:latin typeface="Arial"/>
                <a:ea typeface="Arial"/>
                <a:cs typeface="Arial"/>
              </a:defRPr>
            </a:defPPr>
          </a:lstStyle>
          <a:p xmlns:a="http://schemas.openxmlformats.org/drawingml/2006/main">
            <a:pPr algn="l">
              <a:defRPr sz="1500" b="0">
                <a:solidFill>
                  <a:srgbClr val="617066"/>
                </a:solidFill>
                <a:latin typeface="Arial"/>
                <a:ea typeface="Arial"/>
                <a:cs typeface="Arial"/>
              </a:defRPr>
            </a:pPr>
            <a:r>
              <a:rPr sz="1500" b="0">
                <a:solidFill>
                  <a:srgbClr val="617066"/>
                </a:solidFill>
                <a:latin typeface="Arial"/>
                <a:ea typeface="Arial"/>
                <a:cs typeface="Arial"/>
              </a:rPr>
              <a:t>Live OpenAI access unverified</a:t>
            </a:r>
          </a:p>
        </p:txBody>
      </p:sp>
      <p:sp>
        <p:nvSpPr>
          <p:cNvPr id="21" name="Documented local validation: 48 unit/database + 13">
            <a:extLst xmlns:a="http://schemas.openxmlformats.org/drawingml/2006/main">
              <a:ext uri="{FF2B5EF4-FFF2-40B4-BE49-F238E27FC236}">
                <a16:creationId xmlns:a16="http://schemas.microsoft.com/office/drawing/2014/main" id="{99EE7890-5D93-4191-B32F-C19DB139E65C}"/>
              </a:ext>
            </a:extLst>
          </p:cNvPr>
          <p:cNvSpPr>
            <a:spLocks xmlns:a="http://schemas.openxmlformats.org/drawingml/2006/main" noGrp="1"/>
          </p:cNvSpPr>
          <p:nvPr/>
        </p:nvSpPr>
        <p:spPr>
          <a:xfrm xmlns:a="http://schemas.openxmlformats.org/drawingml/2006/main">
            <a:off x="685800" y="5962650"/>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17066"/>
                </a:solidFill>
                <a:latin typeface="Arial"/>
                <a:ea typeface="Arial"/>
                <a:cs typeface="Arial"/>
              </a:defRPr>
            </a:defPPr>
          </a:lstStyle>
          <a:p xmlns:a="http://schemas.openxmlformats.org/drawingml/2006/main">
            <a:pPr algn="l">
              <a:defRPr sz="1350" b="0">
                <a:solidFill>
                  <a:srgbClr val="617066"/>
                </a:solidFill>
                <a:latin typeface="Arial"/>
                <a:ea typeface="Arial"/>
                <a:cs typeface="Arial"/>
              </a:defRPr>
            </a:pPr>
            <a:r>
              <a:rPr sz="1350" b="0">
                <a:solidFill>
                  <a:srgbClr val="617066"/>
                </a:solidFill>
                <a:latin typeface="Arial"/>
                <a:ea typeface="Arial"/>
                <a:cs typeface="Arial"/>
              </a:rPr>
              <a:t>Documented local validation: 48 unit/database + 13 browser/API checks. Live AI, cloud Auth and real recipients remain unverified.</a:t>
            </a:r>
          </a:p>
        </p:txBody>
      </p:sp>
    </p:spTree>
    <p:extLst>
      <p:ext uri="{BB962C8B-B14F-4D97-AF65-F5344CB8AC3E}">
        <p14:creationId xmlns:p14="http://schemas.microsoft.com/office/powerpoint/2010/main" val="1618927971"/>
      </p:ext>
    </p:extLst>
  </p:cSld>
</p:sld>
</file>

<file path=ppt/slides/slide9.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6" name="NILE  /  PROTOTYPE → REAL-WORLD USE">
            <a:extLst xmlns:a="http://schemas.openxmlformats.org/drawingml/2006/main">
              <a:ext uri="{FF2B5EF4-FFF2-40B4-BE49-F238E27FC236}">
                <a16:creationId xmlns:a16="http://schemas.microsoft.com/office/drawing/2014/main" id="{BF95E9C9-72F5-430A-888E-F33085A38A04}"/>
              </a:ext>
            </a:extLst>
          </p:cNvPr>
          <p:cNvSpPr>
            <a:spLocks xmlns:a="http://schemas.openxmlformats.org/drawingml/2006/main" noGrp="1"/>
          </p:cNvSpPr>
          <p:nvPr/>
        </p:nvSpPr>
        <p:spPr>
          <a:xfrm xmlns:a="http://schemas.openxmlformats.org/drawingml/2006/main">
            <a:off x="685800" y="381000"/>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BF7947"/>
                </a:solidFill>
                <a:latin typeface="Arial"/>
                <a:ea typeface="Arial"/>
                <a:cs typeface="Arial"/>
              </a:defRPr>
            </a:defPPr>
          </a:lstStyle>
          <a:p xmlns:a="http://schemas.openxmlformats.org/drawingml/2006/main">
            <a:pPr algn="l">
              <a:defRPr sz="1200" b="1">
                <a:solidFill>
                  <a:srgbClr val="BF7947"/>
                </a:solidFill>
                <a:latin typeface="Arial"/>
                <a:ea typeface="Arial"/>
                <a:cs typeface="Arial"/>
              </a:defRPr>
            </a:pPr>
            <a:r>
              <a:rPr sz="1200" b="1">
                <a:solidFill>
                  <a:srgbClr val="BF7947"/>
                </a:solidFill>
                <a:latin typeface="Arial"/>
                <a:ea typeface="Arial"/>
                <a:cs typeface="Arial"/>
              </a:rPr>
              <a:t>NILE  /  PROTOTYPE → REAL-WORLD USE</a:t>
            </a:r>
          </a:p>
        </p:txBody>
      </p:sp>
      <p:sp>
        <p:nvSpPr>
          <p:cNvPr id="2" name="A small pilot can test the whole promise.">
            <a:extLst xmlns:a="http://schemas.openxmlformats.org/drawingml/2006/main">
              <a:ext uri="{FF2B5EF4-FFF2-40B4-BE49-F238E27FC236}">
                <a16:creationId xmlns:a16="http://schemas.microsoft.com/office/drawing/2014/main" id="{C2DD25F7-0AE9-47E7-9976-0629628CD3AA}"/>
              </a:ext>
            </a:extLst>
          </p:cNvPr>
          <p:cNvSpPr>
            <a:spLocks xmlns:a="http://schemas.openxmlformats.org/drawingml/2006/main" noGrp="1"/>
          </p:cNvSpPr>
          <p:nvPr/>
        </p:nvSpPr>
        <p:spPr>
          <a:xfrm xmlns:a="http://schemas.openxmlformats.org/drawingml/2006/main">
            <a:off x="685800" y="809625"/>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0">
                <a:solidFill>
                  <a:srgbClr val="253D30"/>
                </a:solidFill>
                <a:latin typeface="Georgia"/>
                <a:ea typeface="Georgia"/>
                <a:cs typeface="Georgia"/>
              </a:defRPr>
            </a:defPPr>
          </a:lstStyle>
          <a:p xmlns:a="http://schemas.openxmlformats.org/drawingml/2006/main">
            <a:pPr algn="l">
              <a:defRPr sz="3375" b="0">
                <a:solidFill>
                  <a:srgbClr val="253D30"/>
                </a:solidFill>
                <a:latin typeface="Georgia"/>
                <a:ea typeface="Georgia"/>
                <a:cs typeface="Georgia"/>
              </a:defRPr>
            </a:pPr>
            <a:r>
              <a:rPr sz="3375" b="0">
                <a:solidFill>
                  <a:srgbClr val="253D30"/>
                </a:solidFill>
                <a:latin typeface="Georgia"/>
                <a:ea typeface="Georgia"/>
                <a:cs typeface="Georgia"/>
              </a:rPr>
              <a:t>A small pilot can test the whole promise.</a:t>
            </a:r>
          </a:p>
        </p:txBody>
      </p:sp>
      <p:sp>
        <p:nvSpPr>
          <p:cNvPr id="3" name="Proposed: 3–5 nearby cafes • 1–2 accepting recipie">
            <a:extLst xmlns:a="http://schemas.openxmlformats.org/drawingml/2006/main">
              <a:ext uri="{FF2B5EF4-FFF2-40B4-BE49-F238E27FC236}">
                <a16:creationId xmlns:a16="http://schemas.microsoft.com/office/drawing/2014/main" id="{CAD2F64A-F88F-4891-BF93-7581CE9FEEEE}"/>
              </a:ext>
            </a:extLst>
          </p:cNvPr>
          <p:cNvSpPr>
            <a:spLocks xmlns:a="http://schemas.openxmlformats.org/drawingml/2006/main" noGrp="1"/>
          </p:cNvSpPr>
          <p:nvPr/>
        </p:nvSpPr>
        <p:spPr>
          <a:xfrm xmlns:a="http://schemas.openxmlformats.org/drawingml/2006/main">
            <a:off x="685800" y="185737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17066"/>
                </a:solidFill>
                <a:latin typeface="Arial"/>
                <a:ea typeface="Arial"/>
                <a:cs typeface="Arial"/>
              </a:defRPr>
            </a:defPPr>
          </a:lstStyle>
          <a:p xmlns:a="http://schemas.openxmlformats.org/drawingml/2006/main">
            <a:pPr algn="l">
              <a:defRPr sz="1725" b="0">
                <a:solidFill>
                  <a:srgbClr val="617066"/>
                </a:solidFill>
                <a:latin typeface="Arial"/>
                <a:ea typeface="Arial"/>
                <a:cs typeface="Arial"/>
              </a:defRPr>
            </a:pPr>
            <a:r>
              <a:rPr sz="1725" b="0">
                <a:solidFill>
                  <a:srgbClr val="617066"/>
                </a:solidFill>
                <a:latin typeface="Arial"/>
                <a:ea typeface="Arial"/>
                <a:cs typeface="Arial"/>
              </a:rPr>
              <a:t>Proposed: 3–5 nearby cafes • 1–2 accepting recipients • 4 weeks. No participants are confirmed.</a:t>
            </a:r>
          </a:p>
        </p:txBody>
      </p:sp>
      <p:sp>
        <p:nvSpPr>
          <p:cNvPr id="4" name="">
            <a:extLst xmlns:a="http://schemas.openxmlformats.org/drawingml/2006/main">
              <a:ext uri="{FF2B5EF4-FFF2-40B4-BE49-F238E27FC236}">
                <a16:creationId xmlns:a16="http://schemas.microsoft.com/office/drawing/2014/main" id="{0F4E718A-C32E-428E-8080-7E8408433E57}"/>
              </a:ext>
            </a:extLst>
          </p:cNvPr>
          <p:cNvSpPr>
            <a:spLocks xmlns:a="http://schemas.openxmlformats.org/drawingml/2006/main" noGrp="1"/>
          </p:cNvSpPr>
          <p:nvPr/>
        </p:nvSpPr>
        <p:spPr>
          <a:xfrm xmlns:a="http://schemas.openxmlformats.org/drawingml/2006/main">
            <a:off x="685800" y="6296025"/>
            <a:ext cx="10820400" cy="14288"/>
          </a:xfrm>
          <a:prstGeom xmlns:a="http://schemas.openxmlformats.org/drawingml/2006/main" prst="rect">
            <a:avLst/>
          </a:prstGeom>
          <a:solidFill xmlns:a="http://schemas.openxmlformats.org/drawingml/2006/main">
            <a:srgbClr val="CDD4C6"/>
          </a:solidFill>
          <a:ln xmlns:a="http://schemas.openxmlformats.org/drawingml/2006/main" w="0">
            <a:noFill/>
          </a:ln>
        </p:spPr>
      </p:sp>
      <p:sp>
        <p:nvSpPr>
          <p:cNvPr id="5" name="Nile • Climate Hack-tion • 4 October 2026">
            <a:extLst xmlns:a="http://schemas.openxmlformats.org/drawingml/2006/main">
              <a:ext uri="{FF2B5EF4-FFF2-40B4-BE49-F238E27FC236}">
                <a16:creationId xmlns:a16="http://schemas.microsoft.com/office/drawing/2014/main" id="{FE77CF70-55AA-44C9-9720-3885113DCAA4}"/>
              </a:ext>
            </a:extLst>
          </p:cNvPr>
          <p:cNvSpPr>
            <a:spLocks xmlns:a="http://schemas.openxmlformats.org/drawingml/2006/main" noGrp="1"/>
          </p:cNvSpPr>
          <p:nvPr/>
        </p:nvSpPr>
        <p:spPr>
          <a:xfrm xmlns:a="http://schemas.openxmlformats.org/drawingml/2006/main">
            <a:off x="685800" y="6448425"/>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066"/>
                </a:solidFill>
                <a:latin typeface="Arial"/>
                <a:ea typeface="Arial"/>
                <a:cs typeface="Arial"/>
              </a:defRPr>
            </a:defPPr>
          </a:lstStyle>
          <a:p xmlns:a="http://schemas.openxmlformats.org/drawingml/2006/main">
            <a:pPr algn="l">
              <a:defRPr sz="1050" b="0">
                <a:solidFill>
                  <a:srgbClr val="617066"/>
                </a:solidFill>
                <a:latin typeface="Arial"/>
                <a:ea typeface="Arial"/>
                <a:cs typeface="Arial"/>
              </a:defRPr>
            </a:pPr>
            <a:r>
              <a:rPr sz="1050" b="0">
                <a:solidFill>
                  <a:srgbClr val="617066"/>
                </a:solidFill>
                <a:latin typeface="Arial"/>
                <a:ea typeface="Arial"/>
                <a:cs typeface="Arial"/>
              </a:rPr>
              <a:t>Nile • Climate Hack-tion • 4 October 2026</a:t>
            </a:r>
          </a:p>
        </p:txBody>
      </p:sp>
      <p:sp>
        <p:nvSpPr>
          <p:cNvPr id="6" name="09">
            <a:extLst xmlns:a="http://schemas.openxmlformats.org/drawingml/2006/main">
              <a:ext uri="{FF2B5EF4-FFF2-40B4-BE49-F238E27FC236}">
                <a16:creationId xmlns:a16="http://schemas.microsoft.com/office/drawing/2014/main" id="{61B2DA12-A696-47DC-AA63-7AAC08E7ABBD}"/>
              </a:ext>
            </a:extLst>
          </p:cNvPr>
          <p:cNvSpPr>
            <a:spLocks xmlns:a="http://schemas.openxmlformats.org/drawingml/2006/main" noGrp="1"/>
          </p:cNvSpPr>
          <p:nvPr/>
        </p:nvSpPr>
        <p:spPr>
          <a:xfrm xmlns:a="http://schemas.openxmlformats.org/drawingml/2006/main">
            <a:off x="10953750" y="64293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BF7947"/>
                </a:solidFill>
                <a:latin typeface="Arial"/>
                <a:ea typeface="Arial"/>
                <a:cs typeface="Arial"/>
              </a:defRPr>
            </a:defPPr>
          </a:lstStyle>
          <a:p xmlns:a="http://schemas.openxmlformats.org/drawingml/2006/main">
            <a:pPr algn="r">
              <a:defRPr sz="1200" b="0">
                <a:solidFill>
                  <a:srgbClr val="BF7947"/>
                </a:solidFill>
                <a:latin typeface="Arial"/>
                <a:ea typeface="Arial"/>
                <a:cs typeface="Arial"/>
              </a:defRPr>
            </a:pPr>
            <a:r>
              <a:rPr sz="1200" b="0">
                <a:solidFill>
                  <a:srgbClr val="BF7947"/>
                </a:solidFill>
                <a:latin typeface="Arial"/>
                <a:ea typeface="Arial"/>
                <a:cs typeface="Arial"/>
              </a:rPr>
              <a:t>09</a:t>
            </a:r>
          </a:p>
        </p:txBody>
      </p:sp>
      <p:sp>
        <p:nvSpPr>
          <p:cNvPr id="7" name="1  Establish the baseline">
            <a:extLst xmlns:a="http://schemas.openxmlformats.org/drawingml/2006/main">
              <a:ext uri="{FF2B5EF4-FFF2-40B4-BE49-F238E27FC236}">
                <a16:creationId xmlns:a16="http://schemas.microsoft.com/office/drawing/2014/main" id="{2BBA9784-D6C9-477B-81EE-7E8DDB239298}"/>
              </a:ext>
            </a:extLst>
          </p:cNvPr>
          <p:cNvSpPr>
            <a:spLocks xmlns:a="http://schemas.openxmlformats.org/drawingml/2006/main" noGrp="1"/>
          </p:cNvSpPr>
          <p:nvPr/>
        </p:nvSpPr>
        <p:spPr>
          <a:xfrm xmlns:a="http://schemas.openxmlformats.org/drawingml/2006/main">
            <a:off x="685800" y="2714625"/>
            <a:ext cx="3314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53D30"/>
                </a:solidFill>
                <a:latin typeface="Georgia"/>
                <a:ea typeface="Georgia"/>
                <a:cs typeface="Georgia"/>
              </a:defRPr>
            </a:defPPr>
          </a:lstStyle>
          <a:p xmlns:a="http://schemas.openxmlformats.org/drawingml/2006/main">
            <a:pPr algn="l">
              <a:defRPr sz="2100" b="0">
                <a:solidFill>
                  <a:srgbClr val="253D30"/>
                </a:solidFill>
                <a:latin typeface="Georgia"/>
                <a:ea typeface="Georgia"/>
                <a:cs typeface="Georgia"/>
              </a:defRPr>
            </a:pPr>
            <a:r>
              <a:rPr sz="2100" b="0">
                <a:solidFill>
                  <a:srgbClr val="253D30"/>
                </a:solidFill>
                <a:latin typeface="Georgia"/>
                <a:ea typeface="Georgia"/>
                <a:cs typeface="Georgia"/>
              </a:rPr>
              <a:t>1  Establish the baseline</a:t>
            </a:r>
          </a:p>
        </p:txBody>
      </p:sp>
      <p:sp>
        <p:nvSpPr>
          <p:cNvPr id="8" name="Check bin destinations, existing collectors, weekl">
            <a:extLst xmlns:a="http://schemas.openxmlformats.org/drawingml/2006/main">
              <a:ext uri="{FF2B5EF4-FFF2-40B4-BE49-F238E27FC236}">
                <a16:creationId xmlns:a16="http://schemas.microsoft.com/office/drawing/2014/main" id="{A949D472-3DD3-4D49-9CB8-C4EF10B601C2}"/>
              </a:ext>
            </a:extLst>
          </p:cNvPr>
          <p:cNvSpPr>
            <a:spLocks xmlns:a="http://schemas.openxmlformats.org/drawingml/2006/main" noGrp="1"/>
          </p:cNvSpPr>
          <p:nvPr/>
        </p:nvSpPr>
        <p:spPr>
          <a:xfrm xmlns:a="http://schemas.openxmlformats.org/drawingml/2006/main">
            <a:off x="685800" y="3686175"/>
            <a:ext cx="331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53D30"/>
                </a:solidFill>
                <a:latin typeface="Arial"/>
                <a:ea typeface="Arial"/>
                <a:cs typeface="Arial"/>
              </a:defRPr>
            </a:defPPr>
          </a:lstStyle>
          <a:p xmlns:a="http://schemas.openxmlformats.org/drawingml/2006/main">
            <a:pPr algn="l">
              <a:defRPr sz="1800" b="0">
                <a:solidFill>
                  <a:srgbClr val="253D30"/>
                </a:solidFill>
                <a:latin typeface="Arial"/>
                <a:ea typeface="Arial"/>
                <a:cs typeface="Arial"/>
              </a:defRPr>
            </a:pPr>
            <a:r>
              <a:rPr sz="1800" b="0">
                <a:solidFill>
                  <a:srgbClr val="253D30"/>
                </a:solidFill>
                <a:latin typeface="Arial"/>
                <a:ea typeface="Arial"/>
                <a:cs typeface="Arial"/>
              </a:rPr>
              <a:t>Check bin destinations, existing collectors, weekly weights and current costs.</a:t>
            </a:r>
          </a:p>
        </p:txBody>
      </p:sp>
      <p:sp>
        <p:nvSpPr>
          <p:cNvPr id="9" name="2  Agree a practical route">
            <a:extLst xmlns:a="http://schemas.openxmlformats.org/drawingml/2006/main">
              <a:ext uri="{FF2B5EF4-FFF2-40B4-BE49-F238E27FC236}">
                <a16:creationId xmlns:a16="http://schemas.microsoft.com/office/drawing/2014/main" id="{6240C168-87E4-4519-9D57-980EB57009A6}"/>
              </a:ext>
            </a:extLst>
          </p:cNvPr>
          <p:cNvSpPr>
            <a:spLocks xmlns:a="http://schemas.openxmlformats.org/drawingml/2006/main" noGrp="1"/>
          </p:cNvSpPr>
          <p:nvPr/>
        </p:nvSpPr>
        <p:spPr>
          <a:xfrm xmlns:a="http://schemas.openxmlformats.org/drawingml/2006/main">
            <a:off x="4419600" y="2714625"/>
            <a:ext cx="3314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53D30"/>
                </a:solidFill>
                <a:latin typeface="Georgia"/>
                <a:ea typeface="Georgia"/>
                <a:cs typeface="Georgia"/>
              </a:defRPr>
            </a:defPPr>
          </a:lstStyle>
          <a:p xmlns:a="http://schemas.openxmlformats.org/drawingml/2006/main">
            <a:pPr algn="l">
              <a:defRPr sz="2100" b="0">
                <a:solidFill>
                  <a:srgbClr val="253D30"/>
                </a:solidFill>
                <a:latin typeface="Georgia"/>
                <a:ea typeface="Georgia"/>
                <a:cs typeface="Georgia"/>
              </a:defRPr>
            </a:pPr>
            <a:r>
              <a:rPr sz="2100" b="0">
                <a:solidFill>
                  <a:srgbClr val="253D30"/>
                </a:solidFill>
                <a:latin typeface="Georgia"/>
                <a:ea typeface="Georgia"/>
                <a:cs typeface="Georgia"/>
              </a:rPr>
              <a:t>2  Agree a practical route</a:t>
            </a:r>
          </a:p>
        </p:txBody>
      </p:sp>
      <p:sp>
        <p:nvSpPr>
          <p:cNvPr id="10" name="Confirm recipient rules, storage, pickup windows, ">
            <a:extLst xmlns:a="http://schemas.openxmlformats.org/drawingml/2006/main">
              <a:ext uri="{FF2B5EF4-FFF2-40B4-BE49-F238E27FC236}">
                <a16:creationId xmlns:a16="http://schemas.microsoft.com/office/drawing/2014/main" id="{93EDE5C8-A567-4876-805B-48CC8B0F102A}"/>
              </a:ext>
            </a:extLst>
          </p:cNvPr>
          <p:cNvSpPr>
            <a:spLocks xmlns:a="http://schemas.openxmlformats.org/drawingml/2006/main" noGrp="1"/>
          </p:cNvSpPr>
          <p:nvPr/>
        </p:nvSpPr>
        <p:spPr>
          <a:xfrm xmlns:a="http://schemas.openxmlformats.org/drawingml/2006/main">
            <a:off x="4419600" y="3686175"/>
            <a:ext cx="331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53D30"/>
                </a:solidFill>
                <a:latin typeface="Arial"/>
                <a:ea typeface="Arial"/>
                <a:cs typeface="Arial"/>
              </a:defRPr>
            </a:defPPr>
          </a:lstStyle>
          <a:p xmlns:a="http://schemas.openxmlformats.org/drawingml/2006/main">
            <a:pPr algn="l">
              <a:defRPr sz="1800" b="0">
                <a:solidFill>
                  <a:srgbClr val="253D30"/>
                </a:solidFill>
                <a:latin typeface="Arial"/>
                <a:ea typeface="Arial"/>
                <a:cs typeface="Arial"/>
              </a:defRPr>
            </a:pPr>
            <a:r>
              <a:rPr sz="1800" b="0">
                <a:solidFill>
                  <a:srgbClr val="253D30"/>
                </a:solidFill>
                <a:latin typeface="Arial"/>
                <a:ea typeface="Arial"/>
                <a:cs typeface="Arial"/>
              </a:rPr>
              <a:t>Confirm recipient rules, storage, pickup windows, access and charges.</a:t>
            </a:r>
          </a:p>
        </p:txBody>
      </p:sp>
      <p:sp>
        <p:nvSpPr>
          <p:cNvPr id="11" name="3  Run and record">
            <a:extLst xmlns:a="http://schemas.openxmlformats.org/drawingml/2006/main">
              <a:ext uri="{FF2B5EF4-FFF2-40B4-BE49-F238E27FC236}">
                <a16:creationId xmlns:a16="http://schemas.microsoft.com/office/drawing/2014/main" id="{3D7A7CFB-E8FF-4E4C-B1B6-BC7B5A084821}"/>
              </a:ext>
            </a:extLst>
          </p:cNvPr>
          <p:cNvSpPr>
            <a:spLocks xmlns:a="http://schemas.openxmlformats.org/drawingml/2006/main" noGrp="1"/>
          </p:cNvSpPr>
          <p:nvPr/>
        </p:nvSpPr>
        <p:spPr>
          <a:xfrm xmlns:a="http://schemas.openxmlformats.org/drawingml/2006/main">
            <a:off x="8153400" y="2714625"/>
            <a:ext cx="3314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53D30"/>
                </a:solidFill>
                <a:latin typeface="Georgia"/>
                <a:ea typeface="Georgia"/>
                <a:cs typeface="Georgia"/>
              </a:defRPr>
            </a:defPPr>
          </a:lstStyle>
          <a:p xmlns:a="http://schemas.openxmlformats.org/drawingml/2006/main">
            <a:pPr algn="l">
              <a:defRPr sz="2100" b="0">
                <a:solidFill>
                  <a:srgbClr val="253D30"/>
                </a:solidFill>
                <a:latin typeface="Georgia"/>
                <a:ea typeface="Georgia"/>
                <a:cs typeface="Georgia"/>
              </a:defRPr>
            </a:pPr>
            <a:r>
              <a:rPr sz="2100" b="0">
                <a:solidFill>
                  <a:srgbClr val="253D30"/>
                </a:solidFill>
                <a:latin typeface="Georgia"/>
                <a:ea typeface="Georgia"/>
                <a:cs typeface="Georgia"/>
              </a:rPr>
              <a:t>3  Run and record</a:t>
            </a:r>
          </a:p>
        </p:txBody>
      </p:sp>
      <p:sp>
        <p:nvSpPr>
          <p:cNvPr id="12" name="Track accepted kg, reported use, failures, staff t">
            <a:extLst xmlns:a="http://schemas.openxmlformats.org/drawingml/2006/main">
              <a:ext uri="{FF2B5EF4-FFF2-40B4-BE49-F238E27FC236}">
                <a16:creationId xmlns:a16="http://schemas.microsoft.com/office/drawing/2014/main" id="{B5F9BE3A-8491-4B11-8BD5-C1A2D5704CCE}"/>
              </a:ext>
            </a:extLst>
          </p:cNvPr>
          <p:cNvSpPr>
            <a:spLocks xmlns:a="http://schemas.openxmlformats.org/drawingml/2006/main" noGrp="1"/>
          </p:cNvSpPr>
          <p:nvPr/>
        </p:nvSpPr>
        <p:spPr>
          <a:xfrm xmlns:a="http://schemas.openxmlformats.org/drawingml/2006/main">
            <a:off x="8153400" y="3686175"/>
            <a:ext cx="331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53D30"/>
                </a:solidFill>
                <a:latin typeface="Arial"/>
                <a:ea typeface="Arial"/>
                <a:cs typeface="Arial"/>
              </a:defRPr>
            </a:defPPr>
          </a:lstStyle>
          <a:p xmlns:a="http://schemas.openxmlformats.org/drawingml/2006/main">
            <a:pPr algn="l">
              <a:defRPr sz="1800" b="0">
                <a:solidFill>
                  <a:srgbClr val="253D30"/>
                </a:solidFill>
                <a:latin typeface="Arial"/>
                <a:ea typeface="Arial"/>
                <a:cs typeface="Arial"/>
              </a:defRPr>
            </a:pPr>
            <a:r>
              <a:rPr sz="1800" b="0">
                <a:solidFill>
                  <a:srgbClr val="253D30"/>
                </a:solidFill>
                <a:latin typeface="Arial"/>
                <a:ea typeface="Arial"/>
                <a:cs typeface="Arial"/>
              </a:rPr>
              <a:t>Track accepted kg, reported use, failures, staff time, costs and understanding.</a:t>
            </a:r>
          </a:p>
        </p:txBody>
      </p:sp>
      <p:sp>
        <p:nvSpPr>
          <p:cNvPr id="13" name="">
            <a:extLst xmlns:a="http://schemas.openxmlformats.org/drawingml/2006/main">
              <a:ext uri="{FF2B5EF4-FFF2-40B4-BE49-F238E27FC236}">
                <a16:creationId xmlns:a16="http://schemas.microsoft.com/office/drawing/2014/main" id="{416CCDC7-50E3-42D4-A6F2-5B0467FA60A6}"/>
              </a:ext>
            </a:extLst>
          </p:cNvPr>
          <p:cNvSpPr>
            <a:spLocks xmlns:a="http://schemas.openxmlformats.org/drawingml/2006/main" noGrp="1"/>
          </p:cNvSpPr>
          <p:nvPr/>
        </p:nvSpPr>
        <p:spPr>
          <a:xfrm xmlns:a="http://schemas.openxmlformats.org/drawingml/2006/main">
            <a:off x="685800" y="5029200"/>
            <a:ext cx="10820400" cy="14288"/>
          </a:xfrm>
          <a:prstGeom xmlns:a="http://schemas.openxmlformats.org/drawingml/2006/main" prst="rect">
            <a:avLst/>
          </a:prstGeom>
          <a:solidFill xmlns:a="http://schemas.openxmlformats.org/drawingml/2006/main">
            <a:srgbClr val="CDD4C6"/>
          </a:solidFill>
          <a:ln xmlns:a="http://schemas.openxmlformats.org/drawingml/2006/main" w="0">
            <a:noFill/>
          </a:ln>
        </p:spPr>
      </p:sp>
      <p:sp>
        <p:nvSpPr>
          <p:cNvPr id="14" name="Suggested pass gates">
            <a:extLst xmlns:a="http://schemas.openxmlformats.org/drawingml/2006/main">
              <a:ext uri="{FF2B5EF4-FFF2-40B4-BE49-F238E27FC236}">
                <a16:creationId xmlns:a16="http://schemas.microsoft.com/office/drawing/2014/main" id="{74263DD0-D4AC-461A-B6E4-ADEB26466954}"/>
              </a:ext>
            </a:extLst>
          </p:cNvPr>
          <p:cNvSpPr>
            <a:spLocks xmlns:a="http://schemas.openxmlformats.org/drawingml/2006/main" noGrp="1"/>
          </p:cNvSpPr>
          <p:nvPr/>
        </p:nvSpPr>
        <p:spPr>
          <a:xfrm xmlns:a="http://schemas.openxmlformats.org/drawingml/2006/main">
            <a:off x="685800" y="522922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F7947"/>
                </a:solidFill>
                <a:latin typeface="Arial"/>
                <a:ea typeface="Arial"/>
                <a:cs typeface="Arial"/>
              </a:defRPr>
            </a:defPPr>
          </a:lstStyle>
          <a:p xmlns:a="http://schemas.openxmlformats.org/drawingml/2006/main">
            <a:pPr algn="l">
              <a:defRPr sz="1650" b="1">
                <a:solidFill>
                  <a:srgbClr val="BF7947"/>
                </a:solidFill>
                <a:latin typeface="Arial"/>
                <a:ea typeface="Arial"/>
                <a:cs typeface="Arial"/>
              </a:defRPr>
            </a:pPr>
            <a:r>
              <a:rPr sz="1650" b="1">
                <a:solidFill>
                  <a:srgbClr val="BF7947"/>
                </a:solidFill>
                <a:latin typeface="Arial"/>
                <a:ea typeface="Arial"/>
                <a:cs typeface="Arial"/>
              </a:rPr>
              <a:t>Suggested pass gates</a:t>
            </a:r>
          </a:p>
        </p:txBody>
      </p:sp>
      <p:sp>
        <p:nvSpPr>
          <p:cNvPr id="15" name="≥80% pickups completed  •  ≤2 min median repeat li">
            <a:extLst xmlns:a="http://schemas.openxmlformats.org/drawingml/2006/main">
              <a:ext uri="{FF2B5EF4-FFF2-40B4-BE49-F238E27FC236}">
                <a16:creationId xmlns:a16="http://schemas.microsoft.com/office/drawing/2014/main" id="{835EF2CD-F52E-4F7D-B845-672E6FD5584B}"/>
              </a:ext>
            </a:extLst>
          </p:cNvPr>
          <p:cNvSpPr>
            <a:spLocks xmlns:a="http://schemas.openxmlformats.org/drawingml/2006/main" noGrp="1"/>
          </p:cNvSpPr>
          <p:nvPr/>
        </p:nvSpPr>
        <p:spPr>
          <a:xfrm xmlns:a="http://schemas.openxmlformats.org/drawingml/2006/main">
            <a:off x="685800" y="5657850"/>
            <a:ext cx="1082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53D30"/>
                </a:solidFill>
                <a:latin typeface="Arial"/>
                <a:ea typeface="Arial"/>
                <a:cs typeface="Arial"/>
              </a:defRPr>
            </a:defPPr>
          </a:lstStyle>
          <a:p xmlns:a="http://schemas.openxmlformats.org/drawingml/2006/main">
            <a:pPr algn="l">
              <a:defRPr sz="1575" b="0">
                <a:solidFill>
                  <a:srgbClr val="253D30"/>
                </a:solidFill>
                <a:latin typeface="Arial"/>
                <a:ea typeface="Arial"/>
                <a:cs typeface="Arial"/>
              </a:defRPr>
            </a:pPr>
            <a:r>
              <a:rPr sz="1575" b="0">
                <a:solidFill>
                  <a:srgbClr val="253D30"/>
                </a:solidFill>
                <a:latin typeface="Arial"/>
                <a:ea typeface="Arial"/>
                <a:cs typeface="Arial"/>
              </a:rPr>
              <a:t>≥80% pickups completed  •  ≤2 min median repeat listing  •  ≥60% repeat participation</a:t>
            </a:r>
          </a:p>
          <a:p xmlns:a="http://schemas.openxmlformats.org/drawingml/2006/main">
            <a:pPr algn="l">
              <a:defRPr sz="1575" b="0">
                <a:solidFill>
                  <a:srgbClr val="253D30"/>
                </a:solidFill>
                <a:latin typeface="Arial"/>
                <a:ea typeface="Arial"/>
                <a:cs typeface="Arial"/>
              </a:defRPr>
            </a:pPr>
            <a:r>
              <a:rPr sz="1575" b="0">
                <a:solidFill>
                  <a:srgbClr val="253D30"/>
                </a:solidFill>
                <a:latin typeface="Arial"/>
                <a:ea typeface="Arial"/>
                <a:cs typeface="Arial"/>
              </a:rPr>
              <a:t>Median net benefit ≥$0 after actual costs; additional diversion checked against baseline.</a:t>
            </a:r>
          </a:p>
        </p:txBody>
      </p:sp>
    </p:spTree>
    <p:extLst>
      <p:ext uri="{BB962C8B-B14F-4D97-AF65-F5344CB8AC3E}">
        <p14:creationId xmlns:p14="http://schemas.microsoft.com/office/powerpoint/2010/main" val="2061504417"/>
      </p:ext>
    </p:extLst>
  </p:cSld>
</p:sld>
</file>

<file path=ppt/slides/slide10.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0" name="NILE  /  APPENDIX / SCENARIO METHOD">
            <a:extLst xmlns:a="http://schemas.openxmlformats.org/drawingml/2006/main">
              <a:ext uri="{FF2B5EF4-FFF2-40B4-BE49-F238E27FC236}">
                <a16:creationId xmlns:a16="http://schemas.microsoft.com/office/drawing/2014/main" id="{93BA91FA-B118-4FEC-97E8-6AD6500EFDEC}"/>
              </a:ext>
            </a:extLst>
          </p:cNvPr>
          <p:cNvSpPr>
            <a:spLocks xmlns:a="http://schemas.openxmlformats.org/drawingml/2006/main" noGrp="1"/>
          </p:cNvSpPr>
          <p:nvPr/>
        </p:nvSpPr>
        <p:spPr>
          <a:xfrm xmlns:a="http://schemas.openxmlformats.org/drawingml/2006/main">
            <a:off x="685800" y="381000"/>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BF7947"/>
                </a:solidFill>
                <a:latin typeface="Arial"/>
                <a:ea typeface="Arial"/>
                <a:cs typeface="Arial"/>
              </a:defRPr>
            </a:defPPr>
          </a:lstStyle>
          <a:p xmlns:a="http://schemas.openxmlformats.org/drawingml/2006/main">
            <a:pPr algn="l">
              <a:defRPr sz="1200" b="1">
                <a:solidFill>
                  <a:srgbClr val="BF7947"/>
                </a:solidFill>
                <a:latin typeface="Arial"/>
                <a:ea typeface="Arial"/>
                <a:cs typeface="Arial"/>
              </a:defRPr>
            </a:pPr>
            <a:r>
              <a:rPr sz="1200" b="1">
                <a:solidFill>
                  <a:srgbClr val="BF7947"/>
                </a:solidFill>
                <a:latin typeface="Arial"/>
                <a:ea typeface="Arial"/>
                <a:cs typeface="Arial"/>
              </a:rPr>
              <a:t>NILE  /  APPENDIX / SCENARIO METHOD</a:t>
            </a:r>
          </a:p>
        </p:txBody>
      </p:sp>
      <p:sp>
        <p:nvSpPr>
          <p:cNvPr id="2" name="Assumptions stay visible and adjustable.">
            <a:extLst xmlns:a="http://schemas.openxmlformats.org/drawingml/2006/main">
              <a:ext uri="{FF2B5EF4-FFF2-40B4-BE49-F238E27FC236}">
                <a16:creationId xmlns:a16="http://schemas.microsoft.com/office/drawing/2014/main" id="{B90E7EB2-87A5-49DB-B6BD-430EE411E885}"/>
              </a:ext>
            </a:extLst>
          </p:cNvPr>
          <p:cNvSpPr>
            <a:spLocks xmlns:a="http://schemas.openxmlformats.org/drawingml/2006/main" noGrp="1"/>
          </p:cNvSpPr>
          <p:nvPr/>
        </p:nvSpPr>
        <p:spPr>
          <a:xfrm xmlns:a="http://schemas.openxmlformats.org/drawingml/2006/main">
            <a:off x="685800" y="809625"/>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0">
                <a:solidFill>
                  <a:srgbClr val="253D30"/>
                </a:solidFill>
                <a:latin typeface="Georgia"/>
                <a:ea typeface="Georgia"/>
                <a:cs typeface="Georgia"/>
              </a:defRPr>
            </a:defPPr>
          </a:lstStyle>
          <a:p xmlns:a="http://schemas.openxmlformats.org/drawingml/2006/main">
            <a:pPr algn="l">
              <a:defRPr sz="3375" b="0">
                <a:solidFill>
                  <a:srgbClr val="253D30"/>
                </a:solidFill>
                <a:latin typeface="Georgia"/>
                <a:ea typeface="Georgia"/>
                <a:cs typeface="Georgia"/>
              </a:defRPr>
            </a:pPr>
            <a:r>
              <a:rPr sz="3375" b="0">
                <a:solidFill>
                  <a:srgbClr val="253D30"/>
                </a:solidFill>
                <a:latin typeface="Georgia"/>
                <a:ea typeface="Georgia"/>
                <a:cs typeface="Georgia"/>
              </a:rPr>
              <a:t>Assumptions stay visible and adjustable.</a:t>
            </a:r>
          </a:p>
        </p:txBody>
      </p:sp>
      <p:sp>
        <p:nvSpPr>
          <p:cNvPr id="3" name="The four interviews did not measure these quantiti">
            <a:extLst xmlns:a="http://schemas.openxmlformats.org/drawingml/2006/main">
              <a:ext uri="{FF2B5EF4-FFF2-40B4-BE49-F238E27FC236}">
                <a16:creationId xmlns:a16="http://schemas.microsoft.com/office/drawing/2014/main" id="{302A6A9B-5E1F-4112-8DDD-700B5921E9EA}"/>
              </a:ext>
            </a:extLst>
          </p:cNvPr>
          <p:cNvSpPr>
            <a:spLocks xmlns:a="http://schemas.openxmlformats.org/drawingml/2006/main" noGrp="1"/>
          </p:cNvSpPr>
          <p:nvPr/>
        </p:nvSpPr>
        <p:spPr>
          <a:xfrm xmlns:a="http://schemas.openxmlformats.org/drawingml/2006/main">
            <a:off x="685800" y="185737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17066"/>
                </a:solidFill>
                <a:latin typeface="Arial"/>
                <a:ea typeface="Arial"/>
                <a:cs typeface="Arial"/>
              </a:defRPr>
            </a:defPPr>
          </a:lstStyle>
          <a:p xmlns:a="http://schemas.openxmlformats.org/drawingml/2006/main">
            <a:pPr algn="l">
              <a:defRPr sz="1725" b="0">
                <a:solidFill>
                  <a:srgbClr val="617066"/>
                </a:solidFill>
                <a:latin typeface="Arial"/>
                <a:ea typeface="Arial"/>
                <a:cs typeface="Arial"/>
              </a:defRPr>
            </a:pPr>
            <a:r>
              <a:rPr sz="1725" b="0">
                <a:solidFill>
                  <a:srgbClr val="617066"/>
                </a:solidFill>
                <a:latin typeface="Arial"/>
                <a:ea typeface="Arial"/>
                <a:cs typeface="Arial"/>
              </a:rPr>
              <a:t>The four interviews did not measure these quantities. The 100-cafe case is a planning illustration.</a:t>
            </a:r>
          </a:p>
        </p:txBody>
      </p:sp>
      <p:sp>
        <p:nvSpPr>
          <p:cNvPr id="4" name="">
            <a:extLst xmlns:a="http://schemas.openxmlformats.org/drawingml/2006/main">
              <a:ext uri="{FF2B5EF4-FFF2-40B4-BE49-F238E27FC236}">
                <a16:creationId xmlns:a16="http://schemas.microsoft.com/office/drawing/2014/main" id="{B8A4354D-57A3-4735-A506-30967D4CFB59}"/>
              </a:ext>
            </a:extLst>
          </p:cNvPr>
          <p:cNvSpPr>
            <a:spLocks xmlns:a="http://schemas.openxmlformats.org/drawingml/2006/main" noGrp="1"/>
          </p:cNvSpPr>
          <p:nvPr/>
        </p:nvSpPr>
        <p:spPr>
          <a:xfrm xmlns:a="http://schemas.openxmlformats.org/drawingml/2006/main">
            <a:off x="685800" y="6296025"/>
            <a:ext cx="10820400" cy="14288"/>
          </a:xfrm>
          <a:prstGeom xmlns:a="http://schemas.openxmlformats.org/drawingml/2006/main" prst="rect">
            <a:avLst/>
          </a:prstGeom>
          <a:solidFill xmlns:a="http://schemas.openxmlformats.org/drawingml/2006/main">
            <a:srgbClr val="CDD4C6"/>
          </a:solidFill>
          <a:ln xmlns:a="http://schemas.openxmlformats.org/drawingml/2006/main" w="0">
            <a:noFill/>
          </a:ln>
        </p:spPr>
      </p:sp>
      <p:sp>
        <p:nvSpPr>
          <p:cNvPr id="5" name="Nile • Climate Hack-tion • 4 October 2026">
            <a:extLst xmlns:a="http://schemas.openxmlformats.org/drawingml/2006/main">
              <a:ext uri="{FF2B5EF4-FFF2-40B4-BE49-F238E27FC236}">
                <a16:creationId xmlns:a16="http://schemas.microsoft.com/office/drawing/2014/main" id="{2ED43140-A340-4863-8980-2F28157B96D1}"/>
              </a:ext>
            </a:extLst>
          </p:cNvPr>
          <p:cNvSpPr>
            <a:spLocks xmlns:a="http://schemas.openxmlformats.org/drawingml/2006/main" noGrp="1"/>
          </p:cNvSpPr>
          <p:nvPr/>
        </p:nvSpPr>
        <p:spPr>
          <a:xfrm xmlns:a="http://schemas.openxmlformats.org/drawingml/2006/main">
            <a:off x="685800" y="6448425"/>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066"/>
                </a:solidFill>
                <a:latin typeface="Arial"/>
                <a:ea typeface="Arial"/>
                <a:cs typeface="Arial"/>
              </a:defRPr>
            </a:defPPr>
          </a:lstStyle>
          <a:p xmlns:a="http://schemas.openxmlformats.org/drawingml/2006/main">
            <a:pPr algn="l">
              <a:defRPr sz="1050" b="0">
                <a:solidFill>
                  <a:srgbClr val="617066"/>
                </a:solidFill>
                <a:latin typeface="Arial"/>
                <a:ea typeface="Arial"/>
                <a:cs typeface="Arial"/>
              </a:defRPr>
            </a:pPr>
            <a:r>
              <a:rPr sz="1050" b="0">
                <a:solidFill>
                  <a:srgbClr val="617066"/>
                </a:solidFill>
                <a:latin typeface="Arial"/>
                <a:ea typeface="Arial"/>
                <a:cs typeface="Arial"/>
              </a:rPr>
              <a:t>Nile • Climate Hack-tion • 4 October 2026</a:t>
            </a:r>
          </a:p>
        </p:txBody>
      </p:sp>
      <p:sp>
        <p:nvSpPr>
          <p:cNvPr id="6" name="10">
            <a:extLst xmlns:a="http://schemas.openxmlformats.org/drawingml/2006/main">
              <a:ext uri="{FF2B5EF4-FFF2-40B4-BE49-F238E27FC236}">
                <a16:creationId xmlns:a16="http://schemas.microsoft.com/office/drawing/2014/main" id="{400D9523-8FFC-4F80-8266-1F506740B67B}"/>
              </a:ext>
            </a:extLst>
          </p:cNvPr>
          <p:cNvSpPr>
            <a:spLocks xmlns:a="http://schemas.openxmlformats.org/drawingml/2006/main" noGrp="1"/>
          </p:cNvSpPr>
          <p:nvPr/>
        </p:nvSpPr>
        <p:spPr>
          <a:xfrm xmlns:a="http://schemas.openxmlformats.org/drawingml/2006/main">
            <a:off x="10953750" y="64293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BF7947"/>
                </a:solidFill>
                <a:latin typeface="Arial"/>
                <a:ea typeface="Arial"/>
                <a:cs typeface="Arial"/>
              </a:defRPr>
            </a:defPPr>
          </a:lstStyle>
          <a:p xmlns:a="http://schemas.openxmlformats.org/drawingml/2006/main">
            <a:pPr algn="r">
              <a:defRPr sz="1200" b="0">
                <a:solidFill>
                  <a:srgbClr val="BF7947"/>
                </a:solidFill>
                <a:latin typeface="Arial"/>
                <a:ea typeface="Arial"/>
                <a:cs typeface="Arial"/>
              </a:defRPr>
            </a:pPr>
            <a:r>
              <a:rPr sz="1200" b="0">
                <a:solidFill>
                  <a:srgbClr val="BF7947"/>
                </a:solidFill>
                <a:latin typeface="Arial"/>
                <a:ea typeface="Arial"/>
                <a:cs typeface="Arial"/>
              </a:rPr>
              <a:t>10</a:t>
            </a:r>
          </a:p>
        </p:txBody>
      </p:sp>
      <p:graphicFrame>
        <p:nvGraphicFramePr>
          <p:cNvPr id="7" name="">
            <a:extLst xmlns:a="http://schemas.openxmlformats.org/drawingml/2006/main">
              <a:ext uri="{FF2B5EF4-FFF2-40B4-BE49-F238E27FC236}">
                <a16:creationId xmlns:a16="http://schemas.microsoft.com/office/drawing/2014/main" id="{7330ACAB-6BAD-4373-A7B5-DACA025FD31D}"/>
              </a:ext>
            </a:extLst>
          </p:cNvPr>
          <p:cNvGraphicFramePr/>
          <p:nvPr/>
        </p:nvGraphicFramePr>
        <p:xfrm>
          <a:off xmlns:a="http://schemas.openxmlformats.org/drawingml/2006/main" x="685800" y="2524125"/>
          <a:ext xmlns:a="http://schemas.openxmlformats.org/drawingml/2006/main" cx="10820400" cy="2895600"/>
        </p:xfrm>
        <a:graphic xmlns:a="http://schemas.openxmlformats.org/drawingml/2006/main">
          <a:graphicData uri="http://schemas.openxmlformats.org/drawingml/2006/table">
            <a:tbl>
              <a:tblPr firstRow="0" bandRow="0"/>
              <a:tblGrid>
                <a:gridCol w="3867150"/>
                <a:gridCol w="6953250"/>
              </a:tblGrid>
              <a:tr h="482600">
                <a:tc>
                  <a:txBody>
                    <a:bodyPr/>
                    <a:lstStyle/>
                    <a:p>
                      <a:r>
                        <a:rPr sz="1500" b="1">
                          <a:solidFill>
                            <a:srgbClr val="FFFFFF"/>
                          </a:solidFill>
                          <a:latin typeface="Arial"/>
                          <a:ea typeface="Arial"/>
                          <a:cs typeface="Arial"/>
                        </a:rPr>
                        <a:t>Input / calculation</a:t>
                      </a:r>
                    </a:p>
                  </a:txBody>
                  <a:tcPr marL="133350" marR="133350" marT="76200" marB="76200" anchor="ctr">
                    <a:solidFill>
                      <a:srgbClr val="214535"/>
                    </a:solidFill>
                  </a:tcPr>
                </a:tc>
                <a:tc>
                  <a:txBody>
                    <a:bodyPr/>
                    <a:lstStyle/>
                    <a:p>
                      <a:r>
                        <a:rPr sz="1500" b="1">
                          <a:solidFill>
                            <a:srgbClr val="FFFFFF"/>
                          </a:solidFill>
                          <a:latin typeface="Arial"/>
                          <a:ea typeface="Arial"/>
                          <a:cs typeface="Arial"/>
                        </a:rPr>
                        <a:t>Assumed value / result</a:t>
                      </a:r>
                    </a:p>
                  </a:txBody>
                  <a:tcPr marL="133350" marR="133350" marT="76200" marB="76200" anchor="ctr">
                    <a:solidFill>
                      <a:srgbClr val="214535"/>
                    </a:solidFill>
                  </a:tcPr>
                </a:tc>
              </a:tr>
              <a:tr h="482600">
                <a:tc>
                  <a:txBody>
                    <a:bodyPr/>
                    <a:lstStyle/>
                    <a:p>
                      <a:r>
                        <a:rPr sz="1500">
                          <a:solidFill>
                            <a:srgbClr val="253D30"/>
                          </a:solidFill>
                          <a:latin typeface="Arial"/>
                          <a:ea typeface="Arial"/>
                          <a:cs typeface="Arial"/>
                        </a:rPr>
                        <a:t>Cohort and period</a:t>
                      </a:r>
                    </a:p>
                  </a:txBody>
                  <a:tcPr marL="133350" marR="133350" marT="76200" marB="76200" anchor="ctr">
                    <a:solidFill>
                      <a:srgbClr val="F4EFE5"/>
                    </a:solidFill>
                  </a:tcPr>
                </a:tc>
                <a:tc>
                  <a:txBody>
                    <a:bodyPr/>
                    <a:lstStyle/>
                    <a:p>
                      <a:r>
                        <a:rPr sz="1500">
                          <a:solidFill>
                            <a:srgbClr val="253D30"/>
                          </a:solidFill>
                          <a:latin typeface="Arial"/>
                          <a:ea typeface="Arial"/>
                          <a:cs typeface="Arial"/>
                        </a:rPr>
                        <a:t>100 cafes × 52 weeks × 80% additional successful diversion</a:t>
                      </a:r>
                    </a:p>
                  </a:txBody>
                  <a:tcPr marL="133350" marR="133350" marT="76200" marB="76200" anchor="ctr">
                    <a:solidFill>
                      <a:srgbClr val="F4EFE5"/>
                    </a:solidFill>
                  </a:tcPr>
                </a:tc>
              </a:tr>
              <a:tr h="482600">
                <a:tc>
                  <a:txBody>
                    <a:bodyPr/>
                    <a:lstStyle/>
                    <a:p>
                      <a:r>
                        <a:rPr sz="1500">
                          <a:solidFill>
                            <a:srgbClr val="253D30"/>
                          </a:solidFill>
                          <a:latin typeface="Arial"/>
                          <a:ea typeface="Arial"/>
                          <a:cs typeface="Arial"/>
                        </a:rPr>
                        <a:t>Eligible grounds and usable beans</a:t>
                      </a:r>
                    </a:p>
                  </a:txBody>
                  <a:tcPr marL="133350" marR="133350" marT="76200" marB="76200" anchor="ctr">
                    <a:solidFill>
                      <a:srgbClr val="F4EFE5"/>
                    </a:solidFill>
                  </a:tcPr>
                </a:tc>
                <a:tc>
                  <a:txBody>
                    <a:bodyPr/>
                    <a:lstStyle/>
                    <a:p>
                      <a:r>
                        <a:rPr sz="1500">
                          <a:solidFill>
                            <a:srgbClr val="253D30"/>
                          </a:solidFill>
                          <a:latin typeface="Arial"/>
                          <a:ea typeface="Arial"/>
                          <a:cs typeface="Arial"/>
                        </a:rPr>
                        <a:t>20 kg grounds + 1 kg beans per cafe per week</a:t>
                      </a:r>
                    </a:p>
                  </a:txBody>
                  <a:tcPr marL="133350" marR="133350" marT="76200" marB="76200" anchor="ctr">
                    <a:solidFill>
                      <a:srgbClr val="F4EFE5"/>
                    </a:solidFill>
                  </a:tcPr>
                </a:tc>
              </a:tr>
              <a:tr h="482600">
                <a:tc>
                  <a:txBody>
                    <a:bodyPr/>
                    <a:lstStyle/>
                    <a:p>
                      <a:r>
                        <a:rPr sz="1500">
                          <a:solidFill>
                            <a:srgbClr val="253D30"/>
                          </a:solidFill>
                          <a:latin typeface="Arial"/>
                          <a:ea typeface="Arial"/>
                          <a:cs typeface="Arial"/>
                        </a:rPr>
                        <a:t>Annual material</a:t>
                      </a:r>
                    </a:p>
                  </a:txBody>
                  <a:tcPr marL="133350" marR="133350" marT="76200" marB="76200" anchor="ctr">
                    <a:solidFill>
                      <a:srgbClr val="F4EFE5"/>
                    </a:solidFill>
                  </a:tcPr>
                </a:tc>
                <a:tc>
                  <a:txBody>
                    <a:bodyPr/>
                    <a:lstStyle/>
                    <a:p>
                      <a:r>
                        <a:rPr sz="1500">
                          <a:solidFill>
                            <a:srgbClr val="253D30"/>
                          </a:solidFill>
                          <a:latin typeface="Arial"/>
                          <a:ea typeface="Arial"/>
                          <a:cs typeface="Arial"/>
                        </a:rPr>
                        <a:t>83.2 t grounds + 4.16 t beans = 87.36 t</a:t>
                      </a:r>
                    </a:p>
                  </a:txBody>
                  <a:tcPr marL="133350" marR="133350" marT="76200" marB="76200" anchor="ctr">
                    <a:solidFill>
                      <a:srgbClr val="F4EFE5"/>
                    </a:solidFill>
                  </a:tcPr>
                </a:tc>
              </a:tr>
              <a:tr h="482600">
                <a:tc>
                  <a:txBody>
                    <a:bodyPr/>
                    <a:lstStyle/>
                    <a:p>
                      <a:r>
                        <a:rPr sz="1500">
                          <a:solidFill>
                            <a:srgbClr val="253D30"/>
                          </a:solidFill>
                          <a:latin typeface="Arial"/>
                          <a:ea typeface="Arial"/>
                          <a:cs typeface="Arial"/>
                        </a:rPr>
                        <a:t>Grounds-only methane formula</a:t>
                      </a:r>
                    </a:p>
                  </a:txBody>
                  <a:tcPr marL="133350" marR="133350" marT="76200" marB="76200" anchor="ctr">
                    <a:solidFill>
                      <a:srgbClr val="F4EFE5"/>
                    </a:solidFill>
                  </a:tcPr>
                </a:tc>
                <a:tc>
                  <a:txBody>
                    <a:bodyPr/>
                    <a:lstStyle/>
                    <a:p>
                      <a:r>
                        <a:rPr sz="1500">
                          <a:solidFill>
                            <a:srgbClr val="253D30"/>
                          </a:solidFill>
                          <a:latin typeface="Arial"/>
                          <a:ea typeface="Arial"/>
                          <a:cs typeface="Arial"/>
                        </a:rPr>
                        <a:t>83.2 × (2.1 × (1 − capture) − 0.021) ÷ 28</a:t>
                      </a:r>
                    </a:p>
                  </a:txBody>
                  <a:tcPr marL="133350" marR="133350" marT="76200" marB="76200" anchor="ctr">
                    <a:solidFill>
                      <a:srgbClr val="F4EFE5"/>
                    </a:solidFill>
                  </a:tcPr>
                </a:tc>
              </a:tr>
              <a:tr h="482600">
                <a:tc>
                  <a:txBody>
                    <a:bodyPr/>
                    <a:lstStyle/>
                    <a:p>
                      <a:r>
                        <a:rPr sz="1500">
                          <a:solidFill>
                            <a:srgbClr val="253D30"/>
                          </a:solidFill>
                          <a:latin typeface="Arial"/>
                          <a:ea typeface="Arial"/>
                          <a:cs typeface="Arial"/>
                        </a:rPr>
                        <a:t>Assumed landfill methane capture</a:t>
                      </a:r>
                    </a:p>
                  </a:txBody>
                  <a:tcPr marL="133350" marR="133350" marT="76200" marB="76200" anchor="ctr">
                    <a:solidFill>
                      <a:srgbClr val="F4EFE5"/>
                    </a:solidFill>
                  </a:tcPr>
                </a:tc>
                <a:tc>
                  <a:txBody>
                    <a:bodyPr/>
                    <a:lstStyle/>
                    <a:p>
                      <a:r>
                        <a:rPr sz="1500">
                          <a:solidFill>
                            <a:srgbClr val="253D30"/>
                          </a:solidFill>
                          <a:latin typeface="Arial"/>
                          <a:ea typeface="Arial"/>
                          <a:cs typeface="Arial"/>
                        </a:rPr>
                        <a:t>0%: 6.2 t CH₄  |  50%: 3.1 t  |  70%: 1.8 t</a:t>
                      </a:r>
                    </a:p>
                  </a:txBody>
                  <a:tcPr marL="133350" marR="133350" marT="76200" marB="76200" anchor="ctr">
                    <a:solidFill>
                      <a:srgbClr val="F4EFE5"/>
                    </a:solidFill>
                  </a:tcPr>
                </a:tc>
              </a:tr>
            </a:tbl>
          </a:graphicData>
        </a:graphic>
      </p:graphicFrame>
      <p:sp>
        <p:nvSpPr>
          <p:cNvPr id="8" name="Methane is a lifetime comparison, not a measured a">
            <a:extLst xmlns:a="http://schemas.openxmlformats.org/drawingml/2006/main">
              <a:ext uri="{FF2B5EF4-FFF2-40B4-BE49-F238E27FC236}">
                <a16:creationId xmlns:a16="http://schemas.microsoft.com/office/drawing/2014/main" id="{5FF8F205-087B-4207-A561-4184FF708892}"/>
              </a:ext>
            </a:extLst>
          </p:cNvPr>
          <p:cNvSpPr>
            <a:spLocks xmlns:a="http://schemas.openxmlformats.org/drawingml/2006/main" noGrp="1"/>
          </p:cNvSpPr>
          <p:nvPr/>
        </p:nvSpPr>
        <p:spPr>
          <a:xfrm xmlns:a="http://schemas.openxmlformats.org/drawingml/2006/main">
            <a:off x="685800" y="55721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17066"/>
                </a:solidFill>
                <a:latin typeface="Arial"/>
                <a:ea typeface="Arial"/>
                <a:cs typeface="Arial"/>
              </a:defRPr>
            </a:defPPr>
          </a:lstStyle>
          <a:p xmlns:a="http://schemas.openxmlformats.org/drawingml/2006/main">
            <a:pPr algn="l">
              <a:defRPr sz="1500" b="0">
                <a:solidFill>
                  <a:srgbClr val="617066"/>
                </a:solidFill>
                <a:latin typeface="Arial"/>
                <a:ea typeface="Arial"/>
                <a:cs typeface="Arial"/>
              </a:defRPr>
            </a:pPr>
            <a:r>
              <a:rPr sz="1500" b="0">
                <a:solidFill>
                  <a:srgbClr val="617066"/>
                </a:solidFill>
                <a:latin typeface="Arial"/>
                <a:ea typeface="Arial"/>
                <a:cs typeface="Arial"/>
              </a:rPr>
              <a:t>Methane is a lifetime comparison, not a measured annual saving. Generic food-waste proxy; beans receive no methane credit. Transport and processing energy are excluded.</a:t>
            </a:r>
          </a:p>
        </p:txBody>
      </p:sp>
      <p:sp>
        <p:nvSpPr>
          <p:cNvPr id="9" name="Source: DCCEEW 2026, Australian National Greenhous">
            <a:extLst xmlns:a="http://schemas.openxmlformats.org/drawingml/2006/main">
              <a:ext uri="{FF2B5EF4-FFF2-40B4-BE49-F238E27FC236}">
                <a16:creationId xmlns:a16="http://schemas.microsoft.com/office/drawing/2014/main" id="{5409F0DE-DA48-4E50-A423-AADE80EC973B}"/>
              </a:ext>
            </a:extLst>
          </p:cNvPr>
          <p:cNvSpPr>
            <a:spLocks xmlns:a="http://schemas.openxmlformats.org/drawingml/2006/main" noGrp="1"/>
          </p:cNvSpPr>
          <p:nvPr/>
        </p:nvSpPr>
        <p:spPr>
          <a:xfrm xmlns:a="http://schemas.openxmlformats.org/drawingml/2006/main">
            <a:off x="685800" y="6086475"/>
            <a:ext cx="10820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066"/>
                </a:solidFill>
                <a:latin typeface="Arial"/>
                <a:ea typeface="Arial"/>
                <a:cs typeface="Arial"/>
              </a:defRPr>
            </a:defPPr>
          </a:lstStyle>
          <a:p xmlns:a="http://schemas.openxmlformats.org/drawingml/2006/main">
            <a:pPr algn="l">
              <a:defRPr sz="1050" b="0">
                <a:solidFill>
                  <a:srgbClr val="617066"/>
                </a:solidFill>
                <a:latin typeface="Arial"/>
                <a:ea typeface="Arial"/>
                <a:cs typeface="Arial"/>
              </a:defRPr>
            </a:pPr>
            <a:r>
              <a:rPr sz="1050" b="0">
                <a:solidFill>
                  <a:srgbClr val="617066"/>
                </a:solidFill>
                <a:latin typeface="Arial"/>
                <a:ea typeface="Arial"/>
                <a:cs typeface="Arial"/>
              </a:rPr>
              <a:t>Source: DCCEEW 2026, Australian National Greenhouse Accounts Factors, Tables 15, 44 and 38 (CC BY 4.0).</a:t>
            </a:r>
          </a:p>
        </p:txBody>
      </p:sp>
    </p:spTree>
    <p:extLst>
      <p:ext uri="{BB962C8B-B14F-4D97-AF65-F5344CB8AC3E}">
        <p14:creationId xmlns:p14="http://schemas.microsoft.com/office/powerpoint/2010/main" val="1275630252"/>
      </p:ext>
    </p:extLst>
  </p:cSld>
</p:sld>
</file>

<file path=ppt/slides/slide11.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7" name="NILE  /  APPENDIX / TOOLS DISCLOSURE">
            <a:extLst xmlns:a="http://schemas.openxmlformats.org/drawingml/2006/main">
              <a:ext uri="{FF2B5EF4-FFF2-40B4-BE49-F238E27FC236}">
                <a16:creationId xmlns:a16="http://schemas.microsoft.com/office/drawing/2014/main" id="{1D7D8A8F-7D62-4A3C-9D67-BF441F2CEA5B}"/>
              </a:ext>
            </a:extLst>
          </p:cNvPr>
          <p:cNvSpPr>
            <a:spLocks xmlns:a="http://schemas.openxmlformats.org/drawingml/2006/main" noGrp="1"/>
          </p:cNvSpPr>
          <p:nvPr/>
        </p:nvSpPr>
        <p:spPr>
          <a:xfrm xmlns:a="http://schemas.openxmlformats.org/drawingml/2006/main">
            <a:off x="685800" y="381000"/>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BF7947"/>
                </a:solidFill>
                <a:latin typeface="Arial"/>
                <a:ea typeface="Arial"/>
                <a:cs typeface="Arial"/>
              </a:defRPr>
            </a:defPPr>
          </a:lstStyle>
          <a:p xmlns:a="http://schemas.openxmlformats.org/drawingml/2006/main">
            <a:pPr algn="l">
              <a:defRPr sz="1200" b="1">
                <a:solidFill>
                  <a:srgbClr val="BF7947"/>
                </a:solidFill>
                <a:latin typeface="Arial"/>
                <a:ea typeface="Arial"/>
                <a:cs typeface="Arial"/>
              </a:defRPr>
            </a:pPr>
            <a:r>
              <a:rPr sz="1200" b="1">
                <a:solidFill>
                  <a:srgbClr val="BF7947"/>
                </a:solidFill>
                <a:latin typeface="Arial"/>
                <a:ea typeface="Arial"/>
                <a:cs typeface="Arial"/>
              </a:rPr>
              <a:t>NILE  /  APPENDIX / TOOLS DISCLOSURE</a:t>
            </a:r>
          </a:p>
        </p:txBody>
      </p:sp>
      <p:sp>
        <p:nvSpPr>
          <p:cNvPr id="2" name="What we used, and what is still planned.">
            <a:extLst xmlns:a="http://schemas.openxmlformats.org/drawingml/2006/main">
              <a:ext uri="{FF2B5EF4-FFF2-40B4-BE49-F238E27FC236}">
                <a16:creationId xmlns:a16="http://schemas.microsoft.com/office/drawing/2014/main" id="{85C5B93A-CE4A-44C9-BA3A-1E0D5FB3BD41}"/>
              </a:ext>
            </a:extLst>
          </p:cNvPr>
          <p:cNvSpPr>
            <a:spLocks xmlns:a="http://schemas.openxmlformats.org/drawingml/2006/main" noGrp="1"/>
          </p:cNvSpPr>
          <p:nvPr/>
        </p:nvSpPr>
        <p:spPr>
          <a:xfrm xmlns:a="http://schemas.openxmlformats.org/drawingml/2006/main">
            <a:off x="685800" y="809625"/>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0">
                <a:solidFill>
                  <a:srgbClr val="253D30"/>
                </a:solidFill>
                <a:latin typeface="Georgia"/>
                <a:ea typeface="Georgia"/>
                <a:cs typeface="Georgia"/>
              </a:defRPr>
            </a:defPPr>
          </a:lstStyle>
          <a:p xmlns:a="http://schemas.openxmlformats.org/drawingml/2006/main">
            <a:pPr algn="l">
              <a:defRPr sz="3375" b="0">
                <a:solidFill>
                  <a:srgbClr val="253D30"/>
                </a:solidFill>
                <a:latin typeface="Georgia"/>
                <a:ea typeface="Georgia"/>
                <a:cs typeface="Georgia"/>
              </a:defRPr>
            </a:pPr>
            <a:r>
              <a:rPr sz="3375" b="0">
                <a:solidFill>
                  <a:srgbClr val="253D30"/>
                </a:solidFill>
                <a:latin typeface="Georgia"/>
                <a:ea typeface="Georgia"/>
                <a:cs typeface="Georgia"/>
              </a:rPr>
              <a:t>What we used, and what is still planned.</a:t>
            </a:r>
          </a:p>
        </p:txBody>
      </p:sp>
      <p:sp>
        <p:nvSpPr>
          <p:cNvPr id="3" name="Full disclosure, setup instructions and source lin">
            <a:extLst xmlns:a="http://schemas.openxmlformats.org/drawingml/2006/main">
              <a:ext uri="{FF2B5EF4-FFF2-40B4-BE49-F238E27FC236}">
                <a16:creationId xmlns:a16="http://schemas.microsoft.com/office/drawing/2014/main" id="{A1D5993A-216A-48C6-A25F-EAC0156DD33E}"/>
              </a:ext>
            </a:extLst>
          </p:cNvPr>
          <p:cNvSpPr>
            <a:spLocks xmlns:a="http://schemas.openxmlformats.org/drawingml/2006/main" noGrp="1"/>
          </p:cNvSpPr>
          <p:nvPr/>
        </p:nvSpPr>
        <p:spPr>
          <a:xfrm xmlns:a="http://schemas.openxmlformats.org/drawingml/2006/main">
            <a:off x="685800" y="185737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17066"/>
                </a:solidFill>
                <a:latin typeface="Arial"/>
                <a:ea typeface="Arial"/>
                <a:cs typeface="Arial"/>
              </a:defRPr>
            </a:defPPr>
          </a:lstStyle>
          <a:p xmlns:a="http://schemas.openxmlformats.org/drawingml/2006/main">
            <a:pPr algn="l">
              <a:defRPr sz="1725" b="0">
                <a:solidFill>
                  <a:srgbClr val="617066"/>
                </a:solidFill>
                <a:latin typeface="Arial"/>
                <a:ea typeface="Arial"/>
                <a:cs typeface="Arial"/>
              </a:defRPr>
            </a:pPr>
            <a:r>
              <a:rPr sz="1725" b="0">
                <a:solidFill>
                  <a:srgbClr val="617066"/>
                </a:solidFill>
                <a:latin typeface="Arial"/>
                <a:ea typeface="Arial"/>
                <a:cs typeface="Arial"/>
              </a:rPr>
              <a:t>Full disclosure, setup instructions and source links are included in the repository.</a:t>
            </a:r>
          </a:p>
        </p:txBody>
      </p:sp>
      <p:sp>
        <p:nvSpPr>
          <p:cNvPr id="4" name="">
            <a:extLst xmlns:a="http://schemas.openxmlformats.org/drawingml/2006/main">
              <a:ext uri="{FF2B5EF4-FFF2-40B4-BE49-F238E27FC236}">
                <a16:creationId xmlns:a16="http://schemas.microsoft.com/office/drawing/2014/main" id="{7CE4DA5C-448A-4F0D-983C-67C6C806A216}"/>
              </a:ext>
            </a:extLst>
          </p:cNvPr>
          <p:cNvSpPr>
            <a:spLocks xmlns:a="http://schemas.openxmlformats.org/drawingml/2006/main" noGrp="1"/>
          </p:cNvSpPr>
          <p:nvPr/>
        </p:nvSpPr>
        <p:spPr>
          <a:xfrm xmlns:a="http://schemas.openxmlformats.org/drawingml/2006/main">
            <a:off x="685800" y="6296025"/>
            <a:ext cx="10820400" cy="14288"/>
          </a:xfrm>
          <a:prstGeom xmlns:a="http://schemas.openxmlformats.org/drawingml/2006/main" prst="rect">
            <a:avLst/>
          </a:prstGeom>
          <a:solidFill xmlns:a="http://schemas.openxmlformats.org/drawingml/2006/main">
            <a:srgbClr val="CDD4C6"/>
          </a:solidFill>
          <a:ln xmlns:a="http://schemas.openxmlformats.org/drawingml/2006/main" w="0">
            <a:noFill/>
          </a:ln>
        </p:spPr>
      </p:sp>
      <p:sp>
        <p:nvSpPr>
          <p:cNvPr id="5" name="Nile • Climate Hack-tion • 4 October 2026">
            <a:extLst xmlns:a="http://schemas.openxmlformats.org/drawingml/2006/main">
              <a:ext uri="{FF2B5EF4-FFF2-40B4-BE49-F238E27FC236}">
                <a16:creationId xmlns:a16="http://schemas.microsoft.com/office/drawing/2014/main" id="{25A916F8-8006-48FA-98D1-962D1872B4AD}"/>
              </a:ext>
            </a:extLst>
          </p:cNvPr>
          <p:cNvSpPr>
            <a:spLocks xmlns:a="http://schemas.openxmlformats.org/drawingml/2006/main" noGrp="1"/>
          </p:cNvSpPr>
          <p:nvPr/>
        </p:nvSpPr>
        <p:spPr>
          <a:xfrm xmlns:a="http://schemas.openxmlformats.org/drawingml/2006/main">
            <a:off x="685800" y="6448425"/>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17066"/>
                </a:solidFill>
                <a:latin typeface="Arial"/>
                <a:ea typeface="Arial"/>
                <a:cs typeface="Arial"/>
              </a:defRPr>
            </a:defPPr>
          </a:lstStyle>
          <a:p xmlns:a="http://schemas.openxmlformats.org/drawingml/2006/main">
            <a:pPr algn="l">
              <a:defRPr sz="1050" b="0">
                <a:solidFill>
                  <a:srgbClr val="617066"/>
                </a:solidFill>
                <a:latin typeface="Arial"/>
                <a:ea typeface="Arial"/>
                <a:cs typeface="Arial"/>
              </a:defRPr>
            </a:pPr>
            <a:r>
              <a:rPr sz="1050" b="0">
                <a:solidFill>
                  <a:srgbClr val="617066"/>
                </a:solidFill>
                <a:latin typeface="Arial"/>
                <a:ea typeface="Arial"/>
                <a:cs typeface="Arial"/>
              </a:rPr>
              <a:t>Nile • Climate Hack-tion • 4 October 2026</a:t>
            </a:r>
          </a:p>
        </p:txBody>
      </p:sp>
      <p:sp>
        <p:nvSpPr>
          <p:cNvPr id="6" name="11">
            <a:extLst xmlns:a="http://schemas.openxmlformats.org/drawingml/2006/main">
              <a:ext uri="{FF2B5EF4-FFF2-40B4-BE49-F238E27FC236}">
                <a16:creationId xmlns:a16="http://schemas.microsoft.com/office/drawing/2014/main" id="{0407F0C7-D37E-4399-BEBC-DE35F2773D64}"/>
              </a:ext>
            </a:extLst>
          </p:cNvPr>
          <p:cNvSpPr>
            <a:spLocks xmlns:a="http://schemas.openxmlformats.org/drawingml/2006/main" noGrp="1"/>
          </p:cNvSpPr>
          <p:nvPr/>
        </p:nvSpPr>
        <p:spPr>
          <a:xfrm xmlns:a="http://schemas.openxmlformats.org/drawingml/2006/main">
            <a:off x="10953750" y="642937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BF7947"/>
                </a:solidFill>
                <a:latin typeface="Arial"/>
                <a:ea typeface="Arial"/>
                <a:cs typeface="Arial"/>
              </a:defRPr>
            </a:defPPr>
          </a:lstStyle>
          <a:p xmlns:a="http://schemas.openxmlformats.org/drawingml/2006/main">
            <a:pPr algn="r">
              <a:defRPr sz="1200" b="0">
                <a:solidFill>
                  <a:srgbClr val="BF7947"/>
                </a:solidFill>
                <a:latin typeface="Arial"/>
                <a:ea typeface="Arial"/>
                <a:cs typeface="Arial"/>
              </a:defRPr>
            </a:pPr>
            <a:r>
              <a:rPr sz="1200" b="0">
                <a:solidFill>
                  <a:srgbClr val="BF7947"/>
                </a:solidFill>
                <a:latin typeface="Arial"/>
                <a:ea typeface="Arial"/>
                <a:cs typeface="Arial"/>
              </a:rPr>
              <a:t>11</a:t>
            </a:r>
          </a:p>
        </p:txBody>
      </p:sp>
      <p:sp>
        <p:nvSpPr>
          <p:cNvPr id="7" name="AI assistance">
            <a:extLst xmlns:a="http://schemas.openxmlformats.org/drawingml/2006/main">
              <a:ext uri="{FF2B5EF4-FFF2-40B4-BE49-F238E27FC236}">
                <a16:creationId xmlns:a16="http://schemas.microsoft.com/office/drawing/2014/main" id="{F7576392-EF6E-4C76-B094-B9E5F93C9289}"/>
              </a:ext>
            </a:extLst>
          </p:cNvPr>
          <p:cNvSpPr>
            <a:spLocks xmlns:a="http://schemas.openxmlformats.org/drawingml/2006/main" noGrp="1"/>
          </p:cNvSpPr>
          <p:nvPr/>
        </p:nvSpPr>
        <p:spPr>
          <a:xfrm xmlns:a="http://schemas.openxmlformats.org/drawingml/2006/main">
            <a:off x="685800" y="2619375"/>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53D30"/>
                </a:solidFill>
                <a:latin typeface="Arial"/>
                <a:ea typeface="Arial"/>
                <a:cs typeface="Arial"/>
              </a:defRPr>
            </a:defPPr>
          </a:lstStyle>
          <a:p xmlns:a="http://schemas.openxmlformats.org/drawingml/2006/main">
            <a:pPr algn="l">
              <a:defRPr sz="1725" b="1">
                <a:solidFill>
                  <a:srgbClr val="253D30"/>
                </a:solidFill>
                <a:latin typeface="Arial"/>
                <a:ea typeface="Arial"/>
                <a:cs typeface="Arial"/>
              </a:defRPr>
            </a:pPr>
            <a:r>
              <a:rPr sz="1725" b="1">
                <a:solidFill>
                  <a:srgbClr val="253D30"/>
                </a:solidFill>
                <a:latin typeface="Arial"/>
                <a:ea typeface="Arial"/>
                <a:cs typeface="Arial"/>
              </a:rPr>
              <a:t>AI assistance</a:t>
            </a:r>
          </a:p>
        </p:txBody>
      </p:sp>
      <p:sp>
        <p:nvSpPr>
          <p:cNvPr id="8" name="OpenAI Codex: planning, research, writing, coding,">
            <a:extLst xmlns:a="http://schemas.openxmlformats.org/drawingml/2006/main">
              <a:ext uri="{FF2B5EF4-FFF2-40B4-BE49-F238E27FC236}">
                <a16:creationId xmlns:a16="http://schemas.microsoft.com/office/drawing/2014/main" id="{77AF8632-ACFA-4E75-B63A-AF7D4BFDD2B2}"/>
              </a:ext>
            </a:extLst>
          </p:cNvPr>
          <p:cNvSpPr>
            <a:spLocks xmlns:a="http://schemas.openxmlformats.org/drawingml/2006/main" noGrp="1"/>
          </p:cNvSpPr>
          <p:nvPr/>
        </p:nvSpPr>
        <p:spPr>
          <a:xfrm xmlns:a="http://schemas.openxmlformats.org/drawingml/2006/main">
            <a:off x="4019550" y="2619375"/>
            <a:ext cx="7486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53D30"/>
                </a:solidFill>
                <a:latin typeface="Arial"/>
                <a:ea typeface="Arial"/>
                <a:cs typeface="Arial"/>
              </a:defRPr>
            </a:defPPr>
          </a:lstStyle>
          <a:p xmlns:a="http://schemas.openxmlformats.org/drawingml/2006/main">
            <a:pPr algn="l">
              <a:defRPr sz="1650" b="0">
                <a:solidFill>
                  <a:srgbClr val="253D30"/>
                </a:solidFill>
                <a:latin typeface="Arial"/>
                <a:ea typeface="Arial"/>
                <a:cs typeface="Arial"/>
              </a:defRPr>
            </a:pPr>
            <a:r>
              <a:rPr sz="1650" b="0">
                <a:solidFill>
                  <a:srgbClr val="253D30"/>
                </a:solidFill>
                <a:latin typeface="Arial"/>
                <a:ea typeface="Arial"/>
                <a:cs typeface="Arial"/>
              </a:rPr>
              <a:t>OpenAI Codex: planning, research, writing, coding, review and documentation.</a:t>
            </a:r>
          </a:p>
        </p:txBody>
      </p:sp>
      <p:sp>
        <p:nvSpPr>
          <p:cNvPr id="9" name="Application">
            <a:extLst xmlns:a="http://schemas.openxmlformats.org/drawingml/2006/main">
              <a:ext uri="{FF2B5EF4-FFF2-40B4-BE49-F238E27FC236}">
                <a16:creationId xmlns:a16="http://schemas.microsoft.com/office/drawing/2014/main" id="{7F68CEE8-EACB-4D4D-ADAC-FEB7052E3EF2}"/>
              </a:ext>
            </a:extLst>
          </p:cNvPr>
          <p:cNvSpPr>
            <a:spLocks xmlns:a="http://schemas.openxmlformats.org/drawingml/2006/main" noGrp="1"/>
          </p:cNvSpPr>
          <p:nvPr/>
        </p:nvSpPr>
        <p:spPr>
          <a:xfrm xmlns:a="http://schemas.openxmlformats.org/drawingml/2006/main">
            <a:off x="685800" y="329565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53D30"/>
                </a:solidFill>
                <a:latin typeface="Arial"/>
                <a:ea typeface="Arial"/>
                <a:cs typeface="Arial"/>
              </a:defRPr>
            </a:defPPr>
          </a:lstStyle>
          <a:p xmlns:a="http://schemas.openxmlformats.org/drawingml/2006/main">
            <a:pPr algn="l">
              <a:defRPr sz="1725" b="1">
                <a:solidFill>
                  <a:srgbClr val="253D30"/>
                </a:solidFill>
                <a:latin typeface="Arial"/>
                <a:ea typeface="Arial"/>
                <a:cs typeface="Arial"/>
              </a:defRPr>
            </a:pPr>
            <a:r>
              <a:rPr sz="1725" b="1">
                <a:solidFill>
                  <a:srgbClr val="253D30"/>
                </a:solidFill>
                <a:latin typeface="Arial"/>
                <a:ea typeface="Arial"/>
                <a:cs typeface="Arial"/>
              </a:rPr>
              <a:t>Application</a:t>
            </a:r>
          </a:p>
        </p:txBody>
      </p:sp>
      <p:sp>
        <p:nvSpPr>
          <p:cNvPr id="10" name="Next.js, React, TypeScript, Tailwind, Zod, Radix/C">
            <a:extLst xmlns:a="http://schemas.openxmlformats.org/drawingml/2006/main">
              <a:ext uri="{FF2B5EF4-FFF2-40B4-BE49-F238E27FC236}">
                <a16:creationId xmlns:a16="http://schemas.microsoft.com/office/drawing/2014/main" id="{E03A1148-C145-43FC-9A95-1D7D8E2F0849}"/>
              </a:ext>
            </a:extLst>
          </p:cNvPr>
          <p:cNvSpPr>
            <a:spLocks xmlns:a="http://schemas.openxmlformats.org/drawingml/2006/main" noGrp="1"/>
          </p:cNvSpPr>
          <p:nvPr/>
        </p:nvSpPr>
        <p:spPr>
          <a:xfrm xmlns:a="http://schemas.openxmlformats.org/drawingml/2006/main">
            <a:off x="4019550" y="3295650"/>
            <a:ext cx="7486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53D30"/>
                </a:solidFill>
                <a:latin typeface="Arial"/>
                <a:ea typeface="Arial"/>
                <a:cs typeface="Arial"/>
              </a:defRPr>
            </a:defPPr>
          </a:lstStyle>
          <a:p xmlns:a="http://schemas.openxmlformats.org/drawingml/2006/main">
            <a:pPr algn="l">
              <a:defRPr sz="1650" b="0">
                <a:solidFill>
                  <a:srgbClr val="253D30"/>
                </a:solidFill>
                <a:latin typeface="Arial"/>
                <a:ea typeface="Arial"/>
                <a:cs typeface="Arial"/>
              </a:defRPr>
            </a:pPr>
            <a:r>
              <a:rPr sz="1650" b="0">
                <a:solidFill>
                  <a:srgbClr val="253D30"/>
                </a:solidFill>
                <a:latin typeface="Arial"/>
                <a:ea typeface="Arial"/>
                <a:cs typeface="Arial"/>
              </a:rPr>
              <a:t>Next.js, React, TypeScript, Tailwind, Zod, Radix/CVA, Recharts, Lucide and SQLite.</a:t>
            </a:r>
          </a:p>
        </p:txBody>
      </p:sp>
      <p:sp>
        <p:nvSpPr>
          <p:cNvPr id="11" name="Validation &amp; coordination">
            <a:extLst xmlns:a="http://schemas.openxmlformats.org/drawingml/2006/main">
              <a:ext uri="{FF2B5EF4-FFF2-40B4-BE49-F238E27FC236}">
                <a16:creationId xmlns:a16="http://schemas.microsoft.com/office/drawing/2014/main" id="{B6295CEA-FFDB-4984-AB92-814104EF40B4}"/>
              </a:ext>
            </a:extLst>
          </p:cNvPr>
          <p:cNvSpPr>
            <a:spLocks xmlns:a="http://schemas.openxmlformats.org/drawingml/2006/main" noGrp="1"/>
          </p:cNvSpPr>
          <p:nvPr/>
        </p:nvSpPr>
        <p:spPr>
          <a:xfrm xmlns:a="http://schemas.openxmlformats.org/drawingml/2006/main">
            <a:off x="685800" y="3971925"/>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53D30"/>
                </a:solidFill>
                <a:latin typeface="Arial"/>
                <a:ea typeface="Arial"/>
                <a:cs typeface="Arial"/>
              </a:defRPr>
            </a:defPPr>
          </a:lstStyle>
          <a:p xmlns:a="http://schemas.openxmlformats.org/drawingml/2006/main">
            <a:pPr algn="l">
              <a:defRPr sz="1725" b="1">
                <a:solidFill>
                  <a:srgbClr val="253D30"/>
                </a:solidFill>
                <a:latin typeface="Arial"/>
                <a:ea typeface="Arial"/>
                <a:cs typeface="Arial"/>
              </a:defRPr>
            </a:pPr>
            <a:r>
              <a:rPr sz="1725" b="1">
                <a:solidFill>
                  <a:srgbClr val="253D30"/>
                </a:solidFill>
                <a:latin typeface="Arial"/>
                <a:ea typeface="Arial"/>
                <a:cs typeface="Arial"/>
              </a:rPr>
              <a:t>Validation &amp; coordination</a:t>
            </a:r>
          </a:p>
        </p:txBody>
      </p:sp>
      <p:sp>
        <p:nvSpPr>
          <p:cNvPr id="12" name="Vitest, Playwright, PGlite, ESLint, Prettier, agen">
            <a:extLst xmlns:a="http://schemas.openxmlformats.org/drawingml/2006/main">
              <a:ext uri="{FF2B5EF4-FFF2-40B4-BE49-F238E27FC236}">
                <a16:creationId xmlns:a16="http://schemas.microsoft.com/office/drawing/2014/main" id="{E28D54D7-020A-4A82-807A-54B6DC090274}"/>
              </a:ext>
            </a:extLst>
          </p:cNvPr>
          <p:cNvSpPr>
            <a:spLocks xmlns:a="http://schemas.openxmlformats.org/drawingml/2006/main" noGrp="1"/>
          </p:cNvSpPr>
          <p:nvPr/>
        </p:nvSpPr>
        <p:spPr>
          <a:xfrm xmlns:a="http://schemas.openxmlformats.org/drawingml/2006/main">
            <a:off x="4019550" y="3971925"/>
            <a:ext cx="7486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53D30"/>
                </a:solidFill>
                <a:latin typeface="Arial"/>
                <a:ea typeface="Arial"/>
                <a:cs typeface="Arial"/>
              </a:defRPr>
            </a:defPPr>
          </a:lstStyle>
          <a:p xmlns:a="http://schemas.openxmlformats.org/drawingml/2006/main">
            <a:pPr algn="l">
              <a:defRPr sz="1650" b="0">
                <a:solidFill>
                  <a:srgbClr val="253D30"/>
                </a:solidFill>
                <a:latin typeface="Arial"/>
                <a:ea typeface="Arial"/>
                <a:cs typeface="Arial"/>
              </a:defRPr>
            </a:pPr>
            <a:r>
              <a:rPr sz="1650" b="0">
                <a:solidFill>
                  <a:srgbClr val="253D30"/>
                </a:solidFill>
                <a:latin typeface="Arial"/>
                <a:ea typeface="Arial"/>
                <a:cs typeface="Arial"/>
              </a:rPr>
              <a:t>Vitest, Playwright, PGlite, ESLint, Prettier, agent-browser, GitHub and Notion.</a:t>
            </a:r>
          </a:p>
        </p:txBody>
      </p:sp>
      <p:sp>
        <p:nvSpPr>
          <p:cNvPr id="13" name="Submission materials">
            <a:extLst xmlns:a="http://schemas.openxmlformats.org/drawingml/2006/main">
              <a:ext uri="{FF2B5EF4-FFF2-40B4-BE49-F238E27FC236}">
                <a16:creationId xmlns:a16="http://schemas.microsoft.com/office/drawing/2014/main" id="{D47BA13C-8601-4CDF-9D0E-E751DF4DD6C1}"/>
              </a:ext>
            </a:extLst>
          </p:cNvPr>
          <p:cNvSpPr>
            <a:spLocks xmlns:a="http://schemas.openxmlformats.org/drawingml/2006/main" noGrp="1"/>
          </p:cNvSpPr>
          <p:nvPr/>
        </p:nvSpPr>
        <p:spPr>
          <a:xfrm xmlns:a="http://schemas.openxmlformats.org/drawingml/2006/main">
            <a:off x="685800" y="464820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53D30"/>
                </a:solidFill>
                <a:latin typeface="Arial"/>
                <a:ea typeface="Arial"/>
                <a:cs typeface="Arial"/>
              </a:defRPr>
            </a:defPPr>
          </a:lstStyle>
          <a:p xmlns:a="http://schemas.openxmlformats.org/drawingml/2006/main">
            <a:pPr algn="l">
              <a:defRPr sz="1725" b="1">
                <a:solidFill>
                  <a:srgbClr val="253D30"/>
                </a:solidFill>
                <a:latin typeface="Arial"/>
                <a:ea typeface="Arial"/>
                <a:cs typeface="Arial"/>
              </a:defRPr>
            </a:pPr>
            <a:r>
              <a:rPr sz="1725" b="1">
                <a:solidFill>
                  <a:srgbClr val="253D30"/>
                </a:solidFill>
                <a:latin typeface="Arial"/>
                <a:ea typeface="Arial"/>
                <a:cs typeface="Arial"/>
              </a:rPr>
              <a:t>Submission materials</a:t>
            </a:r>
          </a:p>
        </p:txBody>
      </p:sp>
      <p:sp>
        <p:nvSpPr>
          <p:cNvPr id="14" name="Artifact Tool, LibreOffice, pypdf and pypdfium2; e">
            <a:extLst xmlns:a="http://schemas.openxmlformats.org/drawingml/2006/main">
              <a:ext uri="{FF2B5EF4-FFF2-40B4-BE49-F238E27FC236}">
                <a16:creationId xmlns:a16="http://schemas.microsoft.com/office/drawing/2014/main" id="{8B40B2B7-C6AB-441D-99F1-81ED7B8CCD6D}"/>
              </a:ext>
            </a:extLst>
          </p:cNvPr>
          <p:cNvSpPr>
            <a:spLocks xmlns:a="http://schemas.openxmlformats.org/drawingml/2006/main" noGrp="1"/>
          </p:cNvSpPr>
          <p:nvPr/>
        </p:nvSpPr>
        <p:spPr>
          <a:xfrm xmlns:a="http://schemas.openxmlformats.org/drawingml/2006/main">
            <a:off x="4019550" y="4648200"/>
            <a:ext cx="7486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53D30"/>
                </a:solidFill>
                <a:latin typeface="Arial"/>
                <a:ea typeface="Arial"/>
                <a:cs typeface="Arial"/>
              </a:defRPr>
            </a:defPPr>
          </a:lstStyle>
          <a:p xmlns:a="http://schemas.openxmlformats.org/drawingml/2006/main">
            <a:pPr algn="l">
              <a:defRPr sz="1650" b="0">
                <a:solidFill>
                  <a:srgbClr val="253D30"/>
                </a:solidFill>
                <a:latin typeface="Arial"/>
                <a:ea typeface="Arial"/>
                <a:cs typeface="Arial"/>
              </a:defRPr>
            </a:pPr>
            <a:r>
              <a:rPr sz="1650" b="0">
                <a:solidFill>
                  <a:srgbClr val="253D30"/>
                </a:solidFill>
                <a:latin typeface="Arial"/>
                <a:ea typeface="Arial"/>
                <a:cs typeface="Arial"/>
              </a:rPr>
              <a:t>Artifact Tool, LibreOffice, pypdf and pypdfium2; earlier PDF used ReportLab.</a:t>
            </a:r>
          </a:p>
        </p:txBody>
      </p:sp>
      <p:sp>
        <p:nvSpPr>
          <p:cNvPr id="15" name="Prepared, not live">
            <a:extLst xmlns:a="http://schemas.openxmlformats.org/drawingml/2006/main">
              <a:ext uri="{FF2B5EF4-FFF2-40B4-BE49-F238E27FC236}">
                <a16:creationId xmlns:a16="http://schemas.microsoft.com/office/drawing/2014/main" id="{29B15CC7-A29B-47BE-938B-4F65CB7020D2}"/>
              </a:ext>
            </a:extLst>
          </p:cNvPr>
          <p:cNvSpPr>
            <a:spLocks xmlns:a="http://schemas.openxmlformats.org/drawingml/2006/main" noGrp="1"/>
          </p:cNvSpPr>
          <p:nvPr/>
        </p:nvSpPr>
        <p:spPr>
          <a:xfrm xmlns:a="http://schemas.openxmlformats.org/drawingml/2006/main">
            <a:off x="685800" y="5324475"/>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53D30"/>
                </a:solidFill>
                <a:latin typeface="Arial"/>
                <a:ea typeface="Arial"/>
                <a:cs typeface="Arial"/>
              </a:defRPr>
            </a:defPPr>
          </a:lstStyle>
          <a:p xmlns:a="http://schemas.openxmlformats.org/drawingml/2006/main">
            <a:pPr algn="l">
              <a:defRPr sz="1725" b="1">
                <a:solidFill>
                  <a:srgbClr val="253D30"/>
                </a:solidFill>
                <a:latin typeface="Arial"/>
                <a:ea typeface="Arial"/>
                <a:cs typeface="Arial"/>
              </a:defRPr>
            </a:pPr>
            <a:r>
              <a:rPr sz="1725" b="1">
                <a:solidFill>
                  <a:srgbClr val="253D30"/>
                </a:solidFill>
                <a:latin typeface="Arial"/>
                <a:ea typeface="Arial"/>
                <a:cs typeface="Arial"/>
              </a:rPr>
              <a:t>Prepared, not live</a:t>
            </a:r>
          </a:p>
        </p:txBody>
      </p:sp>
      <p:sp>
        <p:nvSpPr>
          <p:cNvPr id="16" name="OpenAI adapter/key locally configured; live access">
            <a:extLst xmlns:a="http://schemas.openxmlformats.org/drawingml/2006/main">
              <a:ext uri="{FF2B5EF4-FFF2-40B4-BE49-F238E27FC236}">
                <a16:creationId xmlns:a16="http://schemas.microsoft.com/office/drawing/2014/main" id="{2AD52211-326B-48CD-ABEF-B402CA8F87E5}"/>
              </a:ext>
            </a:extLst>
          </p:cNvPr>
          <p:cNvSpPr>
            <a:spLocks xmlns:a="http://schemas.openxmlformats.org/drawingml/2006/main" noGrp="1"/>
          </p:cNvSpPr>
          <p:nvPr/>
        </p:nvSpPr>
        <p:spPr>
          <a:xfrm xmlns:a="http://schemas.openxmlformats.org/drawingml/2006/main">
            <a:off x="4019550" y="5324475"/>
            <a:ext cx="7486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53D30"/>
                </a:solidFill>
                <a:latin typeface="Arial"/>
                <a:ea typeface="Arial"/>
                <a:cs typeface="Arial"/>
              </a:defRPr>
            </a:defPPr>
          </a:lstStyle>
          <a:p xmlns:a="http://schemas.openxmlformats.org/drawingml/2006/main">
            <a:pPr algn="l">
              <a:defRPr sz="1650" b="0">
                <a:solidFill>
                  <a:srgbClr val="253D30"/>
                </a:solidFill>
                <a:latin typeface="Arial"/>
                <a:ea typeface="Arial"/>
                <a:cs typeface="Arial"/>
              </a:defRPr>
            </a:pPr>
            <a:r>
              <a:rPr sz="1650" b="0">
                <a:solidFill>
                  <a:srgbClr val="253D30"/>
                </a:solidFill>
                <a:latin typeface="Arial"/>
                <a:ea typeface="Arial"/>
                <a:cs typeface="Arial"/>
              </a:rPr>
              <a:t>OpenAI adapter/key locally configured; live access unverified. Supabase SQL only; no cloud deployment.</a:t>
            </a:r>
          </a:p>
        </p:txBody>
      </p:sp>
    </p:spTree>
    <p:extLst>
      <p:ext uri="{BB962C8B-B14F-4D97-AF65-F5344CB8AC3E}">
        <p14:creationId xmlns:p14="http://schemas.microsoft.com/office/powerpoint/2010/main" val="5856468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2026-10-04T06:46:24.6790000Z</dcterms:created>
  <dcterms:modified xsi:type="dcterms:W3CDTF">2026-10-04T06:46:24.6790000Z</dcterms:modified>
</coreProperties>
</file>